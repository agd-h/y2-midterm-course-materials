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676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Shape 1"/>
          <p:cNvSpPr/>
          <p:nvPr/>
        </p:nvSpPr>
        <p:spPr>
          <a:xfrm>
            <a:off x="609448" y="533400"/>
            <a:ext cx="609448" cy="381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4" name="Shape 2"/>
          <p:cNvSpPr/>
          <p:nvPr/>
        </p:nvSpPr>
        <p:spPr>
          <a:xfrm>
            <a:off x="1371257" y="495300"/>
            <a:ext cx="114271" cy="114300"/>
          </a:xfrm>
          <a:prstGeom prst="rect">
            <a:avLst/>
          </a:prstGeom>
          <a:solidFill>
            <a:srgbClr val="FF3000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37890" y="457200"/>
            <a:ext cx="190452" cy="19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448" y="1366837"/>
            <a:ext cx="167241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6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43322" y="1361123"/>
            <a:ext cx="2730313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kern="0" spc="16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COMP213 · Operating Systems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9448" y="3471863"/>
            <a:ext cx="395486" cy="76200"/>
          </a:xfrm>
          <a:prstGeom prst="rect">
            <a:avLst/>
          </a:prstGeom>
          <a:solidFill>
            <a:srgbClr val="FF3000">
              <a:alpha val="10000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609448" y="1747838"/>
            <a:ext cx="4401979" cy="18383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500" b="1" kern="0" spc="-13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Computer</a:t>
            </a:r>
            <a:endParaRPr lang="en-US" sz="4500" dirty="0"/>
          </a:p>
          <a:p>
            <a:pPr marL="0" indent="0">
              <a:buNone/>
            </a:pPr>
            <a:r>
              <a:rPr lang="en-US" sz="4500" b="1" kern="0" spc="-13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System</a:t>
            </a:r>
            <a:endParaRPr lang="en-US" sz="4500" dirty="0"/>
          </a:p>
          <a:p>
            <a:pPr marL="0" indent="0">
              <a:buNone/>
            </a:pPr>
            <a:r>
              <a:rPr lang="en-US" sz="4500" b="1" kern="0" spc="-13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&amp;</a:t>
            </a:r>
            <a:r>
              <a:rPr lang="en-US" sz="4500" b="1" kern="0" spc="-13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OS Overview</a:t>
            </a:r>
            <a:endParaRPr lang="en-US" sz="4500" dirty="0"/>
          </a:p>
        </p:txBody>
      </p:sp>
      <p:sp>
        <p:nvSpPr>
          <p:cNvPr id="10" name="Shape 7"/>
          <p:cNvSpPr/>
          <p:nvPr/>
        </p:nvSpPr>
        <p:spPr>
          <a:xfrm>
            <a:off x="609448" y="3795712"/>
            <a:ext cx="9523" cy="514350"/>
          </a:xfrm>
          <a:prstGeom prst="line">
            <a:avLst/>
          </a:prstGeom>
          <a:noFill/>
          <a:ln w="28575">
            <a:solidFill>
              <a:srgbClr val="FF3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448" y="3795712"/>
            <a:ext cx="4570857" cy="514350"/>
          </a:xfrm>
          <a:prstGeom prst="rect">
            <a:avLst/>
          </a:prstGeom>
          <a:noFill/>
        </p:spPr>
        <p:txBody>
          <a:bodyPr wrap="none" lIns="190500" tIns="0" rIns="0" bIns="0" rtlCol="0" anchor="ctr"/>
          <a:lstStyle/>
          <a:p>
            <a:pPr marL="0" indent="0">
              <a:buNone/>
            </a:pPr>
            <a:r>
              <a:rPr lang="en-US" sz="1400" kern="0" spc="3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Foundational Journey Through Hardware &amp; OS</a:t>
            </a:r>
            <a:endParaRPr lang="en-US" sz="1400" dirty="0"/>
          </a:p>
          <a:p>
            <a:pPr marL="0" indent="0">
              <a:buNone/>
            </a:pPr>
            <a:r>
              <a:rPr lang="en-US" sz="1400" kern="0" spc="3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Principles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9448" y="5072063"/>
            <a:ext cx="171407" cy="171450"/>
          </a:xfrm>
          <a:custGeom>
            <a:avLst/>
            <a:gdLst/>
            <a:ahLst/>
            <a:cxnLst/>
            <a:rect l="l" t="t" r="r" b="b"/>
            <a:pathLst>
              <a:path w="171407" h="171450">
                <a:moveTo>
                  <a:pt x="57136" y="14284"/>
                </a:moveTo>
                <a:lnTo>
                  <a:pt x="57136" y="35710"/>
                </a:lnTo>
                <a:moveTo>
                  <a:pt x="114271" y="14284"/>
                </a:moveTo>
                <a:lnTo>
                  <a:pt x="114271" y="35710"/>
                </a:lnTo>
                <a:moveTo>
                  <a:pt x="35710" y="21426"/>
                </a:moveTo>
                <a:lnTo>
                  <a:pt x="135697" y="21426"/>
                </a:lnTo>
                <a:cubicBezTo>
                  <a:pt x="143581" y="21426"/>
                  <a:pt x="149981" y="27826"/>
                  <a:pt x="149981" y="35710"/>
                </a:cubicBezTo>
                <a:lnTo>
                  <a:pt x="149981" y="135697"/>
                </a:lnTo>
                <a:cubicBezTo>
                  <a:pt x="149981" y="143581"/>
                  <a:pt x="143581" y="149981"/>
                  <a:pt x="135697" y="149981"/>
                </a:cubicBezTo>
                <a:lnTo>
                  <a:pt x="35710" y="149981"/>
                </a:lnTo>
                <a:cubicBezTo>
                  <a:pt x="27826" y="149981"/>
                  <a:pt x="21426" y="143581"/>
                  <a:pt x="21426" y="135697"/>
                </a:cubicBezTo>
                <a:lnTo>
                  <a:pt x="21426" y="35710"/>
                </a:lnTo>
                <a:cubicBezTo>
                  <a:pt x="21426" y="27826"/>
                  <a:pt x="27826" y="21426"/>
                  <a:pt x="35710" y="21426"/>
                </a:cubicBezTo>
                <a:close/>
                <a:moveTo>
                  <a:pt x="21426" y="64278"/>
                </a:moveTo>
                <a:lnTo>
                  <a:pt x="149981" y="64278"/>
                </a:lnTo>
              </a:path>
            </a:pathLst>
          </a:cu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5126" y="5085397"/>
            <a:ext cx="1887264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August , 2026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9448" y="5357813"/>
            <a:ext cx="171407" cy="171450"/>
          </a:xfrm>
          <a:custGeom>
            <a:avLst/>
            <a:gdLst/>
            <a:ahLst/>
            <a:cxnLst/>
            <a:rect l="l" t="t" r="r" b="b"/>
            <a:pathLst>
              <a:path w="171407" h="171450">
                <a:moveTo>
                  <a:pt x="135697" y="149981"/>
                </a:moveTo>
                <a:lnTo>
                  <a:pt x="135697" y="135697"/>
                </a:lnTo>
                <a:cubicBezTo>
                  <a:pt x="135697" y="119930"/>
                  <a:pt x="122896" y="107129"/>
                  <a:pt x="107129" y="107129"/>
                </a:cubicBezTo>
                <a:lnTo>
                  <a:pt x="64278" y="107129"/>
                </a:lnTo>
                <a:cubicBezTo>
                  <a:pt x="48511" y="107129"/>
                  <a:pt x="35710" y="119930"/>
                  <a:pt x="35710" y="135697"/>
                </a:cubicBezTo>
                <a:lnTo>
                  <a:pt x="35710" y="149981"/>
                </a:lnTo>
                <a:moveTo>
                  <a:pt x="57136" y="49994"/>
                </a:moveTo>
                <a:cubicBezTo>
                  <a:pt x="57136" y="34227"/>
                  <a:pt x="69937" y="21426"/>
                  <a:pt x="85704" y="21426"/>
                </a:cubicBezTo>
                <a:cubicBezTo>
                  <a:pt x="101471" y="21426"/>
                  <a:pt x="114271" y="34227"/>
                  <a:pt x="114271" y="49994"/>
                </a:cubicBezTo>
                <a:cubicBezTo>
                  <a:pt x="114271" y="65761"/>
                  <a:pt x="101471" y="78562"/>
                  <a:pt x="85704" y="78562"/>
                </a:cubicBezTo>
                <a:cubicBezTo>
                  <a:pt x="69937" y="78562"/>
                  <a:pt x="57136" y="65761"/>
                  <a:pt x="57136" y="49994"/>
                </a:cubicBezTo>
                <a:close/>
              </a:path>
            </a:pathLst>
          </a:cu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5126" y="5371147"/>
            <a:ext cx="1482314" cy="15811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0000"/>
                </a:solidFill>
                <a:latin typeface="Inter" pitchFamily="34" charset="0"/>
              </a:rPr>
              <a:t>Xing Zheng / Dylan 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61009" y="457200"/>
            <a:ext cx="4570857" cy="594360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14816" r="14816"/>
          <a:stretch/>
        </p:blipFill>
        <p:spPr>
          <a:xfrm>
            <a:off x="7199100" y="495300"/>
            <a:ext cx="4494676" cy="58674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1274781" y="457200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1" name="Shape 16"/>
          <p:cNvSpPr/>
          <p:nvPr/>
        </p:nvSpPr>
        <p:spPr>
          <a:xfrm>
            <a:off x="11389052" y="57150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14271" y="190452"/>
                </a:moveTo>
                <a:lnTo>
                  <a:pt x="114271" y="209498"/>
                </a:lnTo>
                <a:moveTo>
                  <a:pt x="114271" y="19045"/>
                </a:moveTo>
                <a:lnTo>
                  <a:pt x="114271" y="38090"/>
                </a:lnTo>
                <a:moveTo>
                  <a:pt x="161885" y="190452"/>
                </a:moveTo>
                <a:lnTo>
                  <a:pt x="161885" y="209498"/>
                </a:lnTo>
                <a:moveTo>
                  <a:pt x="161885" y="19045"/>
                </a:moveTo>
                <a:lnTo>
                  <a:pt x="161885" y="38090"/>
                </a:lnTo>
                <a:moveTo>
                  <a:pt x="19045" y="114271"/>
                </a:moveTo>
                <a:lnTo>
                  <a:pt x="38090" y="114271"/>
                </a:lnTo>
                <a:moveTo>
                  <a:pt x="19045" y="161885"/>
                </a:moveTo>
                <a:lnTo>
                  <a:pt x="38090" y="161885"/>
                </a:lnTo>
                <a:moveTo>
                  <a:pt x="19045" y="66658"/>
                </a:moveTo>
                <a:lnTo>
                  <a:pt x="38090" y="66658"/>
                </a:lnTo>
                <a:moveTo>
                  <a:pt x="190452" y="114271"/>
                </a:moveTo>
                <a:lnTo>
                  <a:pt x="209498" y="114271"/>
                </a:lnTo>
                <a:moveTo>
                  <a:pt x="190452" y="161885"/>
                </a:moveTo>
                <a:lnTo>
                  <a:pt x="209498" y="161885"/>
                </a:lnTo>
                <a:moveTo>
                  <a:pt x="190452" y="66658"/>
                </a:moveTo>
                <a:lnTo>
                  <a:pt x="209498" y="66658"/>
                </a:lnTo>
                <a:moveTo>
                  <a:pt x="66658" y="190452"/>
                </a:moveTo>
                <a:lnTo>
                  <a:pt x="66658" y="209498"/>
                </a:lnTo>
                <a:moveTo>
                  <a:pt x="66658" y="19045"/>
                </a:moveTo>
                <a:lnTo>
                  <a:pt x="66658" y="38090"/>
                </a:lnTo>
                <a:moveTo>
                  <a:pt x="57136" y="38090"/>
                </a:moveTo>
                <a:lnTo>
                  <a:pt x="171407" y="38090"/>
                </a:lnTo>
                <a:cubicBezTo>
                  <a:pt x="181918" y="38090"/>
                  <a:pt x="190452" y="46624"/>
                  <a:pt x="190452" y="57136"/>
                </a:cubicBezTo>
                <a:lnTo>
                  <a:pt x="190452" y="171407"/>
                </a:lnTo>
                <a:cubicBezTo>
                  <a:pt x="190452" y="181918"/>
                  <a:pt x="181918" y="190452"/>
                  <a:pt x="171407" y="190452"/>
                </a:cubicBezTo>
                <a:lnTo>
                  <a:pt x="57136" y="190452"/>
                </a:lnTo>
                <a:cubicBezTo>
                  <a:pt x="46624" y="190452"/>
                  <a:pt x="38090" y="181918"/>
                  <a:pt x="38090" y="171407"/>
                </a:cubicBezTo>
                <a:lnTo>
                  <a:pt x="38090" y="57136"/>
                </a:lnTo>
                <a:cubicBezTo>
                  <a:pt x="38090" y="46624"/>
                  <a:pt x="46624" y="38090"/>
                  <a:pt x="57136" y="38090"/>
                </a:cubicBezTo>
                <a:close/>
                <a:moveTo>
                  <a:pt x="85704" y="76181"/>
                </a:moveTo>
                <a:lnTo>
                  <a:pt x="142839" y="76181"/>
                </a:lnTo>
                <a:cubicBezTo>
                  <a:pt x="148095" y="76181"/>
                  <a:pt x="152362" y="80448"/>
                  <a:pt x="152362" y="85704"/>
                </a:cubicBezTo>
                <a:lnTo>
                  <a:pt x="152362" y="142839"/>
                </a:lnTo>
                <a:cubicBezTo>
                  <a:pt x="152362" y="148095"/>
                  <a:pt x="148095" y="152362"/>
                  <a:pt x="142839" y="152362"/>
                </a:cubicBezTo>
                <a:lnTo>
                  <a:pt x="85704" y="152362"/>
                </a:lnTo>
                <a:cubicBezTo>
                  <a:pt x="80448" y="152362"/>
                  <a:pt x="76181" y="148095"/>
                  <a:pt x="76181" y="142839"/>
                </a:cubicBezTo>
                <a:lnTo>
                  <a:pt x="76181" y="85704"/>
                </a:lnTo>
                <a:cubicBezTo>
                  <a:pt x="76181" y="80448"/>
                  <a:pt x="80448" y="76181"/>
                  <a:pt x="85704" y="76181"/>
                </a:cubicBezTo>
                <a:close/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161009" y="5943600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3" name="Shape 18"/>
          <p:cNvSpPr/>
          <p:nvPr/>
        </p:nvSpPr>
        <p:spPr>
          <a:xfrm>
            <a:off x="7275281" y="605790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95226" y="152362"/>
                </a:moveTo>
                <a:lnTo>
                  <a:pt x="95321" y="152362"/>
                </a:lnTo>
                <a:moveTo>
                  <a:pt x="21064" y="110243"/>
                </a:moveTo>
                <a:cubicBezTo>
                  <a:pt x="19737" y="112892"/>
                  <a:pt x="19045" y="115813"/>
                  <a:pt x="19045" y="118776"/>
                </a:cubicBezTo>
                <a:lnTo>
                  <a:pt x="19045" y="171407"/>
                </a:lnTo>
                <a:cubicBezTo>
                  <a:pt x="19045" y="181918"/>
                  <a:pt x="27579" y="190452"/>
                  <a:pt x="38090" y="190452"/>
                </a:cubicBezTo>
                <a:lnTo>
                  <a:pt x="190452" y="190452"/>
                </a:lnTo>
                <a:cubicBezTo>
                  <a:pt x="200964" y="190452"/>
                  <a:pt x="209498" y="181918"/>
                  <a:pt x="209498" y="171407"/>
                </a:cubicBezTo>
                <a:lnTo>
                  <a:pt x="209498" y="118776"/>
                </a:lnTo>
                <a:cubicBezTo>
                  <a:pt x="209497" y="115813"/>
                  <a:pt x="208806" y="112892"/>
                  <a:pt x="207479" y="110243"/>
                </a:cubicBezTo>
                <a:lnTo>
                  <a:pt x="176645" y="48661"/>
                </a:lnTo>
                <a:cubicBezTo>
                  <a:pt x="173429" y="42188"/>
                  <a:pt x="166826" y="38094"/>
                  <a:pt x="159599" y="38090"/>
                </a:cubicBezTo>
                <a:lnTo>
                  <a:pt x="68944" y="38090"/>
                </a:lnTo>
                <a:cubicBezTo>
                  <a:pt x="61717" y="38094"/>
                  <a:pt x="55114" y="42188"/>
                  <a:pt x="51898" y="48661"/>
                </a:cubicBezTo>
                <a:close/>
                <a:moveTo>
                  <a:pt x="208983" y="114395"/>
                </a:moveTo>
                <a:lnTo>
                  <a:pt x="19559" y="114395"/>
                </a:lnTo>
                <a:moveTo>
                  <a:pt x="57136" y="152362"/>
                </a:moveTo>
                <a:lnTo>
                  <a:pt x="57231" y="152362"/>
                </a:lnTo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2112771" y="2476500"/>
            <a:ext cx="76181" cy="1905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5" name="Shape 20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6" name="Shape 21"/>
          <p:cNvSpPr/>
          <p:nvPr/>
        </p:nvSpPr>
        <p:spPr>
          <a:xfrm>
            <a:off x="6703924" y="6819900"/>
            <a:ext cx="5485028" cy="38100"/>
          </a:xfrm>
          <a:prstGeom prst="rect">
            <a:avLst/>
          </a:prstGeom>
          <a:solidFill>
            <a:srgbClr val="FF3000"/>
          </a:solidFill>
        </p:spPr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EC7606D2-1B7F-D8A2-FC36-3A1CE1F571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2415" y="2361186"/>
            <a:ext cx="4501361" cy="23632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97205"/>
            <a:ext cx="3167312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Computer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809625"/>
            <a:ext cx="7109528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is a Computer System?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474440"/>
            <a:ext cx="9523" cy="219075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474440"/>
            <a:ext cx="6665833" cy="219075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 computer system has four core structural elements that work together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884015"/>
            <a:ext cx="2571107" cy="45929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7990" y="2188815"/>
            <a:ext cx="685629" cy="6858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Shape 7"/>
          <p:cNvSpPr/>
          <p:nvPr/>
        </p:nvSpPr>
        <p:spPr>
          <a:xfrm>
            <a:off x="1009398" y="2360265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171407" y="285679"/>
                </a:moveTo>
                <a:lnTo>
                  <a:pt x="171407" y="314246"/>
                </a:lnTo>
                <a:moveTo>
                  <a:pt x="171407" y="28568"/>
                </a:moveTo>
                <a:lnTo>
                  <a:pt x="171407" y="57136"/>
                </a:lnTo>
                <a:moveTo>
                  <a:pt x="242827" y="285679"/>
                </a:moveTo>
                <a:lnTo>
                  <a:pt x="242827" y="314246"/>
                </a:lnTo>
                <a:moveTo>
                  <a:pt x="242827" y="28568"/>
                </a:moveTo>
                <a:lnTo>
                  <a:pt x="242827" y="57136"/>
                </a:lnTo>
                <a:moveTo>
                  <a:pt x="28568" y="171407"/>
                </a:moveTo>
                <a:lnTo>
                  <a:pt x="57136" y="171407"/>
                </a:lnTo>
                <a:moveTo>
                  <a:pt x="28568" y="242827"/>
                </a:moveTo>
                <a:lnTo>
                  <a:pt x="57136" y="242827"/>
                </a:lnTo>
                <a:moveTo>
                  <a:pt x="28568" y="99987"/>
                </a:moveTo>
                <a:lnTo>
                  <a:pt x="57136" y="99987"/>
                </a:lnTo>
                <a:moveTo>
                  <a:pt x="285679" y="171407"/>
                </a:moveTo>
                <a:lnTo>
                  <a:pt x="314246" y="171407"/>
                </a:lnTo>
                <a:moveTo>
                  <a:pt x="285679" y="242827"/>
                </a:moveTo>
                <a:lnTo>
                  <a:pt x="314246" y="242827"/>
                </a:lnTo>
                <a:moveTo>
                  <a:pt x="285679" y="99987"/>
                </a:moveTo>
                <a:lnTo>
                  <a:pt x="314246" y="99987"/>
                </a:lnTo>
                <a:moveTo>
                  <a:pt x="99987" y="285679"/>
                </a:moveTo>
                <a:lnTo>
                  <a:pt x="99987" y="314246"/>
                </a:lnTo>
                <a:moveTo>
                  <a:pt x="99987" y="28568"/>
                </a:moveTo>
                <a:lnTo>
                  <a:pt x="99987" y="57136"/>
                </a:lnTo>
                <a:moveTo>
                  <a:pt x="85704" y="57136"/>
                </a:moveTo>
                <a:lnTo>
                  <a:pt x="257111" y="57136"/>
                </a:lnTo>
                <a:cubicBezTo>
                  <a:pt x="272878" y="57136"/>
                  <a:pt x="285679" y="69937"/>
                  <a:pt x="285679" y="85704"/>
                </a:cubicBezTo>
                <a:lnTo>
                  <a:pt x="285679" y="257111"/>
                </a:lnTo>
                <a:cubicBezTo>
                  <a:pt x="285679" y="272878"/>
                  <a:pt x="272878" y="285679"/>
                  <a:pt x="257111" y="285679"/>
                </a:cubicBezTo>
                <a:lnTo>
                  <a:pt x="85704" y="285679"/>
                </a:lnTo>
                <a:cubicBezTo>
                  <a:pt x="69937" y="285679"/>
                  <a:pt x="57136" y="272878"/>
                  <a:pt x="57136" y="257111"/>
                </a:cubicBezTo>
                <a:lnTo>
                  <a:pt x="57136" y="85704"/>
                </a:lnTo>
                <a:cubicBezTo>
                  <a:pt x="57136" y="69937"/>
                  <a:pt x="69937" y="57136"/>
                  <a:pt x="85704" y="57136"/>
                </a:cubicBezTo>
                <a:close/>
                <a:moveTo>
                  <a:pt x="128555" y="114271"/>
                </a:moveTo>
                <a:lnTo>
                  <a:pt x="214259" y="114271"/>
                </a:lnTo>
                <a:cubicBezTo>
                  <a:pt x="222142" y="114271"/>
                  <a:pt x="228543" y="120672"/>
                  <a:pt x="228543" y="128555"/>
                </a:cubicBezTo>
                <a:lnTo>
                  <a:pt x="228543" y="214259"/>
                </a:lnTo>
                <a:cubicBezTo>
                  <a:pt x="228543" y="222142"/>
                  <a:pt x="222142" y="228543"/>
                  <a:pt x="214259" y="228543"/>
                </a:cubicBezTo>
                <a:lnTo>
                  <a:pt x="128555" y="228543"/>
                </a:lnTo>
                <a:cubicBezTo>
                  <a:pt x="120672" y="228543"/>
                  <a:pt x="114271" y="222142"/>
                  <a:pt x="114271" y="214259"/>
                </a:cubicBezTo>
                <a:lnTo>
                  <a:pt x="114271" y="128555"/>
                </a:lnTo>
                <a:cubicBezTo>
                  <a:pt x="114271" y="120672"/>
                  <a:pt x="120672" y="114271"/>
                  <a:pt x="128555" y="11427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7990" y="3071783"/>
            <a:ext cx="1319924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Processor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37990" y="3508028"/>
            <a:ext cx="2067301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Controls operations and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processes data (your CPU)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09098" y="1884015"/>
            <a:ext cx="2571107" cy="459298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37640" y="2188815"/>
            <a:ext cx="685629" cy="6858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5" name="Shape 11"/>
          <p:cNvSpPr/>
          <p:nvPr/>
        </p:nvSpPr>
        <p:spPr>
          <a:xfrm>
            <a:off x="3809047" y="2360265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171407" y="171407"/>
                </a:moveTo>
                <a:lnTo>
                  <a:pt x="171407" y="142839"/>
                </a:lnTo>
                <a:moveTo>
                  <a:pt x="171407" y="257111"/>
                </a:moveTo>
                <a:lnTo>
                  <a:pt x="171407" y="228543"/>
                </a:lnTo>
                <a:moveTo>
                  <a:pt x="228543" y="171407"/>
                </a:moveTo>
                <a:lnTo>
                  <a:pt x="228543" y="142839"/>
                </a:lnTo>
                <a:moveTo>
                  <a:pt x="228543" y="257111"/>
                </a:moveTo>
                <a:lnTo>
                  <a:pt x="228543" y="228543"/>
                </a:lnTo>
                <a:moveTo>
                  <a:pt x="28568" y="157123"/>
                </a:moveTo>
                <a:lnTo>
                  <a:pt x="49994" y="157123"/>
                </a:lnTo>
                <a:moveTo>
                  <a:pt x="285679" y="257111"/>
                </a:moveTo>
                <a:lnTo>
                  <a:pt x="285679" y="228543"/>
                </a:lnTo>
                <a:moveTo>
                  <a:pt x="292821" y="157123"/>
                </a:moveTo>
                <a:lnTo>
                  <a:pt x="314246" y="157123"/>
                </a:lnTo>
                <a:moveTo>
                  <a:pt x="57136" y="257111"/>
                </a:moveTo>
                <a:lnTo>
                  <a:pt x="57136" y="228543"/>
                </a:lnTo>
                <a:moveTo>
                  <a:pt x="114271" y="171407"/>
                </a:moveTo>
                <a:lnTo>
                  <a:pt x="114271" y="142839"/>
                </a:lnTo>
                <a:moveTo>
                  <a:pt x="114271" y="257111"/>
                </a:moveTo>
                <a:lnTo>
                  <a:pt x="114271" y="228543"/>
                </a:lnTo>
                <a:moveTo>
                  <a:pt x="57136" y="85704"/>
                </a:moveTo>
                <a:lnTo>
                  <a:pt x="285679" y="85704"/>
                </a:lnTo>
                <a:cubicBezTo>
                  <a:pt x="301446" y="85704"/>
                  <a:pt x="314246" y="98504"/>
                  <a:pt x="314246" y="114271"/>
                </a:cubicBezTo>
                <a:lnTo>
                  <a:pt x="314246" y="199975"/>
                </a:lnTo>
                <a:cubicBezTo>
                  <a:pt x="314246" y="215742"/>
                  <a:pt x="301446" y="228543"/>
                  <a:pt x="285679" y="228543"/>
                </a:cubicBezTo>
                <a:lnTo>
                  <a:pt x="57136" y="228543"/>
                </a:lnTo>
                <a:cubicBezTo>
                  <a:pt x="41369" y="228543"/>
                  <a:pt x="28568" y="215742"/>
                  <a:pt x="28568" y="199975"/>
                </a:cubicBezTo>
                <a:lnTo>
                  <a:pt x="28568" y="114271"/>
                </a:lnTo>
                <a:cubicBezTo>
                  <a:pt x="28568" y="98504"/>
                  <a:pt x="41369" y="85704"/>
                  <a:pt x="57136" y="85704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37640" y="3071783"/>
            <a:ext cx="922504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637640" y="3508028"/>
            <a:ext cx="1981895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Stores programs and 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temporarily while running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08747" y="1884015"/>
            <a:ext cx="2571107" cy="459298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37290" y="2188815"/>
            <a:ext cx="685629" cy="6858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0" name="Shape 15"/>
          <p:cNvSpPr/>
          <p:nvPr/>
        </p:nvSpPr>
        <p:spPr>
          <a:xfrm>
            <a:off x="6608697" y="2360265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171407" y="314246"/>
                </a:moveTo>
                <a:lnTo>
                  <a:pt x="171407" y="242827"/>
                </a:lnTo>
                <a:moveTo>
                  <a:pt x="214259" y="114271"/>
                </a:moveTo>
                <a:lnTo>
                  <a:pt x="214259" y="28568"/>
                </a:lnTo>
                <a:moveTo>
                  <a:pt x="242827" y="114271"/>
                </a:moveTo>
                <a:cubicBezTo>
                  <a:pt x="250710" y="114271"/>
                  <a:pt x="257111" y="120672"/>
                  <a:pt x="257111" y="128555"/>
                </a:cubicBezTo>
                <a:lnTo>
                  <a:pt x="257111" y="185691"/>
                </a:lnTo>
                <a:cubicBezTo>
                  <a:pt x="257111" y="217225"/>
                  <a:pt x="231509" y="242827"/>
                  <a:pt x="199975" y="242827"/>
                </a:cubicBezTo>
                <a:lnTo>
                  <a:pt x="142839" y="242827"/>
                </a:lnTo>
                <a:cubicBezTo>
                  <a:pt x="111305" y="242827"/>
                  <a:pt x="85704" y="217225"/>
                  <a:pt x="85704" y="185691"/>
                </a:cubicBezTo>
                <a:lnTo>
                  <a:pt x="85704" y="128555"/>
                </a:lnTo>
                <a:cubicBezTo>
                  <a:pt x="85704" y="120672"/>
                  <a:pt x="92104" y="114271"/>
                  <a:pt x="99987" y="114271"/>
                </a:cubicBezTo>
                <a:close/>
                <a:moveTo>
                  <a:pt x="128555" y="114271"/>
                </a:moveTo>
                <a:lnTo>
                  <a:pt x="128555" y="28568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37290" y="3071783"/>
            <a:ext cx="1362032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I/O Modules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437290" y="3508028"/>
            <a:ext cx="2000643" cy="6715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Connects to external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devices: keyboards, disks,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networks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08397" y="1884015"/>
            <a:ext cx="2571107" cy="459298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236940" y="2188815"/>
            <a:ext cx="685629" cy="6858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5" name="Shape 19"/>
          <p:cNvSpPr/>
          <p:nvPr/>
        </p:nvSpPr>
        <p:spPr>
          <a:xfrm>
            <a:off x="9408347" y="2360265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228543" y="42852"/>
                </a:moveTo>
                <a:moveTo>
                  <a:pt x="285679" y="99987"/>
                </a:moveTo>
                <a:moveTo>
                  <a:pt x="228543" y="157123"/>
                </a:moveTo>
                <a:moveTo>
                  <a:pt x="285679" y="99987"/>
                </a:moveTo>
                <a:lnTo>
                  <a:pt x="57136" y="99987"/>
                </a:lnTo>
                <a:moveTo>
                  <a:pt x="114271" y="299962"/>
                </a:moveTo>
                <a:moveTo>
                  <a:pt x="57136" y="242827"/>
                </a:moveTo>
                <a:moveTo>
                  <a:pt x="114271" y="185691"/>
                </a:moveTo>
                <a:moveTo>
                  <a:pt x="57136" y="242827"/>
                </a:moveTo>
                <a:lnTo>
                  <a:pt x="285679" y="242827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236940" y="3071783"/>
            <a:ext cx="1341053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System Bus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236940" y="3508028"/>
            <a:ext cx="1495795" cy="6715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communication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highway linking all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components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0904589" y="5057775"/>
            <a:ext cx="674916" cy="14954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0" b="1" kern="0" spc="-520" dirty="0">
                <a:solidFill>
                  <a:srgbClr val="F2F2F2">
                    <a:alpha val="7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4</a:t>
            </a:r>
            <a:endParaRPr lang="en-US" sz="10500" dirty="0"/>
          </a:p>
        </p:txBody>
      </p:sp>
      <p:sp>
        <p:nvSpPr>
          <p:cNvPr id="29" name="Shape 23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0" name="Shape 24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  <p:pic>
        <p:nvPicPr>
          <p:cNvPr id="31" name="图片 30" descr="Processor product names demystified and decoded | Digital Trends">
            <a:extLst>
              <a:ext uri="{FF2B5EF4-FFF2-40B4-BE49-F238E27FC236}">
                <a16:creationId xmlns:a16="http://schemas.microsoft.com/office/drawing/2014/main" id="{4D98D804-8281-3146-E2D9-97D47F9CE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90" y="4471253"/>
            <a:ext cx="1991879" cy="1394315"/>
          </a:xfrm>
          <a:prstGeom prst="rect">
            <a:avLst/>
          </a:prstGeom>
        </p:spPr>
      </p:pic>
      <p:pic>
        <p:nvPicPr>
          <p:cNvPr id="32" name="图片 31" descr="Types of Internal Memory: ROM, RAM, and More">
            <a:extLst>
              <a:ext uri="{FF2B5EF4-FFF2-40B4-BE49-F238E27FC236}">
                <a16:creationId xmlns:a16="http://schemas.microsoft.com/office/drawing/2014/main" id="{B70B9D3F-40DE-F1F4-FC09-BBB933AB5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634" y="4538963"/>
            <a:ext cx="2238034" cy="1258894"/>
          </a:xfrm>
          <a:prstGeom prst="rect">
            <a:avLst/>
          </a:prstGeom>
        </p:spPr>
      </p:pic>
      <p:pic>
        <p:nvPicPr>
          <p:cNvPr id="33" name="图片 32" descr="Understanding Computer Input and Output Devices | Computer I/O: A ...">
            <a:extLst>
              <a:ext uri="{FF2B5EF4-FFF2-40B4-BE49-F238E27FC236}">
                <a16:creationId xmlns:a16="http://schemas.microsoft.com/office/drawing/2014/main" id="{E45391B2-68C9-61D2-6011-23D81A880E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258" y="4498628"/>
            <a:ext cx="2309740" cy="1299229"/>
          </a:xfrm>
          <a:prstGeom prst="rect">
            <a:avLst/>
          </a:prstGeom>
        </p:spPr>
      </p:pic>
      <p:pic>
        <p:nvPicPr>
          <p:cNvPr id="34" name="图片 33" descr="What are the types of buses in Computer Architecture | Gate Vidyalay">
            <a:extLst>
              <a:ext uri="{FF2B5EF4-FFF2-40B4-BE49-F238E27FC236}">
                <a16:creationId xmlns:a16="http://schemas.microsoft.com/office/drawing/2014/main" id="{01ED13D8-3BC4-3F32-CFF6-DC6D95ADAD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8719" y="4520527"/>
            <a:ext cx="2492335" cy="1209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97205"/>
            <a:ext cx="3167312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Computer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809625"/>
            <a:ext cx="7143006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Basic Instruction Cycle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448" y="1443960"/>
            <a:ext cx="435392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Every program you run follows a simple but powerful loop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61709" y="2017365"/>
            <a:ext cx="3999500" cy="3619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85328" y="2436465"/>
            <a:ext cx="952262" cy="9525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9" name="Shape 6"/>
          <p:cNvSpPr/>
          <p:nvPr/>
        </p:nvSpPr>
        <p:spPr>
          <a:xfrm>
            <a:off x="3332917" y="2684115"/>
            <a:ext cx="457086" cy="457200"/>
          </a:xfrm>
          <a:custGeom>
            <a:avLst/>
            <a:gdLst/>
            <a:ahLst/>
            <a:cxnLst/>
            <a:rect l="l" t="t" r="r" b="b"/>
            <a:pathLst>
              <a:path w="457086" h="457200">
                <a:moveTo>
                  <a:pt x="228543" y="285679"/>
                </a:moveTo>
                <a:lnTo>
                  <a:pt x="228543" y="57136"/>
                </a:lnTo>
                <a:moveTo>
                  <a:pt x="399950" y="285679"/>
                </a:moveTo>
                <a:lnTo>
                  <a:pt x="399950" y="361860"/>
                </a:lnTo>
                <a:cubicBezTo>
                  <a:pt x="399950" y="382882"/>
                  <a:pt x="382882" y="399950"/>
                  <a:pt x="361860" y="399950"/>
                </a:cubicBezTo>
                <a:lnTo>
                  <a:pt x="95226" y="399950"/>
                </a:lnTo>
                <a:cubicBezTo>
                  <a:pt x="74203" y="399950"/>
                  <a:pt x="57136" y="382882"/>
                  <a:pt x="57136" y="361860"/>
                </a:cubicBezTo>
                <a:lnTo>
                  <a:pt x="57136" y="285679"/>
                </a:lnTo>
                <a:moveTo>
                  <a:pt x="133317" y="190452"/>
                </a:moveTo>
                <a:moveTo>
                  <a:pt x="228543" y="285679"/>
                </a:moveTo>
                <a:moveTo>
                  <a:pt x="323769" y="190452"/>
                </a:moveTo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1224" y="3628995"/>
            <a:ext cx="1000470" cy="3314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2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Fetch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051083" y="4198590"/>
            <a:ext cx="3020753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Your CPU grabs the next instruction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from memory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904524" y="4846290"/>
            <a:ext cx="3313871" cy="1000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04524" y="4846290"/>
            <a:ext cx="3313871" cy="371475"/>
          </a:xfrm>
          <a:prstGeom prst="rect">
            <a:avLst/>
          </a:prstGeom>
          <a:noFill/>
        </p:spPr>
        <p:txBody>
          <a:bodyPr wrap="none" lIns="0" tIns="15240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Uses the 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Program Counter (PC)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65933" y="3484215"/>
            <a:ext cx="457086" cy="457200"/>
          </a:xfrm>
          <a:custGeom>
            <a:avLst/>
            <a:gdLst/>
            <a:ahLst/>
            <a:cxnLst/>
            <a:rect l="l" t="t" r="r" b="b"/>
            <a:pathLst>
              <a:path w="457086" h="457200">
                <a:moveTo>
                  <a:pt x="95226" y="228543"/>
                </a:moveTo>
                <a:lnTo>
                  <a:pt x="361860" y="228543"/>
                </a:lnTo>
                <a:moveTo>
                  <a:pt x="228543" y="95226"/>
                </a:moveTo>
                <a:moveTo>
                  <a:pt x="361860" y="228543"/>
                </a:moveTo>
                <a:moveTo>
                  <a:pt x="228543" y="361860"/>
                </a:moveTo>
              </a:path>
            </a:pathLst>
          </a:custGeom>
          <a:noFill/>
          <a:ln w="23813">
            <a:solidFill>
              <a:srgbClr val="FF3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86318" y="4021425"/>
            <a:ext cx="416317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Then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27743" y="2017365"/>
            <a:ext cx="3999500" cy="36195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151362" y="2436465"/>
            <a:ext cx="952262" cy="9525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8" name="Shape 14"/>
          <p:cNvSpPr/>
          <p:nvPr/>
        </p:nvSpPr>
        <p:spPr>
          <a:xfrm>
            <a:off x="8398950" y="2684115"/>
            <a:ext cx="457086" cy="457200"/>
          </a:xfrm>
          <a:custGeom>
            <a:avLst/>
            <a:gdLst/>
            <a:ahLst/>
            <a:cxnLst/>
            <a:rect l="l" t="t" r="r" b="b"/>
            <a:pathLst>
              <a:path w="457086" h="457200">
                <a:moveTo>
                  <a:pt x="95226" y="95226"/>
                </a:moveTo>
                <a:cubicBezTo>
                  <a:pt x="95222" y="81584"/>
                  <a:pt x="102514" y="68982"/>
                  <a:pt x="114343" y="62186"/>
                </a:cubicBezTo>
                <a:cubicBezTo>
                  <a:pt x="126172" y="55391"/>
                  <a:pt x="140732" y="55440"/>
                  <a:pt x="152514" y="62316"/>
                </a:cubicBezTo>
                <a:lnTo>
                  <a:pt x="381000" y="195595"/>
                </a:lnTo>
                <a:cubicBezTo>
                  <a:pt x="392735" y="202404"/>
                  <a:pt x="399962" y="214940"/>
                  <a:pt x="399974" y="228507"/>
                </a:cubicBezTo>
                <a:cubicBezTo>
                  <a:pt x="399985" y="242074"/>
                  <a:pt x="392780" y="254624"/>
                  <a:pt x="381057" y="261453"/>
                </a:cubicBezTo>
                <a:lnTo>
                  <a:pt x="152514" y="394770"/>
                </a:lnTo>
                <a:cubicBezTo>
                  <a:pt x="140732" y="401645"/>
                  <a:pt x="126172" y="401695"/>
                  <a:pt x="114343" y="394899"/>
                </a:cubicBezTo>
                <a:cubicBezTo>
                  <a:pt x="102514" y="388104"/>
                  <a:pt x="95222" y="375501"/>
                  <a:pt x="95226" y="361860"/>
                </a:cubicBezTo>
                <a:close/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918504" y="3628995"/>
            <a:ext cx="1417977" cy="3314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-2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Execute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7266948" y="4198590"/>
            <a:ext cx="272094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CPU decodes and runs that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instruction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970557" y="4846290"/>
            <a:ext cx="3313871" cy="10000"/>
          </a:xfrm>
          <a:prstGeom prst="line">
            <a:avLst/>
          </a:prstGeom>
          <a:noFill/>
          <a:ln w="19050">
            <a:solidFill>
              <a:srgbClr val="E5E5E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970557" y="4846290"/>
            <a:ext cx="3313871" cy="371475"/>
          </a:xfrm>
          <a:prstGeom prst="rect">
            <a:avLst/>
          </a:prstGeom>
          <a:noFill/>
        </p:spPr>
        <p:txBody>
          <a:bodyPr wrap="none" lIns="0" tIns="15240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Move data • Calculate • Change flow</a:t>
            </a:r>
            <a:endParaRPr lang="en-US" sz="14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5941665"/>
            <a:ext cx="10970057" cy="8382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1774778" y="6208365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215846" y="25394"/>
                </a:moveTo>
                <a:moveTo>
                  <a:pt x="266633" y="76181"/>
                </a:moveTo>
                <a:moveTo>
                  <a:pt x="215846" y="126968"/>
                </a:moveTo>
                <a:moveTo>
                  <a:pt x="38090" y="139665"/>
                </a:moveTo>
                <a:lnTo>
                  <a:pt x="38090" y="126968"/>
                </a:lnTo>
                <a:cubicBezTo>
                  <a:pt x="38090" y="98938"/>
                  <a:pt x="60848" y="76181"/>
                  <a:pt x="88878" y="76181"/>
                </a:cubicBezTo>
                <a:lnTo>
                  <a:pt x="266633" y="76181"/>
                </a:lnTo>
                <a:moveTo>
                  <a:pt x="88878" y="279330"/>
                </a:moveTo>
                <a:moveTo>
                  <a:pt x="38090" y="228543"/>
                </a:moveTo>
                <a:moveTo>
                  <a:pt x="88878" y="177756"/>
                </a:moveTo>
                <a:moveTo>
                  <a:pt x="266633" y="165059"/>
                </a:moveTo>
                <a:lnTo>
                  <a:pt x="266633" y="177756"/>
                </a:lnTo>
                <a:cubicBezTo>
                  <a:pt x="266633" y="205786"/>
                  <a:pt x="243876" y="228543"/>
                  <a:pt x="215846" y="228543"/>
                </a:cubicBezTo>
                <a:lnTo>
                  <a:pt x="38090" y="228543"/>
                </a:lnTo>
              </a:path>
            </a:pathLst>
          </a:cu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231864" y="6284565"/>
            <a:ext cx="8182310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This cycle repeats </a:t>
            </a: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billions of times per second</a:t>
            </a: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— keeping your computer alive and responsive!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7" name="Shape 22"/>
          <p:cNvSpPr/>
          <p:nvPr/>
        </p:nvSpPr>
        <p:spPr>
          <a:xfrm>
            <a:off x="0" y="6819900"/>
            <a:ext cx="402226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97205"/>
            <a:ext cx="3167312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Computer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809625"/>
            <a:ext cx="6206218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Inside the CPU Registers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474440"/>
            <a:ext cx="9523" cy="219075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474440"/>
            <a:ext cx="7618095" cy="219075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Let's look at three essential registers you'll work with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2074515"/>
            <a:ext cx="3453437" cy="44024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171" y="2417415"/>
            <a:ext cx="761810" cy="762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Shape 7"/>
          <p:cNvSpPr/>
          <p:nvPr/>
        </p:nvSpPr>
        <p:spPr>
          <a:xfrm>
            <a:off x="1104624" y="2607915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349163" y="222194"/>
                </a:moveTo>
                <a:cubicBezTo>
                  <a:pt x="349163" y="292270"/>
                  <a:pt x="292270" y="349163"/>
                  <a:pt x="222194" y="349163"/>
                </a:cubicBezTo>
                <a:moveTo>
                  <a:pt x="285679" y="174581"/>
                </a:moveTo>
                <a:lnTo>
                  <a:pt x="285679" y="158710"/>
                </a:lnTo>
                <a:cubicBezTo>
                  <a:pt x="285679" y="141191"/>
                  <a:pt x="271455" y="126968"/>
                  <a:pt x="253937" y="126968"/>
                </a:cubicBezTo>
                <a:cubicBezTo>
                  <a:pt x="236418" y="126968"/>
                  <a:pt x="222194" y="141191"/>
                  <a:pt x="222194" y="158710"/>
                </a:cubicBezTo>
                <a:moveTo>
                  <a:pt x="222194" y="158710"/>
                </a:moveTo>
                <a:lnTo>
                  <a:pt x="222194" y="142839"/>
                </a:lnTo>
                <a:cubicBezTo>
                  <a:pt x="222194" y="125320"/>
                  <a:pt x="207971" y="111097"/>
                  <a:pt x="190452" y="111097"/>
                </a:cubicBezTo>
                <a:cubicBezTo>
                  <a:pt x="172933" y="111097"/>
                  <a:pt x="158710" y="125320"/>
                  <a:pt x="158710" y="142839"/>
                </a:cubicBezTo>
                <a:lnTo>
                  <a:pt x="158710" y="158710"/>
                </a:lnTo>
                <a:moveTo>
                  <a:pt x="158710" y="150775"/>
                </a:moveTo>
                <a:lnTo>
                  <a:pt x="158710" y="63484"/>
                </a:lnTo>
                <a:cubicBezTo>
                  <a:pt x="158710" y="45965"/>
                  <a:pt x="144487" y="31742"/>
                  <a:pt x="126968" y="31742"/>
                </a:cubicBezTo>
                <a:cubicBezTo>
                  <a:pt x="109449" y="31742"/>
                  <a:pt x="95226" y="45965"/>
                  <a:pt x="95226" y="63484"/>
                </a:cubicBezTo>
                <a:lnTo>
                  <a:pt x="95226" y="222194"/>
                </a:lnTo>
                <a:moveTo>
                  <a:pt x="285679" y="174581"/>
                </a:moveTo>
                <a:cubicBezTo>
                  <a:pt x="285679" y="157062"/>
                  <a:pt x="299902" y="142839"/>
                  <a:pt x="317421" y="142839"/>
                </a:cubicBezTo>
                <a:cubicBezTo>
                  <a:pt x="334940" y="142839"/>
                  <a:pt x="349163" y="157062"/>
                  <a:pt x="349163" y="174581"/>
                </a:cubicBezTo>
                <a:lnTo>
                  <a:pt x="349163" y="222194"/>
                </a:lnTo>
                <a:cubicBezTo>
                  <a:pt x="349163" y="292270"/>
                  <a:pt x="292270" y="349163"/>
                  <a:pt x="222194" y="349163"/>
                </a:cubicBezTo>
                <a:lnTo>
                  <a:pt x="190452" y="349163"/>
                </a:lnTo>
                <a:cubicBezTo>
                  <a:pt x="146013" y="349163"/>
                  <a:pt x="119033" y="335514"/>
                  <a:pt x="95385" y="312024"/>
                </a:cubicBezTo>
                <a:lnTo>
                  <a:pt x="38249" y="254889"/>
                </a:lnTo>
                <a:cubicBezTo>
                  <a:pt x="26907" y="242328"/>
                  <a:pt x="27415" y="223077"/>
                  <a:pt x="39403" y="211132"/>
                </a:cubicBezTo>
                <a:cubicBezTo>
                  <a:pt x="51391" y="199186"/>
                  <a:pt x="70643" y="198746"/>
                  <a:pt x="83164" y="210132"/>
                </a:cubicBezTo>
                <a:lnTo>
                  <a:pt x="111097" y="238065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171" y="3411825"/>
            <a:ext cx="211878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PC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171" y="3643283"/>
            <a:ext cx="2156724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Program Counter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14171" y="4098578"/>
            <a:ext cx="2552508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Holds the </a:t>
            </a: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address of the next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instruction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to fetch from memory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67609" y="2074515"/>
            <a:ext cx="3453586" cy="440248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72332" y="2417415"/>
            <a:ext cx="761810" cy="762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6" name="Shape 12"/>
          <p:cNvSpPr/>
          <p:nvPr/>
        </p:nvSpPr>
        <p:spPr>
          <a:xfrm>
            <a:off x="4862785" y="2607915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95226" y="349163"/>
                </a:moveTo>
                <a:cubicBezTo>
                  <a:pt x="77707" y="349163"/>
                  <a:pt x="63484" y="334940"/>
                  <a:pt x="63484" y="317421"/>
                </a:cubicBezTo>
                <a:lnTo>
                  <a:pt x="63484" y="63484"/>
                </a:lnTo>
                <a:cubicBezTo>
                  <a:pt x="63484" y="45965"/>
                  <a:pt x="77707" y="31742"/>
                  <a:pt x="95226" y="31742"/>
                </a:cubicBezTo>
                <a:lnTo>
                  <a:pt x="222194" y="31742"/>
                </a:lnTo>
                <a:cubicBezTo>
                  <a:pt x="232342" y="31726"/>
                  <a:pt x="242076" y="35759"/>
                  <a:pt x="249239" y="42947"/>
                </a:cubicBezTo>
                <a:lnTo>
                  <a:pt x="306184" y="99892"/>
                </a:lnTo>
                <a:cubicBezTo>
                  <a:pt x="313392" y="107057"/>
                  <a:pt x="317437" y="116805"/>
                  <a:pt x="317421" y="126968"/>
                </a:cubicBezTo>
                <a:lnTo>
                  <a:pt x="317421" y="317421"/>
                </a:lnTo>
                <a:cubicBezTo>
                  <a:pt x="317421" y="334940"/>
                  <a:pt x="303197" y="349163"/>
                  <a:pt x="285679" y="349163"/>
                </a:cubicBezTo>
                <a:close/>
                <a:moveTo>
                  <a:pt x="222194" y="31742"/>
                </a:moveTo>
                <a:lnTo>
                  <a:pt x="222194" y="111097"/>
                </a:lnTo>
                <a:cubicBezTo>
                  <a:pt x="222194" y="119857"/>
                  <a:pt x="229306" y="126968"/>
                  <a:pt x="238065" y="126968"/>
                </a:cubicBezTo>
                <a:lnTo>
                  <a:pt x="317421" y="126968"/>
                </a:lnTo>
                <a:moveTo>
                  <a:pt x="158710" y="198388"/>
                </a:moveTo>
                <a:moveTo>
                  <a:pt x="126968" y="238065"/>
                </a:moveTo>
                <a:lnTo>
                  <a:pt x="158710" y="277743"/>
                </a:lnTo>
                <a:moveTo>
                  <a:pt x="222194" y="198388"/>
                </a:moveTo>
                <a:moveTo>
                  <a:pt x="253937" y="238065"/>
                </a:moveTo>
                <a:moveTo>
                  <a:pt x="222194" y="277743"/>
                </a:move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72332" y="3411825"/>
            <a:ext cx="160099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672332" y="3643283"/>
            <a:ext cx="2518733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Instruction Register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672332" y="4098578"/>
            <a:ext cx="2819737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Stores the </a:t>
            </a: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current instruction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being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executed by the CPU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5918" y="2074515"/>
            <a:ext cx="3453437" cy="440248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430642" y="2417415"/>
            <a:ext cx="761810" cy="762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2" name="Shape 17"/>
          <p:cNvSpPr/>
          <p:nvPr/>
        </p:nvSpPr>
        <p:spPr>
          <a:xfrm>
            <a:off x="8621095" y="2607915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95226" y="31742"/>
                </a:moveTo>
                <a:lnTo>
                  <a:pt x="285679" y="31742"/>
                </a:lnTo>
                <a:cubicBezTo>
                  <a:pt x="303197" y="31742"/>
                  <a:pt x="317421" y="45965"/>
                  <a:pt x="317421" y="63484"/>
                </a:cubicBezTo>
                <a:lnTo>
                  <a:pt x="317421" y="317421"/>
                </a:lnTo>
                <a:cubicBezTo>
                  <a:pt x="317421" y="334940"/>
                  <a:pt x="303197" y="349163"/>
                  <a:pt x="285679" y="349163"/>
                </a:cubicBezTo>
                <a:lnTo>
                  <a:pt x="95226" y="349163"/>
                </a:lnTo>
                <a:cubicBezTo>
                  <a:pt x="77707" y="349163"/>
                  <a:pt x="63484" y="334940"/>
                  <a:pt x="63484" y="317421"/>
                </a:cubicBezTo>
                <a:lnTo>
                  <a:pt x="63484" y="63484"/>
                </a:lnTo>
                <a:cubicBezTo>
                  <a:pt x="63484" y="45965"/>
                  <a:pt x="77707" y="31742"/>
                  <a:pt x="95226" y="31742"/>
                </a:cubicBezTo>
                <a:close/>
                <a:moveTo>
                  <a:pt x="126968" y="95226"/>
                </a:moveTo>
                <a:lnTo>
                  <a:pt x="253937" y="95226"/>
                </a:lnTo>
                <a:moveTo>
                  <a:pt x="253937" y="222194"/>
                </a:moveTo>
                <a:lnTo>
                  <a:pt x="253937" y="285679"/>
                </a:lnTo>
                <a:moveTo>
                  <a:pt x="253937" y="158710"/>
                </a:moveTo>
                <a:lnTo>
                  <a:pt x="254095" y="158710"/>
                </a:lnTo>
                <a:moveTo>
                  <a:pt x="190452" y="158710"/>
                </a:moveTo>
                <a:lnTo>
                  <a:pt x="190611" y="158710"/>
                </a:lnTo>
                <a:moveTo>
                  <a:pt x="126968" y="158710"/>
                </a:moveTo>
                <a:lnTo>
                  <a:pt x="127127" y="158710"/>
                </a:lnTo>
                <a:moveTo>
                  <a:pt x="190452" y="222194"/>
                </a:moveTo>
                <a:lnTo>
                  <a:pt x="190611" y="222194"/>
                </a:lnTo>
                <a:moveTo>
                  <a:pt x="126968" y="222194"/>
                </a:moveTo>
                <a:lnTo>
                  <a:pt x="127127" y="222194"/>
                </a:lnTo>
                <a:moveTo>
                  <a:pt x="190452" y="285679"/>
                </a:moveTo>
                <a:lnTo>
                  <a:pt x="190611" y="285679"/>
                </a:lnTo>
                <a:moveTo>
                  <a:pt x="126968" y="285679"/>
                </a:moveTo>
                <a:lnTo>
                  <a:pt x="127127" y="285679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430642" y="3411825"/>
            <a:ext cx="219318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AC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430642" y="3643283"/>
            <a:ext cx="1610215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Accumulator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430642" y="4098578"/>
            <a:ext cx="2578249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Temporary storage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for arithmetic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operations and data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0904589" y="5057775"/>
            <a:ext cx="674916" cy="14954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0" b="1" kern="0" spc="-520" dirty="0">
                <a:solidFill>
                  <a:srgbClr val="F2F2F2">
                    <a:alpha val="7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</a:t>
            </a:r>
            <a:endParaRPr lang="en-US" sz="10500" dirty="0"/>
          </a:p>
        </p:txBody>
      </p:sp>
      <p:sp>
        <p:nvSpPr>
          <p:cNvPr id="27" name="Shape 22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8" name="Shape 23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82567" cy="142875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8647" y="495300"/>
            <a:ext cx="3148118" cy="1428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Computer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790575"/>
            <a:ext cx="9265954" cy="561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 Program Execution Walkthrough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448" y="1448723"/>
            <a:ext cx="6790371" cy="197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Tracing how the CPU adds two values from memory: a step-by-step demonstration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874490"/>
            <a:ext cx="3453437" cy="35261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171" y="2188815"/>
            <a:ext cx="672386" cy="7334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00" b="1" kern="0" spc="-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01</a:t>
            </a:r>
            <a:endParaRPr lang="en-US" sz="4800" dirty="0"/>
          </a:p>
        </p:txBody>
      </p:sp>
      <p:sp>
        <p:nvSpPr>
          <p:cNvPr id="9" name="Shape 6"/>
          <p:cNvSpPr/>
          <p:nvPr/>
        </p:nvSpPr>
        <p:spPr>
          <a:xfrm>
            <a:off x="914171" y="3055590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Shape 7"/>
          <p:cNvSpPr/>
          <p:nvPr/>
        </p:nvSpPr>
        <p:spPr>
          <a:xfrm>
            <a:off x="1047488" y="3188940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133317" y="166646"/>
                </a:moveTo>
                <a:lnTo>
                  <a:pt x="133317" y="33329"/>
                </a:lnTo>
                <a:moveTo>
                  <a:pt x="233304" y="166646"/>
                </a:moveTo>
                <a:lnTo>
                  <a:pt x="233304" y="211085"/>
                </a:lnTo>
                <a:cubicBezTo>
                  <a:pt x="233304" y="223348"/>
                  <a:pt x="223348" y="233304"/>
                  <a:pt x="211085" y="233304"/>
                </a:cubicBezTo>
                <a:lnTo>
                  <a:pt x="55549" y="233304"/>
                </a:lnTo>
                <a:cubicBezTo>
                  <a:pt x="43285" y="233304"/>
                  <a:pt x="33329" y="223348"/>
                  <a:pt x="33329" y="211085"/>
                </a:cubicBezTo>
                <a:lnTo>
                  <a:pt x="33329" y="166646"/>
                </a:lnTo>
                <a:moveTo>
                  <a:pt x="77768" y="111097"/>
                </a:moveTo>
                <a:moveTo>
                  <a:pt x="133317" y="166646"/>
                </a:moveTo>
                <a:moveTo>
                  <a:pt x="188865" y="111097"/>
                </a:moveTo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171" y="3779490"/>
            <a:ext cx="1554270" cy="2762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Fetch Stage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171" y="4265265"/>
            <a:ext cx="2445081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CPU retrieves instruction from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address stored in 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Program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Counter (PC)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67609" y="1874490"/>
            <a:ext cx="3453586" cy="352618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72332" y="2188815"/>
            <a:ext cx="790824" cy="7334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00" b="1" kern="0" spc="-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4800" dirty="0"/>
          </a:p>
        </p:txBody>
      </p:sp>
      <p:sp>
        <p:nvSpPr>
          <p:cNvPr id="15" name="Shape 11"/>
          <p:cNvSpPr/>
          <p:nvPr/>
        </p:nvSpPr>
        <p:spPr>
          <a:xfrm>
            <a:off x="4672332" y="3055590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6" name="Shape 12"/>
          <p:cNvSpPr/>
          <p:nvPr/>
        </p:nvSpPr>
        <p:spPr>
          <a:xfrm>
            <a:off x="4805649" y="3188940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122207" y="114097"/>
                </a:moveTo>
                <a:moveTo>
                  <a:pt x="77768" y="37106"/>
                </a:moveTo>
                <a:moveTo>
                  <a:pt x="122207" y="152536"/>
                </a:moveTo>
                <a:moveTo>
                  <a:pt x="77768" y="229527"/>
                </a:moveTo>
                <a:moveTo>
                  <a:pt x="133317" y="244414"/>
                </a:moveTo>
                <a:lnTo>
                  <a:pt x="133317" y="222194"/>
                </a:lnTo>
                <a:moveTo>
                  <a:pt x="133317" y="22219"/>
                </a:moveTo>
                <a:lnTo>
                  <a:pt x="133317" y="44439"/>
                </a:lnTo>
                <a:moveTo>
                  <a:pt x="155536" y="133317"/>
                </a:moveTo>
                <a:lnTo>
                  <a:pt x="244414" y="133317"/>
                </a:lnTo>
                <a:moveTo>
                  <a:pt x="188865" y="229527"/>
                </a:moveTo>
                <a:moveTo>
                  <a:pt x="177756" y="210307"/>
                </a:moveTo>
                <a:moveTo>
                  <a:pt x="188865" y="37106"/>
                </a:moveTo>
                <a:moveTo>
                  <a:pt x="177756" y="56326"/>
                </a:moveTo>
                <a:moveTo>
                  <a:pt x="22219" y="133317"/>
                </a:moveTo>
                <a:lnTo>
                  <a:pt x="44439" y="133317"/>
                </a:lnTo>
                <a:moveTo>
                  <a:pt x="229527" y="188865"/>
                </a:moveTo>
                <a:moveTo>
                  <a:pt x="210307" y="177756"/>
                </a:moveTo>
                <a:moveTo>
                  <a:pt x="229527" y="77768"/>
                </a:moveTo>
                <a:moveTo>
                  <a:pt x="210307" y="88878"/>
                </a:moveTo>
                <a:moveTo>
                  <a:pt x="37106" y="188865"/>
                </a:moveTo>
                <a:moveTo>
                  <a:pt x="56326" y="177756"/>
                </a:moveTo>
                <a:moveTo>
                  <a:pt x="37106" y="77768"/>
                </a:moveTo>
                <a:moveTo>
                  <a:pt x="56326" y="88878"/>
                </a:moveTo>
                <a:moveTo>
                  <a:pt x="111097" y="133317"/>
                </a:moveTo>
                <a:cubicBezTo>
                  <a:pt x="111097" y="121053"/>
                  <a:pt x="121053" y="111097"/>
                  <a:pt x="133317" y="111097"/>
                </a:cubicBezTo>
                <a:cubicBezTo>
                  <a:pt x="145580" y="111097"/>
                  <a:pt x="155536" y="121053"/>
                  <a:pt x="155536" y="133317"/>
                </a:cubicBezTo>
                <a:cubicBezTo>
                  <a:pt x="155536" y="145580"/>
                  <a:pt x="145580" y="155536"/>
                  <a:pt x="133317" y="155536"/>
                </a:cubicBezTo>
                <a:cubicBezTo>
                  <a:pt x="121053" y="155536"/>
                  <a:pt x="111097" y="145580"/>
                  <a:pt x="111097" y="133317"/>
                </a:cubicBezTo>
                <a:close/>
                <a:moveTo>
                  <a:pt x="44439" y="133317"/>
                </a:moveTo>
                <a:cubicBezTo>
                  <a:pt x="44439" y="84264"/>
                  <a:pt x="84264" y="44439"/>
                  <a:pt x="133317" y="44439"/>
                </a:cubicBezTo>
                <a:cubicBezTo>
                  <a:pt x="182370" y="44439"/>
                  <a:pt x="222194" y="84264"/>
                  <a:pt x="222194" y="133317"/>
                </a:cubicBezTo>
                <a:cubicBezTo>
                  <a:pt x="222194" y="182370"/>
                  <a:pt x="182370" y="222194"/>
                  <a:pt x="133317" y="222194"/>
                </a:cubicBezTo>
                <a:cubicBezTo>
                  <a:pt x="84264" y="222194"/>
                  <a:pt x="44439" y="182370"/>
                  <a:pt x="44439" y="133317"/>
                </a:cubicBezTo>
                <a:close/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72332" y="3779490"/>
            <a:ext cx="1877146" cy="2762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Execute Stage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672332" y="4265265"/>
            <a:ext cx="2736116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Performs operation (load, add,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store) using 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Accumulator (AC)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working register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5918" y="1874490"/>
            <a:ext cx="3453437" cy="352618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30642" y="2188815"/>
            <a:ext cx="804512" cy="7334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00" b="1" kern="0" spc="-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4800" dirty="0"/>
          </a:p>
        </p:txBody>
      </p:sp>
      <p:sp>
        <p:nvSpPr>
          <p:cNvPr id="21" name="Shape 16"/>
          <p:cNvSpPr/>
          <p:nvPr/>
        </p:nvSpPr>
        <p:spPr>
          <a:xfrm>
            <a:off x="8430642" y="3055590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2" name="Shape 17"/>
          <p:cNvSpPr/>
          <p:nvPr/>
        </p:nvSpPr>
        <p:spPr>
          <a:xfrm>
            <a:off x="8563959" y="3188940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242203" y="111097"/>
                </a:moveTo>
                <a:cubicBezTo>
                  <a:pt x="252658" y="162408"/>
                  <a:pt x="225864" y="214053"/>
                  <a:pt x="177895" y="235052"/>
                </a:cubicBezTo>
                <a:cubicBezTo>
                  <a:pt x="129925" y="256051"/>
                  <a:pt x="73804" y="240702"/>
                  <a:pt x="43198" y="198213"/>
                </a:cubicBezTo>
                <a:cubicBezTo>
                  <a:pt x="12591" y="155724"/>
                  <a:pt x="15810" y="97631"/>
                  <a:pt x="50923" y="58783"/>
                </a:cubicBezTo>
                <a:cubicBezTo>
                  <a:pt x="86036" y="19936"/>
                  <a:pt x="143509" y="10881"/>
                  <a:pt x="188865" y="37051"/>
                </a:cubicBezTo>
                <a:moveTo>
                  <a:pt x="99987" y="122207"/>
                </a:moveTo>
                <a:moveTo>
                  <a:pt x="133317" y="155536"/>
                </a:moveTo>
                <a:lnTo>
                  <a:pt x="244414" y="44439"/>
                </a:lnTo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430642" y="3779490"/>
            <a:ext cx="1663482" cy="2762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Store Result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430642" y="4265265"/>
            <a:ext cx="2613364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Final sum written back: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memory[940] + memory[941] →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memory[941]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09448" y="5400675"/>
            <a:ext cx="10970057" cy="1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63097" y="5648325"/>
            <a:ext cx="2224871" cy="52387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572595" y="5830253"/>
            <a:ext cx="731456" cy="1657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B3B3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mem[940]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3418323" y="5790248"/>
            <a:ext cx="960148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value A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4816511" y="5724525"/>
            <a:ext cx="211283" cy="3714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+</a:t>
            </a:r>
            <a:endParaRPr lang="en-US" sz="24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56337" y="5648325"/>
            <a:ext cx="2224871" cy="52387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65834" y="5830253"/>
            <a:ext cx="731456" cy="1657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B3B3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mem[941]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311562" y="5790248"/>
            <a:ext cx="960148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value B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709750" y="5724525"/>
            <a:ext cx="211283" cy="3714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=</a:t>
            </a:r>
            <a:endParaRPr lang="en-US" sz="24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49576" y="5648325"/>
            <a:ext cx="1676278" cy="52387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359074" y="5830253"/>
            <a:ext cx="731456" cy="1657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B3B3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mem[941]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9204801" y="5790248"/>
            <a:ext cx="411556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3000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SUM</a:t>
            </a:r>
            <a:endParaRPr lang="en-US" sz="1800" dirty="0"/>
          </a:p>
        </p:txBody>
      </p:sp>
      <p:sp>
        <p:nvSpPr>
          <p:cNvPr id="37" name="Shape 29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8" name="Shape 30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185646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Interrupts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95325"/>
            <a:ext cx="5910868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Why Interrupts Matter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360140"/>
            <a:ext cx="5332667" cy="38214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2262" y="2426940"/>
            <a:ext cx="4647038" cy="1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262" y="1703040"/>
            <a:ext cx="533267" cy="533400"/>
          </a:xfrm>
          <a:prstGeom prst="rect">
            <a:avLst/>
          </a:prstGeom>
          <a:solidFill>
            <a:srgbClr val="B3B3B3"/>
          </a:solidFill>
        </p:spPr>
      </p:sp>
      <p:sp>
        <p:nvSpPr>
          <p:cNvPr id="9" name="Shape 6"/>
          <p:cNvSpPr/>
          <p:nvPr/>
        </p:nvSpPr>
        <p:spPr>
          <a:xfrm>
            <a:off x="1104624" y="185544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71407" y="57136"/>
                </a:moveTo>
                <a:moveTo>
                  <a:pt x="57136" y="171407"/>
                </a:moveTo>
                <a:moveTo>
                  <a:pt x="57136" y="57136"/>
                </a:moveTo>
                <a:moveTo>
                  <a:pt x="171407" y="171407"/>
                </a:moveTo>
              </a:path>
            </a:pathLst>
          </a:cu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37890" y="1746855"/>
            <a:ext cx="611828" cy="10858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Problem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37890" y="1905923"/>
            <a:ext cx="2973735" cy="2828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Without Interrupts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52262" y="3547021"/>
            <a:ext cx="4445724" cy="4667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CPU </a:t>
            </a: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idles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—wasting millions of cycles—while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waiting for slow devices like printers or disks to finish</a:t>
            </a: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6838" y="1360140"/>
            <a:ext cx="5332667" cy="38214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89652" y="2426940"/>
            <a:ext cx="4647038" cy="1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9652" y="1703040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6" name="Shape 12"/>
          <p:cNvSpPr/>
          <p:nvPr/>
        </p:nvSpPr>
        <p:spPr>
          <a:xfrm>
            <a:off x="6742014" y="185544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90452" y="57136"/>
                </a:moveTo>
                <a:moveTo>
                  <a:pt x="85704" y="161885"/>
                </a:moveTo>
                <a:lnTo>
                  <a:pt x="38090" y="114271"/>
                </a:lnTo>
              </a:path>
            </a:pathLst>
          </a:cu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275281" y="1746855"/>
            <a:ext cx="641884" cy="10858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Solution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7275281" y="1905923"/>
            <a:ext cx="2418894" cy="2828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With Interrupts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6818195" y="3271867"/>
            <a:ext cx="4306307" cy="43142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CPU </a:t>
            </a: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delegates I/O tasks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and immediately resumes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useful work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818195" y="3930878"/>
            <a:ext cx="4315829" cy="43142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When the device finishes, it 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interrupts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the CPU to signal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completion</a:t>
            </a:r>
            <a:endParaRPr lang="en-US" sz="14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448" y="5410200"/>
            <a:ext cx="10970057" cy="10668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28443" y="5715000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3" name="Shape 18"/>
          <p:cNvSpPr/>
          <p:nvPr/>
        </p:nvSpPr>
        <p:spPr>
          <a:xfrm>
            <a:off x="1142714" y="582930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9045" y="114271"/>
                </a:moveTo>
                <a:cubicBezTo>
                  <a:pt x="19045" y="61715"/>
                  <a:pt x="61715" y="19045"/>
                  <a:pt x="114271" y="19045"/>
                </a:cubicBezTo>
                <a:cubicBezTo>
                  <a:pt x="166828" y="19045"/>
                  <a:pt x="209498" y="61715"/>
                  <a:pt x="209498" y="114271"/>
                </a:cubicBezTo>
                <a:cubicBezTo>
                  <a:pt x="209498" y="166828"/>
                  <a:pt x="166828" y="209498"/>
                  <a:pt x="114271" y="209498"/>
                </a:cubicBezTo>
                <a:cubicBezTo>
                  <a:pt x="61715" y="209498"/>
                  <a:pt x="19045" y="166828"/>
                  <a:pt x="19045" y="114271"/>
                </a:cubicBezTo>
                <a:close/>
                <a:moveTo>
                  <a:pt x="86561" y="85704"/>
                </a:moveTo>
                <a:cubicBezTo>
                  <a:pt x="91183" y="72563"/>
                  <a:pt x="104610" y="64672"/>
                  <a:pt x="118339" y="67027"/>
                </a:cubicBezTo>
                <a:cubicBezTo>
                  <a:pt x="132069" y="69382"/>
                  <a:pt x="142098" y="81296"/>
                  <a:pt x="142077" y="95226"/>
                </a:cubicBezTo>
                <a:cubicBezTo>
                  <a:pt x="142077" y="114271"/>
                  <a:pt x="113510" y="123794"/>
                  <a:pt x="113510" y="123794"/>
                </a:cubicBezTo>
                <a:moveTo>
                  <a:pt x="114271" y="161885"/>
                </a:moveTo>
                <a:lnTo>
                  <a:pt x="114367" y="161885"/>
                </a:lnTo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714071" y="5853112"/>
            <a:ext cx="6898245" cy="2143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would happen if your laptop </a:t>
            </a:r>
            <a:r>
              <a:rPr lang="en-US" sz="18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froze</a:t>
            </a: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every time you saved a file?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6" name="Shape 21"/>
          <p:cNvSpPr/>
          <p:nvPr/>
        </p:nvSpPr>
        <p:spPr>
          <a:xfrm>
            <a:off x="0" y="6819900"/>
            <a:ext cx="2437790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167312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Computer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95325"/>
            <a:ext cx="7454574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Interrupt-Driven I/O Flow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322040"/>
            <a:ext cx="9523" cy="219075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322040"/>
            <a:ext cx="7618095" cy="219075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Let's compare how your CPU handles I/O in two different ways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693515"/>
            <a:ext cx="5332667" cy="35642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171" y="2036415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Shape 7"/>
          <p:cNvSpPr/>
          <p:nvPr/>
        </p:nvSpPr>
        <p:spPr>
          <a:xfrm>
            <a:off x="1104624" y="2226915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333292" y="190452"/>
                </a:moveTo>
                <a:cubicBezTo>
                  <a:pt x="333289" y="252333"/>
                  <a:pt x="293441" y="307175"/>
                  <a:pt x="234588" y="326295"/>
                </a:cubicBezTo>
                <a:cubicBezTo>
                  <a:pt x="175735" y="345415"/>
                  <a:pt x="111264" y="324466"/>
                  <a:pt x="74892" y="274402"/>
                </a:cubicBezTo>
                <a:cubicBezTo>
                  <a:pt x="38520" y="224339"/>
                  <a:pt x="38520" y="156549"/>
                  <a:pt x="74893" y="106487"/>
                </a:cubicBezTo>
                <a:cubicBezTo>
                  <a:pt x="111265" y="56424"/>
                  <a:pt x="175737" y="35475"/>
                  <a:pt x="234590" y="54596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171" y="3039398"/>
            <a:ext cx="3703704" cy="2828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Program-Controlled I/O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14171" y="3560415"/>
            <a:ext cx="3789705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CPU waits idly during slow device operations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14171" y="4543425"/>
            <a:ext cx="4723219" cy="1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171" y="4543425"/>
            <a:ext cx="4723219" cy="371475"/>
          </a:xfrm>
          <a:prstGeom prst="rect">
            <a:avLst/>
          </a:prstGeom>
          <a:noFill/>
        </p:spPr>
        <p:txBody>
          <a:bodyPr wrap="none" lIns="0" tIns="15240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→ Wastes CPU cycles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740130" y="4028033"/>
            <a:ext cx="708691" cy="4953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6" name="Text 13"/>
          <p:cNvSpPr/>
          <p:nvPr/>
        </p:nvSpPr>
        <p:spPr>
          <a:xfrm>
            <a:off x="5740130" y="4028033"/>
            <a:ext cx="708691" cy="495300"/>
          </a:xfrm>
          <a:prstGeom prst="rect">
            <a:avLst/>
          </a:prstGeom>
          <a:noFill/>
        </p:spPr>
        <p:txBody>
          <a:bodyPr wrap="none" lIns="190500" tIns="114300" rIns="190500" bIns="114300" rtlCol="0" anchor="ctr"/>
          <a:lstStyle/>
          <a:p>
            <a:pPr marL="0" indent="0">
              <a:buNone/>
            </a:pPr>
            <a:r>
              <a:rPr lang="en-US" sz="1800" b="1" kern="0" spc="9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VS</a:t>
            </a:r>
            <a:endParaRPr lang="en-US" sz="1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46838" y="1693515"/>
            <a:ext cx="5332667" cy="356428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551562" y="2036415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9" name="Shape 15"/>
          <p:cNvSpPr/>
          <p:nvPr/>
        </p:nvSpPr>
        <p:spPr>
          <a:xfrm>
            <a:off x="6742014" y="2226915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252572" y="63484"/>
                </a:moveTo>
                <a:cubicBezTo>
                  <a:pt x="256270" y="53004"/>
                  <a:pt x="252225" y="41359"/>
                  <a:pt x="242826" y="35428"/>
                </a:cubicBezTo>
                <a:cubicBezTo>
                  <a:pt x="233426" y="29497"/>
                  <a:pt x="221174" y="30859"/>
                  <a:pt x="213307" y="38709"/>
                </a:cubicBezTo>
                <a:lnTo>
                  <a:pt x="70467" y="181549"/>
                </a:lnTo>
                <a:cubicBezTo>
                  <a:pt x="63656" y="188355"/>
                  <a:pt x="61616" y="198595"/>
                  <a:pt x="65299" y="207492"/>
                </a:cubicBezTo>
                <a:cubicBezTo>
                  <a:pt x="68982" y="216390"/>
                  <a:pt x="77661" y="222192"/>
                  <a:pt x="87291" y="222194"/>
                </a:cubicBezTo>
                <a:lnTo>
                  <a:pt x="150807" y="222194"/>
                </a:lnTo>
                <a:cubicBezTo>
                  <a:pt x="153379" y="222198"/>
                  <a:pt x="155790" y="223448"/>
                  <a:pt x="157275" y="225548"/>
                </a:cubicBezTo>
                <a:cubicBezTo>
                  <a:pt x="158761" y="227648"/>
                  <a:pt x="159136" y="230338"/>
                  <a:pt x="158282" y="232765"/>
                </a:cubicBezTo>
                <a:lnTo>
                  <a:pt x="128333" y="317421"/>
                </a:lnTo>
                <a:cubicBezTo>
                  <a:pt x="124633" y="327905"/>
                  <a:pt x="128683" y="339554"/>
                  <a:pt x="138089" y="345483"/>
                </a:cubicBezTo>
                <a:cubicBezTo>
                  <a:pt x="147494" y="351411"/>
                  <a:pt x="159751" y="350040"/>
                  <a:pt x="167614" y="342179"/>
                </a:cubicBezTo>
                <a:lnTo>
                  <a:pt x="310453" y="199340"/>
                </a:lnTo>
                <a:cubicBezTo>
                  <a:pt x="317255" y="192530"/>
                  <a:pt x="319287" y="182294"/>
                  <a:pt x="315602" y="173402"/>
                </a:cubicBezTo>
                <a:cubicBezTo>
                  <a:pt x="311916" y="164510"/>
                  <a:pt x="303239" y="158712"/>
                  <a:pt x="293614" y="158710"/>
                </a:cubicBezTo>
                <a:lnTo>
                  <a:pt x="230178" y="158710"/>
                </a:lnTo>
                <a:cubicBezTo>
                  <a:pt x="227598" y="158714"/>
                  <a:pt x="225178" y="157464"/>
                  <a:pt x="223689" y="155359"/>
                </a:cubicBezTo>
                <a:cubicBezTo>
                  <a:pt x="222199" y="153253"/>
                  <a:pt x="221825" y="150555"/>
                  <a:pt x="222686" y="148124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51562" y="3039398"/>
            <a:ext cx="2983555" cy="2828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Interrupt-Driven I/O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6551562" y="3560415"/>
            <a:ext cx="4170907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CPU continues useful work while device operates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551562" y="4543425"/>
            <a:ext cx="4723219" cy="1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51562" y="4543425"/>
            <a:ext cx="4723219" cy="371475"/>
          </a:xfrm>
          <a:prstGeom prst="rect">
            <a:avLst/>
          </a:prstGeom>
          <a:noFill/>
        </p:spPr>
        <p:txBody>
          <a:bodyPr wrap="none" lIns="0" tIns="15240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→ Resumes when device signals completion</a:t>
            </a:r>
            <a:endParaRPr lang="en-US" sz="14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5486400"/>
            <a:ext cx="10970057" cy="10668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028443" y="5791200"/>
            <a:ext cx="457086" cy="457200"/>
          </a:xfrm>
          <a:custGeom>
            <a:avLst/>
            <a:gdLst/>
            <a:ahLst/>
            <a:cxnLst/>
            <a:rect l="l" t="t" r="r" b="b"/>
            <a:pathLst>
              <a:path w="457086" h="457200">
                <a:moveTo>
                  <a:pt x="38090" y="228543"/>
                </a:moveTo>
                <a:cubicBezTo>
                  <a:pt x="38090" y="123429"/>
                  <a:pt x="123429" y="38090"/>
                  <a:pt x="228543" y="38090"/>
                </a:cubicBezTo>
                <a:cubicBezTo>
                  <a:pt x="333656" y="38090"/>
                  <a:pt x="418995" y="123429"/>
                  <a:pt x="418995" y="228543"/>
                </a:cubicBezTo>
                <a:cubicBezTo>
                  <a:pt x="418995" y="333656"/>
                  <a:pt x="333656" y="418995"/>
                  <a:pt x="228543" y="418995"/>
                </a:cubicBezTo>
                <a:cubicBezTo>
                  <a:pt x="123429" y="418995"/>
                  <a:pt x="38090" y="333656"/>
                  <a:pt x="38090" y="228543"/>
                </a:cubicBezTo>
                <a:close/>
                <a:moveTo>
                  <a:pt x="173121" y="171407"/>
                </a:moveTo>
                <a:cubicBezTo>
                  <a:pt x="182366" y="145126"/>
                  <a:pt x="209219" y="129344"/>
                  <a:pt x="236679" y="134054"/>
                </a:cubicBezTo>
                <a:cubicBezTo>
                  <a:pt x="264138" y="138764"/>
                  <a:pt x="284196" y="162592"/>
                  <a:pt x="284155" y="190452"/>
                </a:cubicBezTo>
                <a:cubicBezTo>
                  <a:pt x="284155" y="228543"/>
                  <a:pt x="227019" y="247588"/>
                  <a:pt x="227019" y="247588"/>
                </a:cubicBezTo>
                <a:moveTo>
                  <a:pt x="228543" y="323769"/>
                </a:moveTo>
                <a:lnTo>
                  <a:pt x="228733" y="323769"/>
                </a:lnTo>
              </a:path>
            </a:pathLst>
          </a:cu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675981" y="5919817"/>
            <a:ext cx="5600937" cy="22574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Which approach keeps your system more efficient?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8" name="Shape 23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167312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Computer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714375"/>
            <a:ext cx="8283637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Enhanced Instruction Cycle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341090"/>
            <a:ext cx="9523" cy="200025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341090"/>
            <a:ext cx="7618095" cy="200025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Now we add an </a:t>
            </a: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interrupt stage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to the basic fetch-execute cycle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63619" y="2084933"/>
            <a:ext cx="3999500" cy="4000500"/>
          </a:xfrm>
          <a:custGeom>
            <a:avLst/>
            <a:gdLst/>
            <a:ahLst/>
            <a:cxnLst/>
            <a:rect l="l" t="t" r="r" b="b"/>
            <a:pathLst>
              <a:path w="3999500" h="4000500">
                <a:moveTo>
                  <a:pt x="1999750" y="1142714"/>
                </a:moveTo>
                <a:lnTo>
                  <a:pt x="1999750" y="571357"/>
                </a:lnTo>
                <a:quadBezTo>
                  <a:pt x="1999750" y="285679"/>
                  <a:pt x="2285429" y="285679"/>
                </a:quadBezTo>
                <a:lnTo>
                  <a:pt x="3618595" y="285679"/>
                </a:lnTo>
                <a:quadBezTo>
                  <a:pt x="3904274" y="285679"/>
                  <a:pt x="3904274" y="571357"/>
                </a:quadBezTo>
                <a:lnTo>
                  <a:pt x="3904274" y="1714071"/>
                </a:lnTo>
                <a:quadBezTo>
                  <a:pt x="3904274" y="1999750"/>
                  <a:pt x="3618595" y="1999750"/>
                </a:quadBezTo>
                <a:lnTo>
                  <a:pt x="3047238" y="1999750"/>
                </a:lnTo>
                <a:moveTo>
                  <a:pt x="3047238" y="1999750"/>
                </a:moveTo>
                <a:lnTo>
                  <a:pt x="3618595" y="1999750"/>
                </a:lnTo>
                <a:quadBezTo>
                  <a:pt x="3904274" y="1999750"/>
                  <a:pt x="3904274" y="2285429"/>
                </a:quadBezTo>
                <a:lnTo>
                  <a:pt x="3904274" y="3428143"/>
                </a:lnTo>
                <a:quadBezTo>
                  <a:pt x="3904274" y="3713821"/>
                  <a:pt x="3618595" y="3713821"/>
                </a:quadBezTo>
                <a:lnTo>
                  <a:pt x="2285429" y="3713821"/>
                </a:lnTo>
                <a:quadBezTo>
                  <a:pt x="1999750" y="3713821"/>
                  <a:pt x="1999750" y="3428143"/>
                </a:quadBezTo>
                <a:lnTo>
                  <a:pt x="1999750" y="2856786"/>
                </a:lnTo>
                <a:moveTo>
                  <a:pt x="1999750" y="2856786"/>
                </a:moveTo>
                <a:lnTo>
                  <a:pt x="1999750" y="3428143"/>
                </a:lnTo>
                <a:quadBezTo>
                  <a:pt x="1999750" y="3713821"/>
                  <a:pt x="1714071" y="3713821"/>
                </a:quadBezTo>
                <a:lnTo>
                  <a:pt x="380905" y="3713821"/>
                </a:lnTo>
                <a:quadBezTo>
                  <a:pt x="95226" y="3713821"/>
                  <a:pt x="95226" y="3428143"/>
                </a:quadBezTo>
                <a:lnTo>
                  <a:pt x="95226" y="2285429"/>
                </a:lnTo>
                <a:quadBezTo>
                  <a:pt x="95226" y="1999750"/>
                  <a:pt x="380905" y="1999750"/>
                </a:quadBezTo>
                <a:lnTo>
                  <a:pt x="952262" y="1999750"/>
                </a:lnTo>
                <a:moveTo>
                  <a:pt x="952262" y="1999750"/>
                </a:moveTo>
                <a:lnTo>
                  <a:pt x="380905" y="1999750"/>
                </a:lnTo>
                <a:quadBezTo>
                  <a:pt x="95226" y="1999750"/>
                  <a:pt x="95226" y="1714071"/>
                </a:quadBezTo>
                <a:lnTo>
                  <a:pt x="95226" y="571357"/>
                </a:lnTo>
                <a:quadBezTo>
                  <a:pt x="95226" y="285679"/>
                  <a:pt x="380905" y="285679"/>
                </a:quadBezTo>
                <a:lnTo>
                  <a:pt x="1714071" y="285679"/>
                </a:lnTo>
                <a:quadBezTo>
                  <a:pt x="1999750" y="285679"/>
                  <a:pt x="1999750" y="571357"/>
                </a:quadBezTo>
                <a:lnTo>
                  <a:pt x="1999750" y="1142714"/>
                </a:lnTo>
              </a:path>
            </a:pathLst>
          </a:cu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63619" y="2084933"/>
            <a:ext cx="3999500" cy="4000500"/>
          </a:xfrm>
          <a:custGeom>
            <a:avLst/>
            <a:gdLst/>
            <a:ahLst/>
            <a:cxnLst/>
            <a:rect l="l" t="t" r="r" b="b"/>
            <a:pathLst>
              <a:path w="3999500" h="4000500">
                <a:moveTo>
                  <a:pt x="1923569" y="1142714"/>
                </a:moveTo>
                <a:cubicBezTo>
                  <a:pt x="1923569" y="1100669"/>
                  <a:pt x="1957705" y="1066533"/>
                  <a:pt x="1999750" y="1066533"/>
                </a:cubicBezTo>
                <a:cubicBezTo>
                  <a:pt x="2041795" y="1066533"/>
                  <a:pt x="2075931" y="1100669"/>
                  <a:pt x="2075931" y="1142714"/>
                </a:cubicBezTo>
                <a:cubicBezTo>
                  <a:pt x="2075931" y="1184760"/>
                  <a:pt x="2041795" y="1218895"/>
                  <a:pt x="1999750" y="1218895"/>
                </a:cubicBezTo>
                <a:cubicBezTo>
                  <a:pt x="1957705" y="1218895"/>
                  <a:pt x="1923569" y="1184760"/>
                  <a:pt x="1923569" y="1142714"/>
                </a:cubicBezTo>
                <a:close/>
                <a:moveTo>
                  <a:pt x="2971057" y="1999750"/>
                </a:moveTo>
                <a:cubicBezTo>
                  <a:pt x="2971057" y="1957705"/>
                  <a:pt x="3005193" y="1923569"/>
                  <a:pt x="3047238" y="1923569"/>
                </a:cubicBezTo>
                <a:cubicBezTo>
                  <a:pt x="3089283" y="1923569"/>
                  <a:pt x="3123419" y="1957705"/>
                  <a:pt x="3123419" y="1999750"/>
                </a:cubicBezTo>
                <a:cubicBezTo>
                  <a:pt x="3123419" y="2041795"/>
                  <a:pt x="3089283" y="2075931"/>
                  <a:pt x="3047238" y="2075931"/>
                </a:cubicBezTo>
                <a:cubicBezTo>
                  <a:pt x="3005193" y="2075931"/>
                  <a:pt x="2971057" y="2041795"/>
                  <a:pt x="2971057" y="1999750"/>
                </a:cubicBezTo>
                <a:close/>
                <a:moveTo>
                  <a:pt x="1923569" y="2856786"/>
                </a:moveTo>
                <a:cubicBezTo>
                  <a:pt x="1923569" y="2814740"/>
                  <a:pt x="1957705" y="2780605"/>
                  <a:pt x="1999750" y="2780605"/>
                </a:cubicBezTo>
                <a:cubicBezTo>
                  <a:pt x="2041795" y="2780605"/>
                  <a:pt x="2075931" y="2814740"/>
                  <a:pt x="2075931" y="2856786"/>
                </a:cubicBezTo>
                <a:cubicBezTo>
                  <a:pt x="2075931" y="2898831"/>
                  <a:pt x="2041795" y="2932967"/>
                  <a:pt x="1999750" y="2932967"/>
                </a:cubicBezTo>
                <a:cubicBezTo>
                  <a:pt x="1957705" y="2932967"/>
                  <a:pt x="1923569" y="2898831"/>
                  <a:pt x="1923569" y="2856786"/>
                </a:cubicBezTo>
                <a:close/>
                <a:moveTo>
                  <a:pt x="876081" y="1999750"/>
                </a:moveTo>
                <a:cubicBezTo>
                  <a:pt x="876081" y="1957705"/>
                  <a:pt x="910216" y="1923569"/>
                  <a:pt x="952262" y="1923569"/>
                </a:cubicBezTo>
                <a:cubicBezTo>
                  <a:pt x="994307" y="1923569"/>
                  <a:pt x="1028443" y="1957705"/>
                  <a:pt x="1028443" y="1999750"/>
                </a:cubicBezTo>
                <a:cubicBezTo>
                  <a:pt x="1028443" y="2041795"/>
                  <a:pt x="994307" y="2075931"/>
                  <a:pt x="952262" y="2075931"/>
                </a:cubicBezTo>
                <a:cubicBezTo>
                  <a:pt x="910216" y="2075931"/>
                  <a:pt x="876081" y="2041795"/>
                  <a:pt x="876081" y="1999750"/>
                </a:cubicBezTo>
                <a:close/>
              </a:path>
            </a:pathLst>
          </a:custGeom>
          <a:solidFill>
            <a:srgbClr val="000000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92012" y="2084933"/>
            <a:ext cx="1142714" cy="1143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11007" y="2380208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52362" y="190452"/>
                </a:moveTo>
                <a:lnTo>
                  <a:pt x="152362" y="38090"/>
                </a:lnTo>
                <a:moveTo>
                  <a:pt x="266633" y="190452"/>
                </a:moveTo>
                <a:lnTo>
                  <a:pt x="266633" y="241240"/>
                </a:lnTo>
                <a:cubicBezTo>
                  <a:pt x="266633" y="255255"/>
                  <a:pt x="255255" y="266633"/>
                  <a:pt x="241240" y="266633"/>
                </a:cubicBezTo>
                <a:lnTo>
                  <a:pt x="63484" y="266633"/>
                </a:lnTo>
                <a:cubicBezTo>
                  <a:pt x="49469" y="266633"/>
                  <a:pt x="38090" y="255255"/>
                  <a:pt x="38090" y="241240"/>
                </a:cubicBezTo>
                <a:lnTo>
                  <a:pt x="38090" y="190452"/>
                </a:lnTo>
                <a:moveTo>
                  <a:pt x="88878" y="126968"/>
                </a:moveTo>
                <a:moveTo>
                  <a:pt x="152362" y="190452"/>
                </a:moveTo>
                <a:moveTo>
                  <a:pt x="215846" y="126968"/>
                </a:moveTo>
              </a:path>
            </a:pathLst>
          </a:cu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90337" y="2771686"/>
            <a:ext cx="545914" cy="151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Fetch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20404" y="3513683"/>
            <a:ext cx="1142714" cy="1143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39400" y="3808958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266633" y="266633"/>
                </a:moveTo>
                <a:moveTo>
                  <a:pt x="211529" y="211529"/>
                </a:moveTo>
                <a:moveTo>
                  <a:pt x="38090" y="139665"/>
                </a:moveTo>
                <a:cubicBezTo>
                  <a:pt x="38090" y="83605"/>
                  <a:pt x="83605" y="38090"/>
                  <a:pt x="139665" y="38090"/>
                </a:cubicBezTo>
                <a:cubicBezTo>
                  <a:pt x="195726" y="38090"/>
                  <a:pt x="241240" y="83605"/>
                  <a:pt x="241240" y="139665"/>
                </a:cubicBezTo>
                <a:cubicBezTo>
                  <a:pt x="241240" y="195726"/>
                  <a:pt x="195726" y="241240"/>
                  <a:pt x="139665" y="241240"/>
                </a:cubicBezTo>
                <a:cubicBezTo>
                  <a:pt x="83605" y="241240"/>
                  <a:pt x="38090" y="195726"/>
                  <a:pt x="38090" y="139665"/>
                </a:cubicBezTo>
                <a:close/>
              </a:path>
            </a:pathLst>
          </a:cu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42847" y="4200436"/>
            <a:ext cx="697681" cy="151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Decode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92012" y="4942433"/>
            <a:ext cx="1142714" cy="11430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611007" y="5237708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63484" y="63484"/>
                </a:moveTo>
                <a:cubicBezTo>
                  <a:pt x="63481" y="54390"/>
                  <a:pt x="68343" y="45988"/>
                  <a:pt x="76229" y="41458"/>
                </a:cubicBezTo>
                <a:cubicBezTo>
                  <a:pt x="84115" y="36927"/>
                  <a:pt x="93821" y="36960"/>
                  <a:pt x="101676" y="41544"/>
                </a:cubicBezTo>
                <a:lnTo>
                  <a:pt x="254000" y="130396"/>
                </a:lnTo>
                <a:cubicBezTo>
                  <a:pt x="261823" y="134936"/>
                  <a:pt x="266641" y="143294"/>
                  <a:pt x="266649" y="152338"/>
                </a:cubicBezTo>
                <a:cubicBezTo>
                  <a:pt x="266657" y="161383"/>
                  <a:pt x="261853" y="169749"/>
                  <a:pt x="254038" y="174302"/>
                </a:cubicBezTo>
                <a:lnTo>
                  <a:pt x="101676" y="263180"/>
                </a:lnTo>
                <a:cubicBezTo>
                  <a:pt x="93821" y="267763"/>
                  <a:pt x="84115" y="267796"/>
                  <a:pt x="76229" y="263266"/>
                </a:cubicBezTo>
                <a:cubicBezTo>
                  <a:pt x="68343" y="258736"/>
                  <a:pt x="63481" y="250334"/>
                  <a:pt x="63484" y="241240"/>
                </a:cubicBezTo>
                <a:close/>
              </a:path>
            </a:pathLst>
          </a:cu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376810" y="5629186"/>
            <a:ext cx="772969" cy="151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Execute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63619" y="3513683"/>
            <a:ext cx="1142714" cy="11430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182614" y="3808958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30371" y="266633"/>
                </a:moveTo>
                <a:cubicBezTo>
                  <a:pt x="134907" y="274490"/>
                  <a:pt x="143290" y="279329"/>
                  <a:pt x="152362" y="279329"/>
                </a:cubicBezTo>
                <a:cubicBezTo>
                  <a:pt x="161434" y="279329"/>
                  <a:pt x="169816" y="274490"/>
                  <a:pt x="174353" y="266633"/>
                </a:cubicBezTo>
                <a:moveTo>
                  <a:pt x="41417" y="194592"/>
                </a:moveTo>
                <a:cubicBezTo>
                  <a:pt x="38028" y="198306"/>
                  <a:pt x="37150" y="203670"/>
                  <a:pt x="39179" y="208271"/>
                </a:cubicBezTo>
                <a:cubicBezTo>
                  <a:pt x="41207" y="212872"/>
                  <a:pt x="45759" y="215842"/>
                  <a:pt x="50787" y="215846"/>
                </a:cubicBezTo>
                <a:lnTo>
                  <a:pt x="253936" y="215846"/>
                </a:lnTo>
                <a:cubicBezTo>
                  <a:pt x="258964" y="215848"/>
                  <a:pt x="263519" y="212883"/>
                  <a:pt x="265553" y="208285"/>
                </a:cubicBezTo>
                <a:cubicBezTo>
                  <a:pt x="267586" y="203687"/>
                  <a:pt x="266716" y="198323"/>
                  <a:pt x="263332" y="194604"/>
                </a:cubicBezTo>
                <a:cubicBezTo>
                  <a:pt x="246445" y="177197"/>
                  <a:pt x="228543" y="158698"/>
                  <a:pt x="228543" y="101575"/>
                </a:cubicBezTo>
                <a:cubicBezTo>
                  <a:pt x="228543" y="59529"/>
                  <a:pt x="194407" y="25394"/>
                  <a:pt x="152362" y="25394"/>
                </a:cubicBezTo>
                <a:cubicBezTo>
                  <a:pt x="110316" y="25394"/>
                  <a:pt x="76181" y="59529"/>
                  <a:pt x="76181" y="101575"/>
                </a:cubicBezTo>
                <a:cubicBezTo>
                  <a:pt x="76181" y="158698"/>
                  <a:pt x="58266" y="177197"/>
                  <a:pt x="41417" y="194592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864648" y="4200436"/>
            <a:ext cx="940507" cy="151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Interrupt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3547771" y="4003268"/>
            <a:ext cx="431196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Loop</a:t>
            </a:r>
            <a:endParaRPr lang="en-US" sz="11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74375" y="1446907"/>
            <a:ext cx="4205129" cy="176212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698145" y="1770757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9045" y="114271"/>
                </a:moveTo>
                <a:cubicBezTo>
                  <a:pt x="19045" y="61715"/>
                  <a:pt x="61715" y="19045"/>
                  <a:pt x="114271" y="19045"/>
                </a:cubicBezTo>
                <a:cubicBezTo>
                  <a:pt x="166828" y="19045"/>
                  <a:pt x="209498" y="61715"/>
                  <a:pt x="209498" y="114271"/>
                </a:cubicBezTo>
                <a:cubicBezTo>
                  <a:pt x="209498" y="166828"/>
                  <a:pt x="166828" y="209498"/>
                  <a:pt x="114271" y="209498"/>
                </a:cubicBezTo>
                <a:cubicBezTo>
                  <a:pt x="61715" y="209498"/>
                  <a:pt x="19045" y="166828"/>
                  <a:pt x="19045" y="114271"/>
                </a:cubicBezTo>
                <a:close/>
                <a:moveTo>
                  <a:pt x="76181" y="114271"/>
                </a:moveTo>
                <a:lnTo>
                  <a:pt x="152362" y="114271"/>
                </a:lnTo>
                <a:moveTo>
                  <a:pt x="114271" y="76181"/>
                </a:moveTo>
                <a:lnTo>
                  <a:pt x="114271" y="152362"/>
                </a:lnTo>
              </a:path>
            </a:pathLst>
          </a:cu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098095" y="1792665"/>
            <a:ext cx="1189732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kern="0" spc="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What's New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641009" y="2232720"/>
            <a:ext cx="3668440" cy="6715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After each 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execute phase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, the processor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checks for pending interrupts before fetching the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next instruction</a:t>
            </a:r>
            <a:endParaRPr lang="en-US" sz="14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74375" y="3437632"/>
            <a:ext cx="4205129" cy="1762125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698145" y="3761482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51543" y="38090"/>
                </a:moveTo>
                <a:cubicBezTo>
                  <a:pt x="153762" y="31802"/>
                  <a:pt x="151335" y="24815"/>
                  <a:pt x="145695" y="21257"/>
                </a:cubicBezTo>
                <a:cubicBezTo>
                  <a:pt x="140056" y="17698"/>
                  <a:pt x="132704" y="18516"/>
                  <a:pt x="127984" y="23226"/>
                </a:cubicBezTo>
                <a:lnTo>
                  <a:pt x="42280" y="108929"/>
                </a:lnTo>
                <a:cubicBezTo>
                  <a:pt x="38194" y="113013"/>
                  <a:pt x="36970" y="119157"/>
                  <a:pt x="39179" y="124495"/>
                </a:cubicBezTo>
                <a:cubicBezTo>
                  <a:pt x="41389" y="129834"/>
                  <a:pt x="46597" y="133315"/>
                  <a:pt x="52374" y="133317"/>
                </a:cubicBezTo>
                <a:lnTo>
                  <a:pt x="90484" y="133317"/>
                </a:lnTo>
                <a:cubicBezTo>
                  <a:pt x="92027" y="133319"/>
                  <a:pt x="93474" y="134069"/>
                  <a:pt x="94365" y="135329"/>
                </a:cubicBezTo>
                <a:cubicBezTo>
                  <a:pt x="95256" y="136589"/>
                  <a:pt x="95481" y="138203"/>
                  <a:pt x="94969" y="139659"/>
                </a:cubicBezTo>
                <a:lnTo>
                  <a:pt x="77000" y="190452"/>
                </a:lnTo>
                <a:cubicBezTo>
                  <a:pt x="74780" y="196743"/>
                  <a:pt x="77210" y="203733"/>
                  <a:pt x="82853" y="207290"/>
                </a:cubicBezTo>
                <a:cubicBezTo>
                  <a:pt x="88497" y="210847"/>
                  <a:pt x="95851" y="210024"/>
                  <a:pt x="100568" y="205308"/>
                </a:cubicBezTo>
                <a:lnTo>
                  <a:pt x="186272" y="119604"/>
                </a:lnTo>
                <a:cubicBezTo>
                  <a:pt x="190353" y="115518"/>
                  <a:pt x="191572" y="109376"/>
                  <a:pt x="189361" y="104041"/>
                </a:cubicBezTo>
                <a:cubicBezTo>
                  <a:pt x="187150" y="98706"/>
                  <a:pt x="181944" y="95227"/>
                  <a:pt x="176168" y="95226"/>
                </a:cubicBezTo>
                <a:lnTo>
                  <a:pt x="138107" y="95226"/>
                </a:lnTo>
                <a:cubicBezTo>
                  <a:pt x="136559" y="95228"/>
                  <a:pt x="135107" y="94478"/>
                  <a:pt x="134213" y="93215"/>
                </a:cubicBezTo>
                <a:cubicBezTo>
                  <a:pt x="133319" y="91952"/>
                  <a:pt x="133095" y="90333"/>
                  <a:pt x="133612" y="88875"/>
                </a:cubicBezTo>
                <a:close/>
              </a:path>
            </a:pathLst>
          </a:cu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8098095" y="3783390"/>
            <a:ext cx="158016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kern="0" spc="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Why It Matters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7641009" y="4223445"/>
            <a:ext cx="3534826" cy="6715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This simple addition lets your computer handle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urgent events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(keyboard presses, disk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completion) without wasting cycles waiting</a:t>
            </a:r>
            <a:endParaRPr lang="en-US" sz="14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74375" y="5428357"/>
            <a:ext cx="4205129" cy="12954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641009" y="5696962"/>
            <a:ext cx="115625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Think About It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7641009" y="6004620"/>
            <a:ext cx="3477839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Why do you think the interrupt check happens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after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execute but </a:t>
            </a:r>
            <a:r>
              <a:rPr lang="en-US" sz="1400" i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before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the next fetch?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5" name="Shape 26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97205"/>
            <a:ext cx="3167312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Computer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809625"/>
            <a:ext cx="5134179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Types of Interrupts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474440"/>
            <a:ext cx="9523" cy="219075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474440"/>
            <a:ext cx="7618095" cy="219075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Four fundamental interrupt types that CPU handles during execution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884015"/>
            <a:ext cx="5370757" cy="218211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171" y="2226915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Shape 7"/>
          <p:cNvSpPr/>
          <p:nvPr/>
        </p:nvSpPr>
        <p:spPr>
          <a:xfrm>
            <a:off x="1104624" y="2417415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285679" y="253937"/>
                </a:moveTo>
                <a:moveTo>
                  <a:pt x="349163" y="190452"/>
                </a:moveTo>
                <a:moveTo>
                  <a:pt x="285679" y="126968"/>
                </a:moveTo>
                <a:moveTo>
                  <a:pt x="95226" y="126968"/>
                </a:moveTo>
                <a:moveTo>
                  <a:pt x="31742" y="190452"/>
                </a:moveTo>
                <a:moveTo>
                  <a:pt x="95226" y="253937"/>
                </a:moveTo>
                <a:moveTo>
                  <a:pt x="230130" y="63484"/>
                </a:moveTo>
                <a:moveTo>
                  <a:pt x="150775" y="317421"/>
                </a:move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04524" y="2232630"/>
            <a:ext cx="1275733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Program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904524" y="2698403"/>
            <a:ext cx="3461769" cy="6715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Triggered by your code—like division by zero,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illegal instructions, or accessing memory you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shouldn't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08747" y="1884015"/>
            <a:ext cx="5370757" cy="218211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13471" y="2226915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5" name="Shape 11"/>
          <p:cNvSpPr/>
          <p:nvPr/>
        </p:nvSpPr>
        <p:spPr>
          <a:xfrm>
            <a:off x="6703924" y="2417415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31742" y="190452"/>
                </a:moveTo>
                <a:cubicBezTo>
                  <a:pt x="31742" y="102858"/>
                  <a:pt x="102858" y="31742"/>
                  <a:pt x="190452" y="31742"/>
                </a:cubicBezTo>
                <a:cubicBezTo>
                  <a:pt x="278047" y="31742"/>
                  <a:pt x="349163" y="102858"/>
                  <a:pt x="349163" y="190452"/>
                </a:cubicBezTo>
                <a:cubicBezTo>
                  <a:pt x="349163" y="278047"/>
                  <a:pt x="278047" y="349163"/>
                  <a:pt x="190452" y="349163"/>
                </a:cubicBezTo>
                <a:cubicBezTo>
                  <a:pt x="102858" y="349163"/>
                  <a:pt x="31742" y="278047"/>
                  <a:pt x="31742" y="190452"/>
                </a:cubicBezTo>
                <a:close/>
                <a:moveTo>
                  <a:pt x="190452" y="95226"/>
                </a:moveTo>
                <a:lnTo>
                  <a:pt x="190452" y="190452"/>
                </a:lnTo>
                <a:lnTo>
                  <a:pt x="253937" y="222194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03824" y="2232630"/>
            <a:ext cx="757941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Timer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503824" y="2698403"/>
            <a:ext cx="3576934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Sent by the CPU's internal clock so the OS can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run tasks regularly (e.g., scheduling)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4294733"/>
            <a:ext cx="5370757" cy="2182267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4171" y="4637633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0" name="Shape 15"/>
          <p:cNvSpPr/>
          <p:nvPr/>
        </p:nvSpPr>
        <p:spPr>
          <a:xfrm>
            <a:off x="1104624" y="4828133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158710" y="253937"/>
                </a:moveTo>
                <a:lnTo>
                  <a:pt x="158869" y="253937"/>
                </a:lnTo>
                <a:moveTo>
                  <a:pt x="35107" y="183739"/>
                </a:moveTo>
                <a:cubicBezTo>
                  <a:pt x="32894" y="188153"/>
                  <a:pt x="31742" y="193022"/>
                  <a:pt x="31742" y="197959"/>
                </a:cubicBezTo>
                <a:lnTo>
                  <a:pt x="31742" y="285679"/>
                </a:lnTo>
                <a:cubicBezTo>
                  <a:pt x="31742" y="303197"/>
                  <a:pt x="45965" y="317421"/>
                  <a:pt x="63484" y="317421"/>
                </a:cubicBezTo>
                <a:lnTo>
                  <a:pt x="317421" y="317421"/>
                </a:lnTo>
                <a:cubicBezTo>
                  <a:pt x="334940" y="317421"/>
                  <a:pt x="349163" y="303197"/>
                  <a:pt x="349163" y="285679"/>
                </a:cubicBezTo>
                <a:lnTo>
                  <a:pt x="349163" y="197959"/>
                </a:lnTo>
                <a:cubicBezTo>
                  <a:pt x="349162" y="193022"/>
                  <a:pt x="348010" y="188153"/>
                  <a:pt x="345798" y="183739"/>
                </a:cubicBezTo>
                <a:lnTo>
                  <a:pt x="294408" y="81101"/>
                </a:lnTo>
                <a:cubicBezTo>
                  <a:pt x="289048" y="70314"/>
                  <a:pt x="278044" y="63491"/>
                  <a:pt x="265998" y="63484"/>
                </a:cubicBezTo>
                <a:lnTo>
                  <a:pt x="114906" y="63484"/>
                </a:lnTo>
                <a:cubicBezTo>
                  <a:pt x="102861" y="63491"/>
                  <a:pt x="91857" y="70314"/>
                  <a:pt x="86497" y="81101"/>
                </a:cubicBezTo>
                <a:close/>
                <a:moveTo>
                  <a:pt x="348306" y="190659"/>
                </a:moveTo>
                <a:lnTo>
                  <a:pt x="32599" y="190659"/>
                </a:lnTo>
                <a:moveTo>
                  <a:pt x="95226" y="253937"/>
                </a:moveTo>
                <a:lnTo>
                  <a:pt x="95385" y="253937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904524" y="4643348"/>
            <a:ext cx="322876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I/O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904524" y="5109121"/>
            <a:ext cx="3466084" cy="6715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Raised by devices to say "I'm done!" 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"Something went wrong!" after reading/writing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data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08747" y="4294733"/>
            <a:ext cx="5370757" cy="2182267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513471" y="4637633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5" name="Shape 19"/>
          <p:cNvSpPr/>
          <p:nvPr/>
        </p:nvSpPr>
        <p:spPr>
          <a:xfrm>
            <a:off x="6703924" y="4828133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344878" y="285679"/>
                </a:moveTo>
                <a:moveTo>
                  <a:pt x="217909" y="63484"/>
                </a:moveTo>
                <a:cubicBezTo>
                  <a:pt x="212273" y="53539"/>
                  <a:pt x="201725" y="47393"/>
                  <a:pt x="190294" y="47393"/>
                </a:cubicBezTo>
                <a:cubicBezTo>
                  <a:pt x="178862" y="47393"/>
                  <a:pt x="168314" y="53539"/>
                  <a:pt x="162678" y="63484"/>
                </a:cubicBezTo>
                <a:lnTo>
                  <a:pt x="35710" y="285679"/>
                </a:lnTo>
                <a:cubicBezTo>
                  <a:pt x="30014" y="295544"/>
                  <a:pt x="30040" y="307705"/>
                  <a:pt x="35780" y="317545"/>
                </a:cubicBezTo>
                <a:cubicBezTo>
                  <a:pt x="41520" y="327385"/>
                  <a:pt x="52093" y="333394"/>
                  <a:pt x="63484" y="333292"/>
                </a:cubicBezTo>
                <a:lnTo>
                  <a:pt x="317421" y="333292"/>
                </a:lnTo>
                <a:cubicBezTo>
                  <a:pt x="328755" y="333280"/>
                  <a:pt x="339223" y="327225"/>
                  <a:pt x="344886" y="317407"/>
                </a:cubicBezTo>
                <a:cubicBezTo>
                  <a:pt x="350548" y="307588"/>
                  <a:pt x="350545" y="295495"/>
                  <a:pt x="344878" y="285679"/>
                </a:cubicBezTo>
                <a:moveTo>
                  <a:pt x="190452" y="142839"/>
                </a:moveTo>
                <a:lnTo>
                  <a:pt x="190452" y="206323"/>
                </a:lnTo>
                <a:moveTo>
                  <a:pt x="190452" y="269808"/>
                </a:moveTo>
                <a:lnTo>
                  <a:pt x="190611" y="269808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503824" y="4643348"/>
            <a:ext cx="2546408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Hardware Failure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7503824" y="5109121"/>
            <a:ext cx="3325179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Caused by serious issues like power loss 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 errors—rare but critical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0904589" y="5057775"/>
            <a:ext cx="674916" cy="14954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0" b="1" kern="0" spc="-520" dirty="0">
                <a:solidFill>
                  <a:srgbClr val="F2F2F2">
                    <a:alpha val="7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4</a:t>
            </a:r>
            <a:endParaRPr lang="en-US" sz="10500" dirty="0"/>
          </a:p>
        </p:txBody>
      </p:sp>
      <p:sp>
        <p:nvSpPr>
          <p:cNvPr id="29" name="Shape 23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0" name="Shape 24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97205"/>
            <a:ext cx="3167312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Computer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809625"/>
            <a:ext cx="8213854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900" b="1" kern="0" spc="-8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Handling Multiple Interrupts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609448" y="1478161"/>
            <a:ext cx="9523" cy="438150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478161"/>
            <a:ext cx="7618095" cy="438150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When multiple interrupts occur simultaneously, systems must decide how to manage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them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2068711"/>
            <a:ext cx="5332667" cy="33563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171" y="2411611"/>
            <a:ext cx="685629" cy="6858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Shape 7"/>
          <p:cNvSpPr/>
          <p:nvPr/>
        </p:nvSpPr>
        <p:spPr>
          <a:xfrm>
            <a:off x="1085579" y="2583061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28568" y="28568"/>
                </a:moveTo>
                <a:moveTo>
                  <a:pt x="314246" y="314246"/>
                </a:moveTo>
                <a:moveTo>
                  <a:pt x="71420" y="71420"/>
                </a:moveTo>
                <a:cubicBezTo>
                  <a:pt x="63536" y="71420"/>
                  <a:pt x="57136" y="77820"/>
                  <a:pt x="57136" y="85704"/>
                </a:cubicBezTo>
                <a:lnTo>
                  <a:pt x="57136" y="185691"/>
                </a:lnTo>
                <a:cubicBezTo>
                  <a:pt x="57136" y="257111"/>
                  <a:pt x="107129" y="292821"/>
                  <a:pt x="166693" y="313389"/>
                </a:cubicBezTo>
                <a:cubicBezTo>
                  <a:pt x="169772" y="314536"/>
                  <a:pt x="173152" y="314587"/>
                  <a:pt x="176264" y="313532"/>
                </a:cubicBezTo>
                <a:cubicBezTo>
                  <a:pt x="209831" y="301819"/>
                  <a:pt x="240256" y="285393"/>
                  <a:pt x="260539" y="260539"/>
                </a:cubicBezTo>
                <a:moveTo>
                  <a:pt x="132969" y="52165"/>
                </a:moveTo>
                <a:cubicBezTo>
                  <a:pt x="142775" y="46539"/>
                  <a:pt x="152012" y="39975"/>
                  <a:pt x="160551" y="32567"/>
                </a:cubicBezTo>
                <a:cubicBezTo>
                  <a:pt x="166803" y="27226"/>
                  <a:pt x="176011" y="27226"/>
                  <a:pt x="182263" y="32567"/>
                </a:cubicBezTo>
                <a:cubicBezTo>
                  <a:pt x="207260" y="54422"/>
                  <a:pt x="242827" y="71420"/>
                  <a:pt x="271395" y="71420"/>
                </a:cubicBezTo>
                <a:cubicBezTo>
                  <a:pt x="279278" y="71420"/>
                  <a:pt x="285679" y="77820"/>
                  <a:pt x="285679" y="85704"/>
                </a:cubicBezTo>
                <a:lnTo>
                  <a:pt x="285679" y="185691"/>
                </a:lnTo>
                <a:cubicBezTo>
                  <a:pt x="285688" y="191728"/>
                  <a:pt x="285306" y="197759"/>
                  <a:pt x="284536" y="203746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171" y="3300293"/>
            <a:ext cx="2900084" cy="2828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Disable Interrupts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14171" y="3821311"/>
            <a:ext cx="4393349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Temporarily ignore new interrupts while handling the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current one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14171" y="4526161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190452" h="190500">
                <a:moveTo>
                  <a:pt x="55549" y="55549"/>
                </a:moveTo>
                <a:moveTo>
                  <a:pt x="134904" y="134904"/>
                </a:moveTo>
                <a:moveTo>
                  <a:pt x="134904" y="55549"/>
                </a:moveTo>
                <a:lnTo>
                  <a:pt x="134904" y="134904"/>
                </a:lnTo>
                <a:lnTo>
                  <a:pt x="55549" y="134904"/>
                </a:lnTo>
              </a:path>
            </a:pathLst>
          </a:custGeom>
          <a:noFill/>
          <a:ln w="23813">
            <a:solidFill>
              <a:srgbClr val="FF3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18895" y="4550926"/>
            <a:ext cx="1734009" cy="1657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Simple implementation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14171" y="4861322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190452" h="190500">
                <a:moveTo>
                  <a:pt x="55549" y="55549"/>
                </a:moveTo>
                <a:moveTo>
                  <a:pt x="134904" y="134904"/>
                </a:moveTo>
                <a:moveTo>
                  <a:pt x="134904" y="55549"/>
                </a:moveTo>
                <a:lnTo>
                  <a:pt x="134904" y="134904"/>
                </a:lnTo>
                <a:lnTo>
                  <a:pt x="55549" y="134904"/>
                </a:lnTo>
              </a:path>
            </a:pathLst>
          </a:custGeom>
          <a:noFill/>
          <a:ln w="23813">
            <a:solidFill>
              <a:srgbClr val="FF3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18895" y="4886087"/>
            <a:ext cx="2190649" cy="1657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May miss time-critical events</a:t>
            </a:r>
            <a:endParaRPr lang="en-US" sz="14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46838" y="2068711"/>
            <a:ext cx="5332667" cy="335637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551562" y="2411611"/>
            <a:ext cx="685629" cy="6858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9" name="Shape 15"/>
          <p:cNvSpPr/>
          <p:nvPr/>
        </p:nvSpPr>
        <p:spPr>
          <a:xfrm>
            <a:off x="6722969" y="2583061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157123" y="71420"/>
                </a:moveTo>
                <a:lnTo>
                  <a:pt x="299962" y="71420"/>
                </a:lnTo>
                <a:moveTo>
                  <a:pt x="157123" y="171407"/>
                </a:moveTo>
                <a:lnTo>
                  <a:pt x="299962" y="171407"/>
                </a:lnTo>
                <a:moveTo>
                  <a:pt x="157123" y="271395"/>
                </a:moveTo>
                <a:lnTo>
                  <a:pt x="299962" y="271395"/>
                </a:lnTo>
                <a:moveTo>
                  <a:pt x="57136" y="57136"/>
                </a:moveTo>
                <a:lnTo>
                  <a:pt x="71420" y="57136"/>
                </a:lnTo>
                <a:lnTo>
                  <a:pt x="71420" y="128555"/>
                </a:lnTo>
                <a:moveTo>
                  <a:pt x="57136" y="128555"/>
                </a:moveTo>
                <a:lnTo>
                  <a:pt x="85704" y="128555"/>
                </a:lnTo>
                <a:moveTo>
                  <a:pt x="92846" y="285679"/>
                </a:moveTo>
                <a:lnTo>
                  <a:pt x="48565" y="285679"/>
                </a:lnTo>
                <a:cubicBezTo>
                  <a:pt x="48565" y="271395"/>
                  <a:pt x="85704" y="258182"/>
                  <a:pt x="85704" y="235685"/>
                </a:cubicBezTo>
                <a:cubicBezTo>
                  <a:pt x="85705" y="226871"/>
                  <a:pt x="80308" y="218955"/>
                  <a:pt x="72103" y="215736"/>
                </a:cubicBezTo>
                <a:cubicBezTo>
                  <a:pt x="63897" y="212517"/>
                  <a:pt x="54558" y="214651"/>
                  <a:pt x="48565" y="221115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51562" y="3300293"/>
            <a:ext cx="2811107" cy="2828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Interrupt Priority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6551562" y="3821311"/>
            <a:ext cx="4625463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Allow higher-priority interrupts to preempt lower-priority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handlers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551562" y="4526161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190452" h="190500">
                <a:moveTo>
                  <a:pt x="55549" y="55549"/>
                </a:moveTo>
                <a:lnTo>
                  <a:pt x="134904" y="55549"/>
                </a:lnTo>
                <a:lnTo>
                  <a:pt x="134904" y="134904"/>
                </a:lnTo>
                <a:moveTo>
                  <a:pt x="55549" y="134904"/>
                </a:moveTo>
                <a:moveTo>
                  <a:pt x="134904" y="55549"/>
                </a:moveTo>
              </a:path>
            </a:pathLst>
          </a:custGeom>
          <a:noFill/>
          <a:ln w="23813">
            <a:solidFill>
              <a:srgbClr val="FF3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56286" y="4550926"/>
            <a:ext cx="2544027" cy="1657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More responsive to urgent events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551562" y="4861322"/>
            <a:ext cx="190452" cy="190500"/>
          </a:xfrm>
          <a:custGeom>
            <a:avLst/>
            <a:gdLst/>
            <a:ahLst/>
            <a:cxnLst/>
            <a:rect l="l" t="t" r="r" b="b"/>
            <a:pathLst>
              <a:path w="190452" h="190500">
                <a:moveTo>
                  <a:pt x="55549" y="55549"/>
                </a:moveTo>
                <a:moveTo>
                  <a:pt x="134904" y="134904"/>
                </a:moveTo>
                <a:moveTo>
                  <a:pt x="134904" y="55549"/>
                </a:moveTo>
                <a:lnTo>
                  <a:pt x="134904" y="134904"/>
                </a:lnTo>
                <a:lnTo>
                  <a:pt x="55549" y="134904"/>
                </a:lnTo>
              </a:path>
            </a:pathLst>
          </a:custGeom>
          <a:noFill/>
          <a:ln w="23813">
            <a:solidFill>
              <a:srgbClr val="FF30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856286" y="4886087"/>
            <a:ext cx="1838461" cy="1657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Adds system complexity</a:t>
            </a:r>
            <a:endParaRPr lang="en-US" sz="14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5653683"/>
            <a:ext cx="10970057" cy="9906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952262" y="5920383"/>
            <a:ext cx="457086" cy="457200"/>
          </a:xfrm>
          <a:custGeom>
            <a:avLst/>
            <a:gdLst/>
            <a:ahLst/>
            <a:cxnLst/>
            <a:rect l="l" t="t" r="r" b="b"/>
            <a:pathLst>
              <a:path w="457086" h="457200">
                <a:moveTo>
                  <a:pt x="38090" y="228543"/>
                </a:moveTo>
                <a:cubicBezTo>
                  <a:pt x="38090" y="123429"/>
                  <a:pt x="123429" y="38090"/>
                  <a:pt x="228543" y="38090"/>
                </a:cubicBezTo>
                <a:cubicBezTo>
                  <a:pt x="333656" y="38090"/>
                  <a:pt x="418995" y="123429"/>
                  <a:pt x="418995" y="228543"/>
                </a:cubicBezTo>
                <a:cubicBezTo>
                  <a:pt x="418995" y="333656"/>
                  <a:pt x="333656" y="418995"/>
                  <a:pt x="228543" y="418995"/>
                </a:cubicBezTo>
                <a:cubicBezTo>
                  <a:pt x="123429" y="418995"/>
                  <a:pt x="38090" y="333656"/>
                  <a:pt x="38090" y="228543"/>
                </a:cubicBezTo>
                <a:close/>
                <a:moveTo>
                  <a:pt x="173121" y="171407"/>
                </a:moveTo>
                <a:cubicBezTo>
                  <a:pt x="182366" y="145126"/>
                  <a:pt x="209219" y="129344"/>
                  <a:pt x="236679" y="134054"/>
                </a:cubicBezTo>
                <a:cubicBezTo>
                  <a:pt x="264138" y="138764"/>
                  <a:pt x="284196" y="162592"/>
                  <a:pt x="284155" y="190452"/>
                </a:cubicBezTo>
                <a:cubicBezTo>
                  <a:pt x="284155" y="228543"/>
                  <a:pt x="227019" y="247588"/>
                  <a:pt x="227019" y="247588"/>
                </a:cubicBezTo>
                <a:moveTo>
                  <a:pt x="228543" y="323769"/>
                </a:moveTo>
                <a:lnTo>
                  <a:pt x="228733" y="323769"/>
                </a:lnTo>
              </a:path>
            </a:pathLst>
          </a:cu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599800" y="6048911"/>
            <a:ext cx="9106004" cy="2105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Which approach would you choose for a </a:t>
            </a:r>
            <a:r>
              <a:rPr lang="en-US" sz="17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medical monitoring system</a:t>
            </a: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versus a </a:t>
            </a:r>
            <a:r>
              <a:rPr lang="en-US" sz="17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basic calculator</a:t>
            </a: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?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609448" y="6602730"/>
            <a:ext cx="2075336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kern="0" spc="9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Computer System Overview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124948" y="6595110"/>
            <a:ext cx="454556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10</a:t>
            </a:r>
            <a:r>
              <a:rPr lang="en-US" sz="1100" b="1" kern="0" spc="5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/ 42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2" name="Shape 27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55189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1270" y="497205"/>
            <a:ext cx="3167312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Computer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809625"/>
            <a:ext cx="7921033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Ch1 Summary: Hardware Basics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474440"/>
            <a:ext cx="9523" cy="438150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474440"/>
            <a:ext cx="7618095" cy="438150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Three fundamental concepts you must understand about computer hardware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organization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2103090"/>
            <a:ext cx="3453437" cy="43739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25923" y="2303115"/>
            <a:ext cx="508419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5E5E5">
                    <a:alpha val="5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01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876081" y="2445990"/>
            <a:ext cx="685629" cy="6858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1" name="Shape 8"/>
          <p:cNvSpPr/>
          <p:nvPr/>
        </p:nvSpPr>
        <p:spPr>
          <a:xfrm>
            <a:off x="1047488" y="2617440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57136" y="42852"/>
                </a:moveTo>
                <a:lnTo>
                  <a:pt x="128555" y="42852"/>
                </a:lnTo>
                <a:cubicBezTo>
                  <a:pt x="136439" y="42852"/>
                  <a:pt x="142839" y="49252"/>
                  <a:pt x="142839" y="57136"/>
                </a:cubicBezTo>
                <a:lnTo>
                  <a:pt x="142839" y="128555"/>
                </a:lnTo>
                <a:cubicBezTo>
                  <a:pt x="142839" y="136439"/>
                  <a:pt x="136439" y="142839"/>
                  <a:pt x="128555" y="142839"/>
                </a:cubicBezTo>
                <a:lnTo>
                  <a:pt x="57136" y="142839"/>
                </a:lnTo>
                <a:cubicBezTo>
                  <a:pt x="49252" y="142839"/>
                  <a:pt x="42852" y="136439"/>
                  <a:pt x="42852" y="128555"/>
                </a:cubicBezTo>
                <a:lnTo>
                  <a:pt x="42852" y="57136"/>
                </a:lnTo>
                <a:cubicBezTo>
                  <a:pt x="42852" y="49252"/>
                  <a:pt x="49252" y="42852"/>
                  <a:pt x="57136" y="42852"/>
                </a:cubicBezTo>
                <a:close/>
                <a:moveTo>
                  <a:pt x="214259" y="42852"/>
                </a:moveTo>
                <a:lnTo>
                  <a:pt x="285679" y="42852"/>
                </a:lnTo>
                <a:cubicBezTo>
                  <a:pt x="293562" y="42852"/>
                  <a:pt x="299962" y="49252"/>
                  <a:pt x="299962" y="57136"/>
                </a:cubicBezTo>
                <a:lnTo>
                  <a:pt x="299962" y="128555"/>
                </a:lnTo>
                <a:cubicBezTo>
                  <a:pt x="299962" y="136439"/>
                  <a:pt x="293562" y="142839"/>
                  <a:pt x="285679" y="142839"/>
                </a:cubicBezTo>
                <a:lnTo>
                  <a:pt x="214259" y="142839"/>
                </a:lnTo>
                <a:cubicBezTo>
                  <a:pt x="206375" y="142839"/>
                  <a:pt x="199975" y="136439"/>
                  <a:pt x="199975" y="128555"/>
                </a:cubicBezTo>
                <a:lnTo>
                  <a:pt x="199975" y="57136"/>
                </a:lnTo>
                <a:cubicBezTo>
                  <a:pt x="199975" y="49252"/>
                  <a:pt x="206375" y="42852"/>
                  <a:pt x="214259" y="42852"/>
                </a:cubicBezTo>
                <a:close/>
                <a:moveTo>
                  <a:pt x="214259" y="199975"/>
                </a:moveTo>
                <a:lnTo>
                  <a:pt x="285679" y="199975"/>
                </a:lnTo>
                <a:cubicBezTo>
                  <a:pt x="293562" y="199975"/>
                  <a:pt x="299962" y="206375"/>
                  <a:pt x="299962" y="214259"/>
                </a:cubicBezTo>
                <a:lnTo>
                  <a:pt x="299962" y="285679"/>
                </a:lnTo>
                <a:cubicBezTo>
                  <a:pt x="299962" y="293562"/>
                  <a:pt x="293562" y="299962"/>
                  <a:pt x="285679" y="299962"/>
                </a:cubicBezTo>
                <a:lnTo>
                  <a:pt x="214259" y="299962"/>
                </a:lnTo>
                <a:cubicBezTo>
                  <a:pt x="206375" y="299962"/>
                  <a:pt x="199975" y="293562"/>
                  <a:pt x="199975" y="285679"/>
                </a:cubicBezTo>
                <a:lnTo>
                  <a:pt x="199975" y="214259"/>
                </a:lnTo>
                <a:cubicBezTo>
                  <a:pt x="199975" y="206375"/>
                  <a:pt x="206375" y="199975"/>
                  <a:pt x="214259" y="199975"/>
                </a:cubicBezTo>
                <a:close/>
                <a:moveTo>
                  <a:pt x="57136" y="199975"/>
                </a:moveTo>
                <a:lnTo>
                  <a:pt x="128555" y="199975"/>
                </a:lnTo>
                <a:cubicBezTo>
                  <a:pt x="136439" y="199975"/>
                  <a:pt x="142839" y="206375"/>
                  <a:pt x="142839" y="214259"/>
                </a:cubicBezTo>
                <a:lnTo>
                  <a:pt x="142839" y="285679"/>
                </a:lnTo>
                <a:cubicBezTo>
                  <a:pt x="142839" y="293562"/>
                  <a:pt x="136439" y="299962"/>
                  <a:pt x="128555" y="299962"/>
                </a:cubicBezTo>
                <a:lnTo>
                  <a:pt x="57136" y="299962"/>
                </a:lnTo>
                <a:cubicBezTo>
                  <a:pt x="49252" y="299962"/>
                  <a:pt x="42852" y="293562"/>
                  <a:pt x="42852" y="285679"/>
                </a:cubicBezTo>
                <a:lnTo>
                  <a:pt x="42852" y="214259"/>
                </a:lnTo>
                <a:cubicBezTo>
                  <a:pt x="42852" y="206375"/>
                  <a:pt x="49252" y="199975"/>
                  <a:pt x="57136" y="19997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6081" y="3328958"/>
            <a:ext cx="2774802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Four Core Components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76081" y="3784253"/>
            <a:ext cx="2772272" cy="14430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 computer has four core parts: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processor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(executes instructions),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(stores data/programs), 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I/O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modules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(connect to external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devices), and the 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system bus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(links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everything)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67609" y="2103090"/>
            <a:ext cx="3453586" cy="437391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4233" y="2303115"/>
            <a:ext cx="508419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5E5E5">
                    <a:alpha val="5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3600" dirty="0"/>
          </a:p>
        </p:txBody>
      </p:sp>
      <p:sp>
        <p:nvSpPr>
          <p:cNvPr id="16" name="Shape 12"/>
          <p:cNvSpPr/>
          <p:nvPr/>
        </p:nvSpPr>
        <p:spPr>
          <a:xfrm>
            <a:off x="4634242" y="2445990"/>
            <a:ext cx="685629" cy="6858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7" name="Shape 13"/>
          <p:cNvSpPr/>
          <p:nvPr/>
        </p:nvSpPr>
        <p:spPr>
          <a:xfrm>
            <a:off x="4805649" y="2617440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42852" y="171407"/>
                </a:moveTo>
                <a:cubicBezTo>
                  <a:pt x="42852" y="100456"/>
                  <a:pt x="100456" y="42852"/>
                  <a:pt x="171407" y="42852"/>
                </a:cubicBezTo>
                <a:cubicBezTo>
                  <a:pt x="207346" y="42987"/>
                  <a:pt x="241842" y="57010"/>
                  <a:pt x="267681" y="81990"/>
                </a:cubicBezTo>
                <a:lnTo>
                  <a:pt x="299962" y="114271"/>
                </a:lnTo>
                <a:moveTo>
                  <a:pt x="299962" y="42852"/>
                </a:moveTo>
                <a:lnTo>
                  <a:pt x="299962" y="114271"/>
                </a:lnTo>
                <a:lnTo>
                  <a:pt x="228543" y="114271"/>
                </a:lnTo>
                <a:moveTo>
                  <a:pt x="299962" y="171407"/>
                </a:moveTo>
                <a:cubicBezTo>
                  <a:pt x="299962" y="242359"/>
                  <a:pt x="242359" y="299962"/>
                  <a:pt x="171407" y="299962"/>
                </a:cubicBezTo>
                <a:cubicBezTo>
                  <a:pt x="135468" y="299827"/>
                  <a:pt x="100973" y="285804"/>
                  <a:pt x="75133" y="260825"/>
                </a:cubicBezTo>
                <a:lnTo>
                  <a:pt x="42852" y="228543"/>
                </a:lnTo>
                <a:moveTo>
                  <a:pt x="114271" y="228543"/>
                </a:moveTo>
                <a:lnTo>
                  <a:pt x="42852" y="228543"/>
                </a:lnTo>
                <a:lnTo>
                  <a:pt x="42852" y="299962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34242" y="3328958"/>
            <a:ext cx="2485999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Fetch-Execute Cycle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634242" y="3784253"/>
            <a:ext cx="2839823" cy="14430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Instructions run in a 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fetch-execute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cycle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: the CPU fetches an instruction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(using the 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Program Counter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decodes it (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Instruction Register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then executes it—often updating 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 registers like the 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Accumulator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5918" y="2103090"/>
            <a:ext cx="3453437" cy="437391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842394" y="2303115"/>
            <a:ext cx="508419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5E5E5">
                    <a:alpha val="5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3600" dirty="0"/>
          </a:p>
        </p:txBody>
      </p:sp>
      <p:sp>
        <p:nvSpPr>
          <p:cNvPr id="22" name="Shape 17"/>
          <p:cNvSpPr/>
          <p:nvPr/>
        </p:nvSpPr>
        <p:spPr>
          <a:xfrm>
            <a:off x="8392552" y="2445990"/>
            <a:ext cx="685629" cy="6858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3" name="Shape 18"/>
          <p:cNvSpPr/>
          <p:nvPr/>
        </p:nvSpPr>
        <p:spPr>
          <a:xfrm>
            <a:off x="8563959" y="2617440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227314" y="57136"/>
                </a:moveTo>
                <a:cubicBezTo>
                  <a:pt x="230643" y="47703"/>
                  <a:pt x="227002" y="37223"/>
                  <a:pt x="218543" y="31885"/>
                </a:cubicBezTo>
                <a:cubicBezTo>
                  <a:pt x="210084" y="26548"/>
                  <a:pt x="199057" y="27773"/>
                  <a:pt x="191976" y="34839"/>
                </a:cubicBezTo>
                <a:lnTo>
                  <a:pt x="63421" y="163394"/>
                </a:lnTo>
                <a:cubicBezTo>
                  <a:pt x="57291" y="169520"/>
                  <a:pt x="55455" y="178736"/>
                  <a:pt x="58769" y="186743"/>
                </a:cubicBezTo>
                <a:cubicBezTo>
                  <a:pt x="62083" y="194751"/>
                  <a:pt x="69895" y="199973"/>
                  <a:pt x="78562" y="199975"/>
                </a:cubicBezTo>
                <a:lnTo>
                  <a:pt x="135726" y="199975"/>
                </a:lnTo>
                <a:cubicBezTo>
                  <a:pt x="138041" y="199978"/>
                  <a:pt x="140211" y="201103"/>
                  <a:pt x="141548" y="202993"/>
                </a:cubicBezTo>
                <a:cubicBezTo>
                  <a:pt x="142885" y="204883"/>
                  <a:pt x="143222" y="207304"/>
                  <a:pt x="142454" y="209488"/>
                </a:cubicBezTo>
                <a:lnTo>
                  <a:pt x="115500" y="285679"/>
                </a:lnTo>
                <a:cubicBezTo>
                  <a:pt x="112170" y="295115"/>
                  <a:pt x="115815" y="305599"/>
                  <a:pt x="124280" y="310935"/>
                </a:cubicBezTo>
                <a:cubicBezTo>
                  <a:pt x="132745" y="316270"/>
                  <a:pt x="143776" y="315036"/>
                  <a:pt x="150853" y="307961"/>
                </a:cubicBezTo>
                <a:lnTo>
                  <a:pt x="279408" y="179406"/>
                </a:lnTo>
                <a:cubicBezTo>
                  <a:pt x="285530" y="173277"/>
                  <a:pt x="287358" y="164064"/>
                  <a:pt x="284041" y="156062"/>
                </a:cubicBezTo>
                <a:cubicBezTo>
                  <a:pt x="280725" y="148059"/>
                  <a:pt x="272915" y="142841"/>
                  <a:pt x="264253" y="142839"/>
                </a:cubicBezTo>
                <a:lnTo>
                  <a:pt x="207160" y="142839"/>
                </a:lnTo>
                <a:cubicBezTo>
                  <a:pt x="204839" y="142843"/>
                  <a:pt x="202661" y="141718"/>
                  <a:pt x="201320" y="139823"/>
                </a:cubicBezTo>
                <a:cubicBezTo>
                  <a:pt x="199979" y="137928"/>
                  <a:pt x="199643" y="135500"/>
                  <a:pt x="200418" y="133312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392552" y="3328958"/>
            <a:ext cx="1317692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Interrupts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392552" y="3784253"/>
            <a:ext cx="2819737" cy="11858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Interrupts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let slow I/O devices signal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CPU without wasting cycles; the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processor pauses, runs an 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interrupt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handler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, then resumes—keeping the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system efficient and responsive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7" name="Shape 22"/>
          <p:cNvSpPr/>
          <p:nvPr/>
        </p:nvSpPr>
        <p:spPr>
          <a:xfrm>
            <a:off x="0" y="6819900"/>
            <a:ext cx="402226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97205"/>
            <a:ext cx="3167312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Computer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809625"/>
            <a:ext cx="8267270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900" b="1" kern="0" spc="-8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Think About It: No Interrupts?</a:t>
            </a:r>
            <a:endParaRPr lang="en-US" sz="3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592461"/>
            <a:ext cx="8303724" cy="13028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0352" y="1956316"/>
            <a:ext cx="5640366" cy="60189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would happen to system performance and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responsiveness without interrupts?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09448" y="3749129"/>
            <a:ext cx="190452" cy="1905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9" name="Text 6"/>
          <p:cNvSpPr/>
          <p:nvPr/>
        </p:nvSpPr>
        <p:spPr>
          <a:xfrm>
            <a:off x="1028443" y="3788182"/>
            <a:ext cx="7840091" cy="5247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Your CPU would waste </a:t>
            </a:r>
            <a:r>
              <a:rPr lang="en-US" sz="17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thousands of cycles</a:t>
            </a: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waiting for slow devices like printers or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disks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09448" y="4686151"/>
            <a:ext cx="190452" cy="1905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1" name="Text 8"/>
          <p:cNvSpPr/>
          <p:nvPr/>
        </p:nvSpPr>
        <p:spPr>
          <a:xfrm>
            <a:off x="1028443" y="4725204"/>
            <a:ext cx="7754834" cy="5247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whole system would feel </a:t>
            </a:r>
            <a:r>
              <a:rPr lang="en-US" sz="17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unresponsive</a:t>
            </a: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—like your mouse or keyboard freezing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during file transfers</a:t>
            </a:r>
            <a:endParaRPr lang="en-US" sz="17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5753100"/>
            <a:ext cx="8303724" cy="723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9398" y="5990273"/>
            <a:ext cx="4541396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would YOU design a better solution?</a:t>
            </a:r>
            <a:endParaRPr lang="en-US" sz="18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84528" y="3177480"/>
            <a:ext cx="2094976" cy="20955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0055885" y="3748980"/>
            <a:ext cx="952262" cy="952500"/>
          </a:xfrm>
          <a:custGeom>
            <a:avLst/>
            <a:gdLst/>
            <a:ahLst/>
            <a:cxnLst/>
            <a:rect l="l" t="t" r="r" b="b"/>
            <a:pathLst>
              <a:path w="952262" h="952500">
                <a:moveTo>
                  <a:pt x="79355" y="476131"/>
                </a:moveTo>
                <a:cubicBezTo>
                  <a:pt x="79355" y="257144"/>
                  <a:pt x="257144" y="79355"/>
                  <a:pt x="476131" y="79355"/>
                </a:cubicBezTo>
                <a:cubicBezTo>
                  <a:pt x="695117" y="79355"/>
                  <a:pt x="872907" y="257144"/>
                  <a:pt x="872907" y="476131"/>
                </a:cubicBezTo>
                <a:cubicBezTo>
                  <a:pt x="872907" y="695117"/>
                  <a:pt x="695117" y="872907"/>
                  <a:pt x="476131" y="872907"/>
                </a:cubicBezTo>
                <a:cubicBezTo>
                  <a:pt x="257144" y="872907"/>
                  <a:pt x="79355" y="695117"/>
                  <a:pt x="79355" y="476131"/>
                </a:cubicBezTo>
                <a:close/>
                <a:moveTo>
                  <a:pt x="360669" y="357098"/>
                </a:moveTo>
                <a:cubicBezTo>
                  <a:pt x="379930" y="302345"/>
                  <a:pt x="435873" y="269467"/>
                  <a:pt x="493080" y="279279"/>
                </a:cubicBezTo>
                <a:cubicBezTo>
                  <a:pt x="550287" y="289092"/>
                  <a:pt x="592076" y="338734"/>
                  <a:pt x="591989" y="396776"/>
                </a:cubicBezTo>
                <a:cubicBezTo>
                  <a:pt x="591989" y="476131"/>
                  <a:pt x="472957" y="515809"/>
                  <a:pt x="472957" y="515809"/>
                </a:cubicBezTo>
                <a:moveTo>
                  <a:pt x="476131" y="674519"/>
                </a:moveTo>
                <a:lnTo>
                  <a:pt x="476528" y="674519"/>
                </a:lnTo>
              </a:path>
            </a:pathLst>
          </a:custGeom>
          <a:noFill/>
          <a:ln w="23813">
            <a:solidFill>
              <a:srgbClr val="FF300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22619" y="2925961"/>
            <a:ext cx="761810" cy="762000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79905" y="4953000"/>
            <a:ext cx="761810" cy="7620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9" name="Shape 12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85244" cy="142875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61326" y="495300"/>
            <a:ext cx="3148118" cy="1428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Computer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790575"/>
            <a:ext cx="8159099" cy="561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Memory Hierarchy Concept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522065"/>
            <a:ext cx="9523" cy="1137196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7990" y="1524923"/>
            <a:ext cx="2807238" cy="197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kern="0" spc="3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 Pyramid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7990" y="1902113"/>
            <a:ext cx="3799079" cy="71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Fastest, smallest, most expensive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(registers,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cache) at the top → </a:t>
            </a: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slowest, largest, cheapest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(disk, tape) at the bottom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448" y="2887861"/>
            <a:ext cx="9523" cy="862905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7990" y="2890718"/>
            <a:ext cx="1428095" cy="197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kern="0" spc="3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Trade-off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7990" y="3267908"/>
            <a:ext cx="4122104" cy="437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As </a:t>
            </a: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speed ↑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, </a:t>
            </a: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size ↓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and </a:t>
            </a: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cost per byte ↑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. You must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balance these factors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46638" y="2451646"/>
            <a:ext cx="1333167" cy="4953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46638" y="2451646"/>
            <a:ext cx="1333167" cy="495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Registers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60959" y="3023146"/>
            <a:ext cx="1904524" cy="4953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60959" y="3023146"/>
            <a:ext cx="1904524" cy="495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Cache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80055" y="3594646"/>
            <a:ext cx="2666333" cy="4953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80055" y="3594646"/>
            <a:ext cx="2666333" cy="495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6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Main Memory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03924" y="4166146"/>
            <a:ext cx="3618595" cy="4953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3924" y="4166146"/>
            <a:ext cx="3618595" cy="495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Secondary Storage</a:t>
            </a:r>
            <a:endParaRPr lang="en-US" sz="13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227793" y="4737646"/>
            <a:ext cx="4570857" cy="495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27793" y="4737646"/>
            <a:ext cx="4570857" cy="4953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Tape / Offline Storage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037340" y="5385346"/>
            <a:ext cx="677594" cy="1619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Speed ↓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8284232" y="5385346"/>
            <a:ext cx="526571" cy="1619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Size ↑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0380101" y="5385346"/>
            <a:ext cx="609001" cy="1619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Cost ↓</a:t>
            </a:r>
            <a:endParaRPr lang="en-US" sz="11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9448" y="5715000"/>
            <a:ext cx="10970057" cy="7620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52262" y="6000750"/>
            <a:ext cx="6370186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3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Why can't we just use the fastest memory everywhere?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8" name="Shape 20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167312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Computer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733425"/>
            <a:ext cx="3864695" cy="4476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200" b="1" kern="0" spc="-6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Why Caches Exist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36790" y="3087886"/>
            <a:ext cx="1142714" cy="1143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4381500"/>
            <a:ext cx="1142714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2380" y="1686818"/>
            <a:ext cx="10264193" cy="10191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-36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Principle of Locality</a:t>
            </a:r>
            <a:endParaRPr lang="en-US" sz="7200" dirty="0"/>
          </a:p>
        </p:txBody>
      </p:sp>
      <p:sp>
        <p:nvSpPr>
          <p:cNvPr id="9" name="Text 5"/>
          <p:cNvSpPr/>
          <p:nvPr/>
        </p:nvSpPr>
        <p:spPr>
          <a:xfrm>
            <a:off x="2161634" y="2819340"/>
            <a:ext cx="7865534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kern="0" spc="4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Programs tend to access the same or nearby memory locations repeatedly</a:t>
            </a:r>
            <a:endParaRPr lang="en-US" sz="1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33167" y="3534668"/>
            <a:ext cx="4608947" cy="257175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675981" y="3953768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2" name="Shape 7"/>
          <p:cNvSpPr/>
          <p:nvPr/>
        </p:nvSpPr>
        <p:spPr>
          <a:xfrm>
            <a:off x="1828343" y="4106168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25394" y="152362"/>
                </a:moveTo>
                <a:cubicBezTo>
                  <a:pt x="25394" y="82286"/>
                  <a:pt x="82286" y="25394"/>
                  <a:pt x="152362" y="25394"/>
                </a:cubicBezTo>
                <a:cubicBezTo>
                  <a:pt x="222438" y="25394"/>
                  <a:pt x="279330" y="82286"/>
                  <a:pt x="279330" y="152362"/>
                </a:cubicBezTo>
                <a:cubicBezTo>
                  <a:pt x="279330" y="222438"/>
                  <a:pt x="222438" y="279330"/>
                  <a:pt x="152362" y="279330"/>
                </a:cubicBezTo>
                <a:cubicBezTo>
                  <a:pt x="82286" y="279330"/>
                  <a:pt x="25394" y="222438"/>
                  <a:pt x="25394" y="152362"/>
                </a:cubicBezTo>
                <a:close/>
                <a:moveTo>
                  <a:pt x="152362" y="76181"/>
                </a:moveTo>
                <a:lnTo>
                  <a:pt x="152362" y="152362"/>
                </a:lnTo>
                <a:lnTo>
                  <a:pt x="203149" y="177756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2437790" y="4118550"/>
            <a:ext cx="2807685" cy="2828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Temporal Locality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675981" y="4830068"/>
            <a:ext cx="3749531" cy="514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Accessing the </a:t>
            </a:r>
            <a:r>
              <a:rPr lang="en-US" sz="1700" b="1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same memory locations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repeatedly over time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75981" y="5538728"/>
            <a:ext cx="2426929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Recent past → Near future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46838" y="3534668"/>
            <a:ext cx="4608947" cy="257175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589652" y="3953768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8" name="Shape 12"/>
          <p:cNvSpPr/>
          <p:nvPr/>
        </p:nvSpPr>
        <p:spPr>
          <a:xfrm>
            <a:off x="6742014" y="4106168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79101" y="70505"/>
                </a:moveTo>
                <a:cubicBezTo>
                  <a:pt x="186247" y="74076"/>
                  <a:pt x="194657" y="74076"/>
                  <a:pt x="201803" y="70505"/>
                </a:cubicBezTo>
                <a:lnTo>
                  <a:pt x="248261" y="47270"/>
                </a:lnTo>
                <a:cubicBezTo>
                  <a:pt x="252200" y="45302"/>
                  <a:pt x="256877" y="45515"/>
                  <a:pt x="260621" y="47833"/>
                </a:cubicBezTo>
                <a:cubicBezTo>
                  <a:pt x="264364" y="50151"/>
                  <a:pt x="266640" y="54243"/>
                  <a:pt x="266633" y="58647"/>
                </a:cubicBezTo>
                <a:lnTo>
                  <a:pt x="266633" y="220709"/>
                </a:lnTo>
                <a:cubicBezTo>
                  <a:pt x="266631" y="225517"/>
                  <a:pt x="263913" y="229911"/>
                  <a:pt x="259612" y="232060"/>
                </a:cubicBezTo>
                <a:lnTo>
                  <a:pt x="201803" y="260971"/>
                </a:lnTo>
                <a:cubicBezTo>
                  <a:pt x="194657" y="264541"/>
                  <a:pt x="186247" y="264541"/>
                  <a:pt x="179101" y="260971"/>
                </a:cubicBezTo>
                <a:lnTo>
                  <a:pt x="125622" y="234231"/>
                </a:lnTo>
                <a:cubicBezTo>
                  <a:pt x="118476" y="230660"/>
                  <a:pt x="110067" y="230660"/>
                  <a:pt x="102920" y="234231"/>
                </a:cubicBezTo>
                <a:lnTo>
                  <a:pt x="56463" y="257466"/>
                </a:lnTo>
                <a:cubicBezTo>
                  <a:pt x="52522" y="259435"/>
                  <a:pt x="47842" y="259221"/>
                  <a:pt x="44098" y="256900"/>
                </a:cubicBezTo>
                <a:cubicBezTo>
                  <a:pt x="40353" y="254579"/>
                  <a:pt x="38080" y="250483"/>
                  <a:pt x="38090" y="246077"/>
                </a:cubicBezTo>
                <a:lnTo>
                  <a:pt x="38090" y="84028"/>
                </a:lnTo>
                <a:cubicBezTo>
                  <a:pt x="38093" y="79220"/>
                  <a:pt x="40811" y="74826"/>
                  <a:pt x="45112" y="72677"/>
                </a:cubicBezTo>
                <a:lnTo>
                  <a:pt x="102920" y="43766"/>
                </a:lnTo>
                <a:cubicBezTo>
                  <a:pt x="110067" y="40195"/>
                  <a:pt x="118476" y="40195"/>
                  <a:pt x="125622" y="43766"/>
                </a:cubicBezTo>
                <a:close/>
                <a:moveTo>
                  <a:pt x="190452" y="73184"/>
                </a:moveTo>
                <a:lnTo>
                  <a:pt x="190452" y="263637"/>
                </a:lnTo>
                <a:moveTo>
                  <a:pt x="114271" y="41087"/>
                </a:moveTo>
                <a:lnTo>
                  <a:pt x="114271" y="231539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351462" y="4118550"/>
            <a:ext cx="2418150" cy="2828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kern="0" spc="-4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Spatial Locality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6589652" y="4830068"/>
            <a:ext cx="3772743" cy="514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Accessing </a:t>
            </a:r>
            <a:r>
              <a:rPr lang="en-US" sz="1700" b="1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nearby memory locations</a:t>
            </a: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in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close succession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6589652" y="5538728"/>
            <a:ext cx="3439600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Close addresses → Sequential access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3" name="Shape 17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97205"/>
            <a:ext cx="3453437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Cache Memory · Performance Optimization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809625"/>
            <a:ext cx="7823575" cy="6000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200" b="1" kern="0" spc="-8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Cache Memory Works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634430"/>
            <a:ext cx="3504324" cy="34099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6081" y="1977330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8" name="Shape 5"/>
          <p:cNvSpPr/>
          <p:nvPr/>
        </p:nvSpPr>
        <p:spPr>
          <a:xfrm>
            <a:off x="1066533" y="2167830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203625" y="34599"/>
                </a:moveTo>
                <a:cubicBezTo>
                  <a:pt x="195258" y="30782"/>
                  <a:pt x="185647" y="30782"/>
                  <a:pt x="177279" y="34599"/>
                </a:cubicBezTo>
                <a:lnTo>
                  <a:pt x="41265" y="96496"/>
                </a:lnTo>
                <a:cubicBezTo>
                  <a:pt x="35510" y="99033"/>
                  <a:pt x="31797" y="104729"/>
                  <a:pt x="31797" y="111018"/>
                </a:cubicBezTo>
                <a:cubicBezTo>
                  <a:pt x="31797" y="117307"/>
                  <a:pt x="35510" y="123003"/>
                  <a:pt x="41265" y="125540"/>
                </a:cubicBezTo>
                <a:lnTo>
                  <a:pt x="177438" y="187596"/>
                </a:lnTo>
                <a:cubicBezTo>
                  <a:pt x="185805" y="191412"/>
                  <a:pt x="195417" y="191412"/>
                  <a:pt x="203784" y="187596"/>
                </a:cubicBezTo>
                <a:lnTo>
                  <a:pt x="339957" y="125699"/>
                </a:lnTo>
                <a:cubicBezTo>
                  <a:pt x="345712" y="123161"/>
                  <a:pt x="349425" y="117466"/>
                  <a:pt x="349425" y="111177"/>
                </a:cubicBezTo>
                <a:cubicBezTo>
                  <a:pt x="349425" y="104888"/>
                  <a:pt x="345712" y="99192"/>
                  <a:pt x="339957" y="96655"/>
                </a:cubicBezTo>
                <a:close/>
                <a:moveTo>
                  <a:pt x="31742" y="190452"/>
                </a:moveTo>
                <a:cubicBezTo>
                  <a:pt x="31727" y="196651"/>
                  <a:pt x="35322" y="202292"/>
                  <a:pt x="40947" y="204895"/>
                </a:cubicBezTo>
                <a:lnTo>
                  <a:pt x="177438" y="266951"/>
                </a:lnTo>
                <a:cubicBezTo>
                  <a:pt x="185760" y="270719"/>
                  <a:pt x="195303" y="270719"/>
                  <a:pt x="203625" y="266951"/>
                </a:cubicBezTo>
                <a:lnTo>
                  <a:pt x="339799" y="205054"/>
                </a:lnTo>
                <a:cubicBezTo>
                  <a:pt x="345539" y="202474"/>
                  <a:pt x="349212" y="196746"/>
                  <a:pt x="349163" y="190452"/>
                </a:cubicBezTo>
                <a:moveTo>
                  <a:pt x="31742" y="269808"/>
                </a:moveTo>
                <a:cubicBezTo>
                  <a:pt x="31727" y="276006"/>
                  <a:pt x="35322" y="281647"/>
                  <a:pt x="40947" y="284250"/>
                </a:cubicBezTo>
                <a:lnTo>
                  <a:pt x="177438" y="346306"/>
                </a:lnTo>
                <a:cubicBezTo>
                  <a:pt x="185760" y="350074"/>
                  <a:pt x="195303" y="350074"/>
                  <a:pt x="203625" y="346306"/>
                </a:cubicBezTo>
                <a:lnTo>
                  <a:pt x="339799" y="284409"/>
                </a:lnTo>
                <a:cubicBezTo>
                  <a:pt x="345539" y="281829"/>
                  <a:pt x="349212" y="276101"/>
                  <a:pt x="349163" y="269808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6081" y="2973645"/>
            <a:ext cx="1138251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Mapping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76081" y="3477518"/>
            <a:ext cx="2810363" cy="11858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main memory blocks are placed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 cache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Direct · Associative · Set-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associative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42314" y="1634430"/>
            <a:ext cx="3504324" cy="34099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08947" y="1977330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3" name="Shape 9"/>
          <p:cNvSpPr/>
          <p:nvPr/>
        </p:nvSpPr>
        <p:spPr>
          <a:xfrm>
            <a:off x="4799400" y="2167830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47613" y="190452"/>
                </a:moveTo>
                <a:cubicBezTo>
                  <a:pt x="47613" y="111617"/>
                  <a:pt x="111617" y="47613"/>
                  <a:pt x="190452" y="47613"/>
                </a:cubicBezTo>
                <a:cubicBezTo>
                  <a:pt x="230385" y="47763"/>
                  <a:pt x="268713" y="63345"/>
                  <a:pt x="297423" y="91100"/>
                </a:cubicBezTo>
                <a:lnTo>
                  <a:pt x="333292" y="126968"/>
                </a:lnTo>
                <a:moveTo>
                  <a:pt x="333292" y="47613"/>
                </a:moveTo>
                <a:lnTo>
                  <a:pt x="333292" y="126968"/>
                </a:lnTo>
                <a:lnTo>
                  <a:pt x="253937" y="126968"/>
                </a:lnTo>
                <a:moveTo>
                  <a:pt x="333292" y="190452"/>
                </a:moveTo>
                <a:cubicBezTo>
                  <a:pt x="333292" y="269288"/>
                  <a:pt x="269288" y="333292"/>
                  <a:pt x="190452" y="333292"/>
                </a:cubicBezTo>
                <a:cubicBezTo>
                  <a:pt x="150520" y="333141"/>
                  <a:pt x="112192" y="317560"/>
                  <a:pt x="83482" y="289805"/>
                </a:cubicBezTo>
                <a:lnTo>
                  <a:pt x="47613" y="253937"/>
                </a:lnTo>
                <a:moveTo>
                  <a:pt x="126968" y="253937"/>
                </a:moveTo>
                <a:lnTo>
                  <a:pt x="47613" y="253937"/>
                </a:lnTo>
                <a:lnTo>
                  <a:pt x="47613" y="333292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08947" y="2973645"/>
            <a:ext cx="1857357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Replacement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608947" y="3477518"/>
            <a:ext cx="2915260" cy="6715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Which block to evict when cache is full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LRU · FIFO · Random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75181" y="1634430"/>
            <a:ext cx="3504324" cy="340995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341814" y="1977330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8" name="Shape 13"/>
          <p:cNvSpPr/>
          <p:nvPr/>
        </p:nvSpPr>
        <p:spPr>
          <a:xfrm>
            <a:off x="8532266" y="2167830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206323" y="333292"/>
                </a:moveTo>
                <a:lnTo>
                  <a:pt x="333292" y="333292"/>
                </a:lnTo>
                <a:moveTo>
                  <a:pt x="336053" y="108113"/>
                </a:moveTo>
                <a:cubicBezTo>
                  <a:pt x="353527" y="90644"/>
                  <a:pt x="353530" y="62317"/>
                  <a:pt x="336061" y="44844"/>
                </a:cubicBezTo>
                <a:cubicBezTo>
                  <a:pt x="318592" y="27370"/>
                  <a:pt x="290265" y="27366"/>
                  <a:pt x="272791" y="44836"/>
                </a:cubicBezTo>
                <a:lnTo>
                  <a:pt x="60977" y="256698"/>
                </a:lnTo>
                <a:cubicBezTo>
                  <a:pt x="57292" y="260372"/>
                  <a:pt x="54566" y="264896"/>
                  <a:pt x="53041" y="269871"/>
                </a:cubicBezTo>
                <a:lnTo>
                  <a:pt x="32075" y="338942"/>
                </a:lnTo>
                <a:cubicBezTo>
                  <a:pt x="31240" y="341738"/>
                  <a:pt x="32006" y="344768"/>
                  <a:pt x="34072" y="346830"/>
                </a:cubicBezTo>
                <a:cubicBezTo>
                  <a:pt x="36137" y="348892"/>
                  <a:pt x="39168" y="349654"/>
                  <a:pt x="41963" y="348814"/>
                </a:cubicBezTo>
                <a:lnTo>
                  <a:pt x="111050" y="327864"/>
                </a:lnTo>
                <a:cubicBezTo>
                  <a:pt x="116020" y="326352"/>
                  <a:pt x="120543" y="323644"/>
                  <a:pt x="124223" y="319976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341814" y="2973645"/>
            <a:ext cx="1758560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Write Policy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341814" y="3477518"/>
            <a:ext cx="2677344" cy="928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writes are handled to maintain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consistency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Write-through · Write-back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5349180"/>
            <a:ext cx="10970057" cy="10668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028443" y="5653980"/>
            <a:ext cx="457086" cy="457200"/>
          </a:xfrm>
          <a:custGeom>
            <a:avLst/>
            <a:gdLst/>
            <a:ahLst/>
            <a:cxnLst/>
            <a:rect l="l" t="t" r="r" b="b"/>
            <a:pathLst>
              <a:path w="457086" h="457200">
                <a:moveTo>
                  <a:pt x="38090" y="228543"/>
                </a:moveTo>
                <a:cubicBezTo>
                  <a:pt x="38090" y="123429"/>
                  <a:pt x="123429" y="38090"/>
                  <a:pt x="228543" y="38090"/>
                </a:cubicBezTo>
                <a:cubicBezTo>
                  <a:pt x="333656" y="38090"/>
                  <a:pt x="418995" y="123429"/>
                  <a:pt x="418995" y="228543"/>
                </a:cubicBezTo>
                <a:cubicBezTo>
                  <a:pt x="418995" y="333656"/>
                  <a:pt x="333656" y="418995"/>
                  <a:pt x="228543" y="418995"/>
                </a:cubicBezTo>
                <a:cubicBezTo>
                  <a:pt x="123429" y="418995"/>
                  <a:pt x="38090" y="333656"/>
                  <a:pt x="38090" y="228543"/>
                </a:cubicBezTo>
                <a:close/>
                <a:moveTo>
                  <a:pt x="173121" y="171407"/>
                </a:moveTo>
                <a:cubicBezTo>
                  <a:pt x="182366" y="145126"/>
                  <a:pt x="209219" y="129344"/>
                  <a:pt x="236679" y="134054"/>
                </a:cubicBezTo>
                <a:cubicBezTo>
                  <a:pt x="264138" y="138764"/>
                  <a:pt x="284196" y="162592"/>
                  <a:pt x="284155" y="190452"/>
                </a:cubicBezTo>
                <a:cubicBezTo>
                  <a:pt x="284155" y="228543"/>
                  <a:pt x="227019" y="247588"/>
                  <a:pt x="227019" y="247588"/>
                </a:cubicBezTo>
                <a:moveTo>
                  <a:pt x="228543" y="323769"/>
                </a:moveTo>
                <a:lnTo>
                  <a:pt x="228733" y="323769"/>
                </a:lnTo>
              </a:path>
            </a:pathLst>
          </a:cu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714071" y="5782508"/>
            <a:ext cx="7650085" cy="2105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Which policy combination would work best for a mobile device with limited battery?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0904589" y="5057775"/>
            <a:ext cx="674916" cy="14954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0" b="1" kern="0" spc="-520" dirty="0">
                <a:solidFill>
                  <a:srgbClr val="F2F2F2">
                    <a:alpha val="7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</a:t>
            </a:r>
            <a:endParaRPr lang="en-US" sz="10500" dirty="0"/>
          </a:p>
        </p:txBody>
      </p:sp>
      <p:sp>
        <p:nvSpPr>
          <p:cNvPr id="25" name="Shape 19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6" name="Shape 20"/>
          <p:cNvSpPr/>
          <p:nvPr/>
        </p:nvSpPr>
        <p:spPr>
          <a:xfrm>
            <a:off x="0" y="6819900"/>
            <a:ext cx="4266133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972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809625"/>
            <a:ext cx="7109676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Direct Memory Access (DMA)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9900" y="2375446"/>
            <a:ext cx="5066033" cy="32385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2714" y="2718346"/>
            <a:ext cx="2075931" cy="11620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90227" y="2965996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190452" y="317421"/>
                </a:moveTo>
                <a:lnTo>
                  <a:pt x="190452" y="349163"/>
                </a:lnTo>
                <a:moveTo>
                  <a:pt x="190452" y="31742"/>
                </a:moveTo>
                <a:lnTo>
                  <a:pt x="190452" y="63484"/>
                </a:lnTo>
                <a:moveTo>
                  <a:pt x="269808" y="317421"/>
                </a:moveTo>
                <a:lnTo>
                  <a:pt x="269808" y="349163"/>
                </a:lnTo>
                <a:moveTo>
                  <a:pt x="269808" y="31742"/>
                </a:moveTo>
                <a:lnTo>
                  <a:pt x="269808" y="63484"/>
                </a:lnTo>
                <a:moveTo>
                  <a:pt x="31742" y="190452"/>
                </a:moveTo>
                <a:lnTo>
                  <a:pt x="63484" y="190452"/>
                </a:lnTo>
                <a:moveTo>
                  <a:pt x="31742" y="269808"/>
                </a:moveTo>
                <a:lnTo>
                  <a:pt x="63484" y="269808"/>
                </a:lnTo>
                <a:moveTo>
                  <a:pt x="31742" y="111097"/>
                </a:moveTo>
                <a:lnTo>
                  <a:pt x="63484" y="111097"/>
                </a:lnTo>
                <a:moveTo>
                  <a:pt x="317421" y="190452"/>
                </a:moveTo>
                <a:lnTo>
                  <a:pt x="349163" y="190452"/>
                </a:lnTo>
                <a:moveTo>
                  <a:pt x="317421" y="269808"/>
                </a:moveTo>
                <a:lnTo>
                  <a:pt x="349163" y="269808"/>
                </a:lnTo>
                <a:moveTo>
                  <a:pt x="317421" y="111097"/>
                </a:moveTo>
                <a:lnTo>
                  <a:pt x="349163" y="111097"/>
                </a:lnTo>
                <a:moveTo>
                  <a:pt x="111097" y="317421"/>
                </a:moveTo>
                <a:lnTo>
                  <a:pt x="111097" y="349163"/>
                </a:lnTo>
                <a:moveTo>
                  <a:pt x="111097" y="31742"/>
                </a:moveTo>
                <a:lnTo>
                  <a:pt x="111097" y="63484"/>
                </a:lnTo>
                <a:moveTo>
                  <a:pt x="95226" y="63484"/>
                </a:moveTo>
                <a:lnTo>
                  <a:pt x="285679" y="63484"/>
                </a:lnTo>
                <a:cubicBezTo>
                  <a:pt x="303197" y="63484"/>
                  <a:pt x="317421" y="77707"/>
                  <a:pt x="317421" y="95226"/>
                </a:cubicBezTo>
                <a:lnTo>
                  <a:pt x="317421" y="285679"/>
                </a:lnTo>
                <a:cubicBezTo>
                  <a:pt x="317421" y="303197"/>
                  <a:pt x="303197" y="317421"/>
                  <a:pt x="285679" y="317421"/>
                </a:cubicBezTo>
                <a:lnTo>
                  <a:pt x="95226" y="317421"/>
                </a:lnTo>
                <a:cubicBezTo>
                  <a:pt x="77707" y="317421"/>
                  <a:pt x="63484" y="303197"/>
                  <a:pt x="63484" y="285679"/>
                </a:cubicBezTo>
                <a:lnTo>
                  <a:pt x="63484" y="95226"/>
                </a:lnTo>
                <a:cubicBezTo>
                  <a:pt x="63484" y="77707"/>
                  <a:pt x="77707" y="63484"/>
                  <a:pt x="95226" y="63484"/>
                </a:cubicBezTo>
                <a:close/>
                <a:moveTo>
                  <a:pt x="142839" y="126968"/>
                </a:moveTo>
                <a:lnTo>
                  <a:pt x="238065" y="126968"/>
                </a:lnTo>
                <a:cubicBezTo>
                  <a:pt x="246825" y="126968"/>
                  <a:pt x="253937" y="134080"/>
                  <a:pt x="253937" y="142839"/>
                </a:cubicBezTo>
                <a:lnTo>
                  <a:pt x="253937" y="238065"/>
                </a:lnTo>
                <a:cubicBezTo>
                  <a:pt x="253937" y="246825"/>
                  <a:pt x="246825" y="253937"/>
                  <a:pt x="238065" y="253937"/>
                </a:cubicBezTo>
                <a:lnTo>
                  <a:pt x="142839" y="253937"/>
                </a:lnTo>
                <a:cubicBezTo>
                  <a:pt x="134080" y="253937"/>
                  <a:pt x="126968" y="246825"/>
                  <a:pt x="126968" y="238065"/>
                </a:cubicBezTo>
                <a:lnTo>
                  <a:pt x="126968" y="142839"/>
                </a:lnTo>
                <a:cubicBezTo>
                  <a:pt x="126968" y="134080"/>
                  <a:pt x="134080" y="126968"/>
                  <a:pt x="142839" y="126968"/>
                </a:cubicBezTo>
                <a:close/>
              </a:path>
            </a:pathLst>
          </a:cu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008380" y="3471773"/>
            <a:ext cx="344600" cy="151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CPU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47188" y="2718346"/>
            <a:ext cx="2075931" cy="116205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294701" y="2965996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253937" y="47613"/>
                </a:moveTo>
                <a:moveTo>
                  <a:pt x="317421" y="111097"/>
                </a:moveTo>
                <a:moveTo>
                  <a:pt x="253937" y="174581"/>
                </a:moveTo>
                <a:moveTo>
                  <a:pt x="317421" y="111097"/>
                </a:moveTo>
                <a:lnTo>
                  <a:pt x="63484" y="111097"/>
                </a:lnTo>
                <a:moveTo>
                  <a:pt x="126968" y="333292"/>
                </a:moveTo>
                <a:moveTo>
                  <a:pt x="63484" y="269808"/>
                </a:moveTo>
                <a:moveTo>
                  <a:pt x="126968" y="206323"/>
                </a:moveTo>
                <a:moveTo>
                  <a:pt x="63484" y="269808"/>
                </a:moveTo>
                <a:lnTo>
                  <a:pt x="317421" y="269808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710994" y="3471773"/>
            <a:ext cx="1548318" cy="151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DMA Controller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42714" y="4108996"/>
            <a:ext cx="2075931" cy="116205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990227" y="4356646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190452" y="190452"/>
                </a:moveTo>
                <a:lnTo>
                  <a:pt x="190452" y="158710"/>
                </a:lnTo>
                <a:moveTo>
                  <a:pt x="190452" y="285679"/>
                </a:moveTo>
                <a:lnTo>
                  <a:pt x="190452" y="253937"/>
                </a:lnTo>
                <a:moveTo>
                  <a:pt x="253937" y="190452"/>
                </a:moveTo>
                <a:lnTo>
                  <a:pt x="253937" y="158710"/>
                </a:lnTo>
                <a:moveTo>
                  <a:pt x="253937" y="285679"/>
                </a:moveTo>
                <a:lnTo>
                  <a:pt x="253937" y="253937"/>
                </a:lnTo>
                <a:moveTo>
                  <a:pt x="31742" y="174581"/>
                </a:moveTo>
                <a:lnTo>
                  <a:pt x="55549" y="174581"/>
                </a:lnTo>
                <a:moveTo>
                  <a:pt x="317421" y="285679"/>
                </a:moveTo>
                <a:lnTo>
                  <a:pt x="317421" y="253937"/>
                </a:lnTo>
                <a:moveTo>
                  <a:pt x="325356" y="174581"/>
                </a:moveTo>
                <a:lnTo>
                  <a:pt x="349163" y="174581"/>
                </a:lnTo>
                <a:moveTo>
                  <a:pt x="63484" y="285679"/>
                </a:moveTo>
                <a:lnTo>
                  <a:pt x="63484" y="253937"/>
                </a:lnTo>
                <a:moveTo>
                  <a:pt x="126968" y="190452"/>
                </a:moveTo>
                <a:lnTo>
                  <a:pt x="126968" y="158710"/>
                </a:lnTo>
                <a:moveTo>
                  <a:pt x="126968" y="285679"/>
                </a:moveTo>
                <a:lnTo>
                  <a:pt x="126968" y="253937"/>
                </a:lnTo>
                <a:moveTo>
                  <a:pt x="63484" y="95226"/>
                </a:moveTo>
                <a:lnTo>
                  <a:pt x="317421" y="95226"/>
                </a:lnTo>
                <a:cubicBezTo>
                  <a:pt x="334940" y="95226"/>
                  <a:pt x="349163" y="109449"/>
                  <a:pt x="349163" y="126968"/>
                </a:cubicBezTo>
                <a:lnTo>
                  <a:pt x="349163" y="222194"/>
                </a:lnTo>
                <a:cubicBezTo>
                  <a:pt x="349163" y="239713"/>
                  <a:pt x="334940" y="253937"/>
                  <a:pt x="317421" y="253937"/>
                </a:cubicBezTo>
                <a:lnTo>
                  <a:pt x="63484" y="253937"/>
                </a:lnTo>
                <a:cubicBezTo>
                  <a:pt x="45965" y="253937"/>
                  <a:pt x="31742" y="239713"/>
                  <a:pt x="31742" y="222194"/>
                </a:cubicBezTo>
                <a:lnTo>
                  <a:pt x="31742" y="126968"/>
                </a:lnTo>
                <a:cubicBezTo>
                  <a:pt x="31742" y="109449"/>
                  <a:pt x="45965" y="95226"/>
                  <a:pt x="63484" y="95226"/>
                </a:cubicBezTo>
                <a:close/>
              </a:path>
            </a:pathLst>
          </a:cu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1817779" y="4862423"/>
            <a:ext cx="725802" cy="151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47188" y="4108996"/>
            <a:ext cx="2075931" cy="116205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294701" y="4356646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158710" y="253937"/>
                </a:moveTo>
                <a:lnTo>
                  <a:pt x="158869" y="253937"/>
                </a:lnTo>
                <a:moveTo>
                  <a:pt x="35107" y="183739"/>
                </a:moveTo>
                <a:cubicBezTo>
                  <a:pt x="32894" y="188153"/>
                  <a:pt x="31742" y="193022"/>
                  <a:pt x="31742" y="197959"/>
                </a:cubicBezTo>
                <a:lnTo>
                  <a:pt x="31742" y="285679"/>
                </a:lnTo>
                <a:cubicBezTo>
                  <a:pt x="31742" y="303197"/>
                  <a:pt x="45965" y="317421"/>
                  <a:pt x="63484" y="317421"/>
                </a:cubicBezTo>
                <a:lnTo>
                  <a:pt x="317421" y="317421"/>
                </a:lnTo>
                <a:cubicBezTo>
                  <a:pt x="334940" y="317421"/>
                  <a:pt x="349163" y="303197"/>
                  <a:pt x="349163" y="285679"/>
                </a:cubicBezTo>
                <a:lnTo>
                  <a:pt x="349163" y="197959"/>
                </a:lnTo>
                <a:cubicBezTo>
                  <a:pt x="349162" y="193022"/>
                  <a:pt x="348010" y="188153"/>
                  <a:pt x="345798" y="183739"/>
                </a:cubicBezTo>
                <a:lnTo>
                  <a:pt x="294408" y="81101"/>
                </a:lnTo>
                <a:cubicBezTo>
                  <a:pt x="289048" y="70314"/>
                  <a:pt x="278044" y="63491"/>
                  <a:pt x="265998" y="63484"/>
                </a:cubicBezTo>
                <a:lnTo>
                  <a:pt x="114906" y="63484"/>
                </a:lnTo>
                <a:cubicBezTo>
                  <a:pt x="102861" y="63491"/>
                  <a:pt x="91857" y="70314"/>
                  <a:pt x="86497" y="81101"/>
                </a:cubicBezTo>
                <a:close/>
                <a:moveTo>
                  <a:pt x="348306" y="190659"/>
                </a:moveTo>
                <a:lnTo>
                  <a:pt x="32599" y="190659"/>
                </a:lnTo>
                <a:moveTo>
                  <a:pt x="95226" y="253937"/>
                </a:moveTo>
                <a:lnTo>
                  <a:pt x="95385" y="253937"/>
                </a:lnTo>
              </a:path>
            </a:pathLst>
          </a:cu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040566" y="4862423"/>
            <a:ext cx="889026" cy="151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kern="0" spc="6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I/O Device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2085454" y="4813846"/>
            <a:ext cx="249492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0" name="Text 13"/>
          <p:cNvSpPr/>
          <p:nvPr/>
        </p:nvSpPr>
        <p:spPr>
          <a:xfrm>
            <a:off x="2275906" y="4893856"/>
            <a:ext cx="1281834" cy="3009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Data Transfer</a:t>
            </a:r>
            <a:endParaRPr lang="en-US" sz="1100" dirty="0"/>
          </a:p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Bypassing CPU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513471" y="1703040"/>
            <a:ext cx="457086" cy="4572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2" name="Shape 15"/>
          <p:cNvSpPr/>
          <p:nvPr/>
        </p:nvSpPr>
        <p:spPr>
          <a:xfrm>
            <a:off x="6627743" y="181734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52362" y="28568"/>
                </a:moveTo>
                <a:moveTo>
                  <a:pt x="190452" y="66658"/>
                </a:moveTo>
                <a:moveTo>
                  <a:pt x="152362" y="104749"/>
                </a:moveTo>
                <a:moveTo>
                  <a:pt x="190452" y="66658"/>
                </a:moveTo>
                <a:lnTo>
                  <a:pt x="38090" y="66658"/>
                </a:lnTo>
                <a:moveTo>
                  <a:pt x="76181" y="199975"/>
                </a:moveTo>
                <a:moveTo>
                  <a:pt x="38090" y="161885"/>
                </a:moveTo>
                <a:moveTo>
                  <a:pt x="76181" y="123794"/>
                </a:moveTo>
                <a:moveTo>
                  <a:pt x="38090" y="161885"/>
                </a:moveTo>
                <a:lnTo>
                  <a:pt x="190452" y="161885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161009" y="1712565"/>
            <a:ext cx="993031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it is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161009" y="2041178"/>
            <a:ext cx="4251700" cy="3571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 dedicated DMA controller handles data transfers between I/O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devices and memory—</a:t>
            </a: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bypassing the CPU</a:t>
            </a: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entirely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513471" y="2626965"/>
            <a:ext cx="457086" cy="4572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6" name="Shape 19"/>
          <p:cNvSpPr/>
          <p:nvPr/>
        </p:nvSpPr>
        <p:spPr>
          <a:xfrm>
            <a:off x="6627743" y="2741265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51543" y="38090"/>
                </a:moveTo>
                <a:cubicBezTo>
                  <a:pt x="153762" y="31802"/>
                  <a:pt x="151335" y="24815"/>
                  <a:pt x="145695" y="21257"/>
                </a:cubicBezTo>
                <a:cubicBezTo>
                  <a:pt x="140056" y="17698"/>
                  <a:pt x="132704" y="18516"/>
                  <a:pt x="127984" y="23226"/>
                </a:cubicBezTo>
                <a:lnTo>
                  <a:pt x="42280" y="108929"/>
                </a:lnTo>
                <a:cubicBezTo>
                  <a:pt x="38194" y="113013"/>
                  <a:pt x="36970" y="119157"/>
                  <a:pt x="39179" y="124495"/>
                </a:cubicBezTo>
                <a:cubicBezTo>
                  <a:pt x="41389" y="129834"/>
                  <a:pt x="46597" y="133315"/>
                  <a:pt x="52374" y="133317"/>
                </a:cubicBezTo>
                <a:lnTo>
                  <a:pt x="90484" y="133317"/>
                </a:lnTo>
                <a:cubicBezTo>
                  <a:pt x="92027" y="133319"/>
                  <a:pt x="93474" y="134069"/>
                  <a:pt x="94365" y="135329"/>
                </a:cubicBezTo>
                <a:cubicBezTo>
                  <a:pt x="95256" y="136589"/>
                  <a:pt x="95481" y="138203"/>
                  <a:pt x="94969" y="139659"/>
                </a:cubicBezTo>
                <a:lnTo>
                  <a:pt x="77000" y="190452"/>
                </a:lnTo>
                <a:cubicBezTo>
                  <a:pt x="74780" y="196743"/>
                  <a:pt x="77210" y="203733"/>
                  <a:pt x="82853" y="207290"/>
                </a:cubicBezTo>
                <a:cubicBezTo>
                  <a:pt x="88497" y="210847"/>
                  <a:pt x="95851" y="210024"/>
                  <a:pt x="100568" y="205308"/>
                </a:cubicBezTo>
                <a:lnTo>
                  <a:pt x="186272" y="119604"/>
                </a:lnTo>
                <a:cubicBezTo>
                  <a:pt x="190353" y="115518"/>
                  <a:pt x="191572" y="109376"/>
                  <a:pt x="189361" y="104041"/>
                </a:cubicBezTo>
                <a:cubicBezTo>
                  <a:pt x="187150" y="98706"/>
                  <a:pt x="181944" y="95227"/>
                  <a:pt x="176168" y="95226"/>
                </a:cubicBezTo>
                <a:lnTo>
                  <a:pt x="138107" y="95226"/>
                </a:lnTo>
                <a:cubicBezTo>
                  <a:pt x="136559" y="95228"/>
                  <a:pt x="135107" y="94478"/>
                  <a:pt x="134213" y="93215"/>
                </a:cubicBezTo>
                <a:cubicBezTo>
                  <a:pt x="133319" y="91952"/>
                  <a:pt x="133095" y="90333"/>
                  <a:pt x="133612" y="8887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161009" y="2636490"/>
            <a:ext cx="1595634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Why it matters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161009" y="2965103"/>
            <a:ext cx="4268365" cy="3571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Frees the CPU to do useful work instead of waiting during slow,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bulk transfers (e.g., disk reads)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513471" y="3550890"/>
            <a:ext cx="457086" cy="4572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0" name="Shape 23"/>
          <p:cNvSpPr/>
          <p:nvPr/>
        </p:nvSpPr>
        <p:spPr>
          <a:xfrm>
            <a:off x="6627743" y="366519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52362" y="66658"/>
                </a:moveTo>
                <a:lnTo>
                  <a:pt x="209498" y="66658"/>
                </a:lnTo>
                <a:lnTo>
                  <a:pt x="209498" y="123794"/>
                </a:lnTo>
                <a:moveTo>
                  <a:pt x="209498" y="66658"/>
                </a:moveTo>
                <a:moveTo>
                  <a:pt x="128555" y="147601"/>
                </a:moveTo>
                <a:moveTo>
                  <a:pt x="80942" y="99987"/>
                </a:moveTo>
                <a:lnTo>
                  <a:pt x="19045" y="161885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161009" y="3560415"/>
            <a:ext cx="1234965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Key benefit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7161009" y="3889028"/>
            <a:ext cx="4239351" cy="3571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Boosts system efficiency by </a:t>
            </a: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reducing CPU overhead</a:t>
            </a: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for large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data movements</a:t>
            </a:r>
            <a:endParaRPr lang="en-US" sz="12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13471" y="5063728"/>
            <a:ext cx="5066033" cy="12227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80105" y="5332333"/>
            <a:ext cx="115625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Think About It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780105" y="5583793"/>
            <a:ext cx="4506579" cy="4056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would happen if the CPU had to copy every byte from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 hard drive?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7" name="Shape 29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167312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Computer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95325"/>
            <a:ext cx="8580177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900" b="1" kern="0" spc="-8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From Single Core to Multicore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609448" y="1554361"/>
            <a:ext cx="9523" cy="200025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554361"/>
            <a:ext cx="10970057" cy="200025"/>
          </a:xfrm>
          <a:prstGeom prst="rect">
            <a:avLst/>
          </a:prstGeom>
          <a:noFill/>
        </p:spPr>
        <p:txBody>
          <a:bodyPr wrap="none" lIns="19050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This evolution enables true parallel processing capabilities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2320230"/>
            <a:ext cx="2856786" cy="24669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114045" y="2476440"/>
            <a:ext cx="161736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656936" y="2663130"/>
            <a:ext cx="761810" cy="762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1" name="Shape 8"/>
          <p:cNvSpPr/>
          <p:nvPr/>
        </p:nvSpPr>
        <p:spPr>
          <a:xfrm>
            <a:off x="1847388" y="2853630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190452" y="317421"/>
                </a:moveTo>
                <a:lnTo>
                  <a:pt x="190452" y="349163"/>
                </a:lnTo>
                <a:moveTo>
                  <a:pt x="190452" y="31742"/>
                </a:moveTo>
                <a:lnTo>
                  <a:pt x="190452" y="63484"/>
                </a:lnTo>
                <a:moveTo>
                  <a:pt x="269808" y="317421"/>
                </a:moveTo>
                <a:lnTo>
                  <a:pt x="269808" y="349163"/>
                </a:lnTo>
                <a:moveTo>
                  <a:pt x="269808" y="31742"/>
                </a:moveTo>
                <a:lnTo>
                  <a:pt x="269808" y="63484"/>
                </a:lnTo>
                <a:moveTo>
                  <a:pt x="31742" y="190452"/>
                </a:moveTo>
                <a:lnTo>
                  <a:pt x="63484" y="190452"/>
                </a:lnTo>
                <a:moveTo>
                  <a:pt x="31742" y="269808"/>
                </a:moveTo>
                <a:lnTo>
                  <a:pt x="63484" y="269808"/>
                </a:lnTo>
                <a:moveTo>
                  <a:pt x="31742" y="111097"/>
                </a:moveTo>
                <a:lnTo>
                  <a:pt x="63484" y="111097"/>
                </a:lnTo>
                <a:moveTo>
                  <a:pt x="317421" y="190452"/>
                </a:moveTo>
                <a:lnTo>
                  <a:pt x="349163" y="190452"/>
                </a:lnTo>
                <a:moveTo>
                  <a:pt x="317421" y="269808"/>
                </a:moveTo>
                <a:lnTo>
                  <a:pt x="349163" y="269808"/>
                </a:lnTo>
                <a:moveTo>
                  <a:pt x="317421" y="111097"/>
                </a:moveTo>
                <a:lnTo>
                  <a:pt x="349163" y="111097"/>
                </a:lnTo>
                <a:moveTo>
                  <a:pt x="111097" y="317421"/>
                </a:moveTo>
                <a:lnTo>
                  <a:pt x="111097" y="349163"/>
                </a:lnTo>
                <a:moveTo>
                  <a:pt x="111097" y="31742"/>
                </a:moveTo>
                <a:lnTo>
                  <a:pt x="111097" y="63484"/>
                </a:lnTo>
                <a:moveTo>
                  <a:pt x="95226" y="63484"/>
                </a:moveTo>
                <a:lnTo>
                  <a:pt x="285679" y="63484"/>
                </a:lnTo>
                <a:cubicBezTo>
                  <a:pt x="303197" y="63484"/>
                  <a:pt x="317421" y="77707"/>
                  <a:pt x="317421" y="95226"/>
                </a:cubicBezTo>
                <a:lnTo>
                  <a:pt x="317421" y="285679"/>
                </a:lnTo>
                <a:cubicBezTo>
                  <a:pt x="317421" y="303197"/>
                  <a:pt x="303197" y="317421"/>
                  <a:pt x="285679" y="317421"/>
                </a:cubicBezTo>
                <a:lnTo>
                  <a:pt x="95226" y="317421"/>
                </a:lnTo>
                <a:cubicBezTo>
                  <a:pt x="77707" y="317421"/>
                  <a:pt x="63484" y="303197"/>
                  <a:pt x="63484" y="285679"/>
                </a:cubicBezTo>
                <a:lnTo>
                  <a:pt x="63484" y="95226"/>
                </a:lnTo>
                <a:cubicBezTo>
                  <a:pt x="63484" y="77707"/>
                  <a:pt x="77707" y="63484"/>
                  <a:pt x="95226" y="63484"/>
                </a:cubicBezTo>
                <a:close/>
                <a:moveTo>
                  <a:pt x="142839" y="126968"/>
                </a:moveTo>
                <a:lnTo>
                  <a:pt x="238065" y="126968"/>
                </a:lnTo>
                <a:cubicBezTo>
                  <a:pt x="246825" y="126968"/>
                  <a:pt x="253937" y="134080"/>
                  <a:pt x="253937" y="142839"/>
                </a:cubicBezTo>
                <a:lnTo>
                  <a:pt x="253937" y="238065"/>
                </a:lnTo>
                <a:cubicBezTo>
                  <a:pt x="253937" y="246825"/>
                  <a:pt x="246825" y="253937"/>
                  <a:pt x="238065" y="253937"/>
                </a:cubicBezTo>
                <a:lnTo>
                  <a:pt x="142839" y="253937"/>
                </a:lnTo>
                <a:cubicBezTo>
                  <a:pt x="134080" y="253937"/>
                  <a:pt x="126968" y="246825"/>
                  <a:pt x="126968" y="238065"/>
                </a:cubicBezTo>
                <a:lnTo>
                  <a:pt x="126968" y="142839"/>
                </a:lnTo>
                <a:cubicBezTo>
                  <a:pt x="126968" y="134080"/>
                  <a:pt x="134080" y="126968"/>
                  <a:pt x="142839" y="126968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86880" y="3625155"/>
            <a:ext cx="1301772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Single-Core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94531" y="4049018"/>
            <a:ext cx="2286619" cy="3571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One processor</a:t>
            </a: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handling all tasks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sequentially in early systems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837615" y="3325118"/>
            <a:ext cx="457086" cy="457200"/>
          </a:xfrm>
          <a:custGeom>
            <a:avLst/>
            <a:gdLst/>
            <a:ahLst/>
            <a:cxnLst/>
            <a:rect l="l" t="t" r="r" b="b"/>
            <a:pathLst>
              <a:path w="457086" h="457200">
                <a:moveTo>
                  <a:pt x="95226" y="228543"/>
                </a:moveTo>
                <a:lnTo>
                  <a:pt x="361860" y="228543"/>
                </a:lnTo>
                <a:moveTo>
                  <a:pt x="228543" y="95226"/>
                </a:moveTo>
                <a:moveTo>
                  <a:pt x="361860" y="228543"/>
                </a:moveTo>
                <a:moveTo>
                  <a:pt x="228543" y="361860"/>
                </a:moveTo>
              </a:path>
            </a:pathLst>
          </a:custGeom>
          <a:noFill/>
          <a:ln w="28575">
            <a:solidFill>
              <a:srgbClr val="FF300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6083" y="2320230"/>
            <a:ext cx="2856786" cy="24669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0681" y="2476440"/>
            <a:ext cx="161736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713571" y="2663130"/>
            <a:ext cx="761810" cy="762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Shape 14"/>
          <p:cNvSpPr/>
          <p:nvPr/>
        </p:nvSpPr>
        <p:spPr>
          <a:xfrm>
            <a:off x="5904024" y="2853630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63484" y="31742"/>
                </a:moveTo>
                <a:lnTo>
                  <a:pt x="317421" y="31742"/>
                </a:lnTo>
                <a:cubicBezTo>
                  <a:pt x="334940" y="31742"/>
                  <a:pt x="349163" y="45965"/>
                  <a:pt x="349163" y="63484"/>
                </a:cubicBezTo>
                <a:lnTo>
                  <a:pt x="349163" y="126968"/>
                </a:lnTo>
                <a:cubicBezTo>
                  <a:pt x="349163" y="144487"/>
                  <a:pt x="334940" y="158710"/>
                  <a:pt x="317421" y="158710"/>
                </a:cubicBezTo>
                <a:lnTo>
                  <a:pt x="63484" y="158710"/>
                </a:lnTo>
                <a:cubicBezTo>
                  <a:pt x="45965" y="158710"/>
                  <a:pt x="31742" y="144487"/>
                  <a:pt x="31742" y="126968"/>
                </a:cubicBezTo>
                <a:lnTo>
                  <a:pt x="31742" y="63484"/>
                </a:lnTo>
                <a:cubicBezTo>
                  <a:pt x="31742" y="45965"/>
                  <a:pt x="45965" y="31742"/>
                  <a:pt x="63484" y="31742"/>
                </a:cubicBezTo>
                <a:close/>
                <a:moveTo>
                  <a:pt x="63484" y="222194"/>
                </a:moveTo>
                <a:lnTo>
                  <a:pt x="317421" y="222194"/>
                </a:lnTo>
                <a:cubicBezTo>
                  <a:pt x="334940" y="222194"/>
                  <a:pt x="349163" y="236418"/>
                  <a:pt x="349163" y="253937"/>
                </a:cubicBezTo>
                <a:lnTo>
                  <a:pt x="349163" y="317421"/>
                </a:lnTo>
                <a:cubicBezTo>
                  <a:pt x="349163" y="334940"/>
                  <a:pt x="334940" y="349163"/>
                  <a:pt x="317421" y="349163"/>
                </a:cubicBezTo>
                <a:lnTo>
                  <a:pt x="63484" y="349163"/>
                </a:lnTo>
                <a:cubicBezTo>
                  <a:pt x="45965" y="349163"/>
                  <a:pt x="31742" y="334940"/>
                  <a:pt x="31742" y="317421"/>
                </a:cubicBezTo>
                <a:lnTo>
                  <a:pt x="31742" y="253937"/>
                </a:lnTo>
                <a:cubicBezTo>
                  <a:pt x="31742" y="236418"/>
                  <a:pt x="45965" y="222194"/>
                  <a:pt x="63484" y="222194"/>
                </a:cubicBezTo>
                <a:close/>
                <a:moveTo>
                  <a:pt x="95226" y="95226"/>
                </a:moveTo>
                <a:lnTo>
                  <a:pt x="95385" y="95226"/>
                </a:lnTo>
                <a:moveTo>
                  <a:pt x="95226" y="285679"/>
                </a:moveTo>
                <a:lnTo>
                  <a:pt x="95385" y="285679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90930" y="3625155"/>
            <a:ext cx="407092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SMP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083888" y="4049018"/>
            <a:ext cx="2021176" cy="3571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Multiple processors</a:t>
            </a: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sharing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memory, managed by one OS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894251" y="3325118"/>
            <a:ext cx="457086" cy="457200"/>
          </a:xfrm>
          <a:custGeom>
            <a:avLst/>
            <a:gdLst/>
            <a:ahLst/>
            <a:cxnLst/>
            <a:rect l="l" t="t" r="r" b="b"/>
            <a:pathLst>
              <a:path w="457086" h="457200">
                <a:moveTo>
                  <a:pt x="95226" y="228543"/>
                </a:moveTo>
                <a:lnTo>
                  <a:pt x="361860" y="228543"/>
                </a:lnTo>
                <a:moveTo>
                  <a:pt x="228543" y="95226"/>
                </a:moveTo>
                <a:moveTo>
                  <a:pt x="361860" y="228543"/>
                </a:moveTo>
                <a:moveTo>
                  <a:pt x="228543" y="361860"/>
                </a:moveTo>
              </a:path>
            </a:pathLst>
          </a:custGeom>
          <a:noFill/>
          <a:ln w="28575">
            <a:solidFill>
              <a:srgbClr val="FF3000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2719" y="2320230"/>
            <a:ext cx="2856786" cy="246697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227316" y="2476440"/>
            <a:ext cx="161736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770207" y="2663130"/>
            <a:ext cx="761810" cy="762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5" name="Shape 20"/>
          <p:cNvSpPr/>
          <p:nvPr/>
        </p:nvSpPr>
        <p:spPr>
          <a:xfrm>
            <a:off x="9960659" y="2853630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203625" y="34599"/>
                </a:moveTo>
                <a:cubicBezTo>
                  <a:pt x="195258" y="30782"/>
                  <a:pt x="185647" y="30782"/>
                  <a:pt x="177279" y="34599"/>
                </a:cubicBezTo>
                <a:lnTo>
                  <a:pt x="41265" y="96496"/>
                </a:lnTo>
                <a:cubicBezTo>
                  <a:pt x="35510" y="99033"/>
                  <a:pt x="31797" y="104729"/>
                  <a:pt x="31797" y="111018"/>
                </a:cubicBezTo>
                <a:cubicBezTo>
                  <a:pt x="31797" y="117307"/>
                  <a:pt x="35510" y="123003"/>
                  <a:pt x="41265" y="125540"/>
                </a:cubicBezTo>
                <a:lnTo>
                  <a:pt x="177438" y="187596"/>
                </a:lnTo>
                <a:cubicBezTo>
                  <a:pt x="185805" y="191412"/>
                  <a:pt x="195417" y="191412"/>
                  <a:pt x="203784" y="187596"/>
                </a:cubicBezTo>
                <a:lnTo>
                  <a:pt x="339957" y="125699"/>
                </a:lnTo>
                <a:cubicBezTo>
                  <a:pt x="345712" y="123161"/>
                  <a:pt x="349425" y="117466"/>
                  <a:pt x="349425" y="111177"/>
                </a:cubicBezTo>
                <a:cubicBezTo>
                  <a:pt x="349425" y="104888"/>
                  <a:pt x="345712" y="99192"/>
                  <a:pt x="339957" y="96655"/>
                </a:cubicBezTo>
                <a:close/>
                <a:moveTo>
                  <a:pt x="31742" y="190452"/>
                </a:moveTo>
                <a:cubicBezTo>
                  <a:pt x="31727" y="196651"/>
                  <a:pt x="35322" y="202292"/>
                  <a:pt x="40947" y="204895"/>
                </a:cubicBezTo>
                <a:lnTo>
                  <a:pt x="177438" y="266951"/>
                </a:lnTo>
                <a:cubicBezTo>
                  <a:pt x="185760" y="270719"/>
                  <a:pt x="195303" y="270719"/>
                  <a:pt x="203625" y="266951"/>
                </a:cubicBezTo>
                <a:lnTo>
                  <a:pt x="339799" y="205054"/>
                </a:lnTo>
                <a:cubicBezTo>
                  <a:pt x="345539" y="202474"/>
                  <a:pt x="349212" y="196746"/>
                  <a:pt x="349163" y="190452"/>
                </a:cubicBezTo>
                <a:moveTo>
                  <a:pt x="31742" y="269808"/>
                </a:moveTo>
                <a:cubicBezTo>
                  <a:pt x="31727" y="276006"/>
                  <a:pt x="35322" y="281647"/>
                  <a:pt x="40947" y="284250"/>
                </a:cubicBezTo>
                <a:lnTo>
                  <a:pt x="177438" y="346306"/>
                </a:lnTo>
                <a:cubicBezTo>
                  <a:pt x="185760" y="350074"/>
                  <a:pt x="195303" y="350074"/>
                  <a:pt x="203625" y="346306"/>
                </a:cubicBezTo>
                <a:lnTo>
                  <a:pt x="339799" y="284409"/>
                </a:lnTo>
                <a:cubicBezTo>
                  <a:pt x="345539" y="281829"/>
                  <a:pt x="349212" y="276101"/>
                  <a:pt x="349163" y="269808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600734" y="3625155"/>
            <a:ext cx="1100755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Multicore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9067170" y="4049018"/>
            <a:ext cx="2167884" cy="3571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Multiple cores</a:t>
            </a: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on a single chip,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each acting independently</a:t>
            </a:r>
            <a:endParaRPr lang="en-US" sz="12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5467350"/>
            <a:ext cx="10970057" cy="100965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85629" y="5543550"/>
            <a:ext cx="76181" cy="93345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30" name="Text 24"/>
          <p:cNvSpPr/>
          <p:nvPr/>
        </p:nvSpPr>
        <p:spPr>
          <a:xfrm>
            <a:off x="1028443" y="5735955"/>
            <a:ext cx="1665417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Discussion Question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28443" y="6000750"/>
            <a:ext cx="6151017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might software need to change to take advantage of multiple cores?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10904589" y="5057775"/>
            <a:ext cx="674916" cy="14954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0" b="1" kern="0" spc="-520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</a:t>
            </a:r>
            <a:endParaRPr lang="en-US" sz="10500" dirty="0"/>
          </a:p>
        </p:txBody>
      </p:sp>
      <p:sp>
        <p:nvSpPr>
          <p:cNvPr id="33" name="Shape 27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4" name="Shape 28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485802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RECAP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38064" y="421005"/>
            <a:ext cx="3167312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· Computer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95325"/>
            <a:ext cx="7583576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Recap &amp; Discussion Questions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436340"/>
            <a:ext cx="10970057" cy="24061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443" y="2258318"/>
            <a:ext cx="69411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400" b="1" kern="0" spc="-27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01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2285429" y="1932563"/>
            <a:ext cx="4064373" cy="2828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 Hierarchy &amp; Cache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2285429" y="2439293"/>
            <a:ext cx="5830670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Faster, smaller caches exploit </a:t>
            </a: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locality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to bridge the CPU-memory speed gap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5429" y="2786955"/>
            <a:ext cx="8875081" cy="5715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13971" y="2939355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22219" y="133317"/>
                </a:moveTo>
                <a:cubicBezTo>
                  <a:pt x="22219" y="72000"/>
                  <a:pt x="72000" y="22219"/>
                  <a:pt x="133317" y="22219"/>
                </a:cubicBezTo>
                <a:cubicBezTo>
                  <a:pt x="194633" y="22219"/>
                  <a:pt x="244414" y="72000"/>
                  <a:pt x="244414" y="133317"/>
                </a:cubicBezTo>
                <a:cubicBezTo>
                  <a:pt x="244414" y="194633"/>
                  <a:pt x="194633" y="244414"/>
                  <a:pt x="133317" y="244414"/>
                </a:cubicBezTo>
                <a:cubicBezTo>
                  <a:pt x="72000" y="244414"/>
                  <a:pt x="22219" y="194633"/>
                  <a:pt x="22219" y="133317"/>
                </a:cubicBezTo>
                <a:close/>
                <a:moveTo>
                  <a:pt x="100987" y="99987"/>
                </a:moveTo>
                <a:cubicBezTo>
                  <a:pt x="106380" y="84657"/>
                  <a:pt x="122045" y="75451"/>
                  <a:pt x="138062" y="78198"/>
                </a:cubicBezTo>
                <a:cubicBezTo>
                  <a:pt x="154080" y="80946"/>
                  <a:pt x="165781" y="94845"/>
                  <a:pt x="165757" y="111097"/>
                </a:cubicBezTo>
                <a:cubicBezTo>
                  <a:pt x="165757" y="133317"/>
                  <a:pt x="132428" y="144426"/>
                  <a:pt x="132428" y="144426"/>
                </a:cubicBezTo>
                <a:moveTo>
                  <a:pt x="133317" y="188865"/>
                </a:moveTo>
                <a:lnTo>
                  <a:pt x="133428" y="188865"/>
                </a:lnTo>
              </a:path>
            </a:pathLst>
          </a:custGeom>
          <a:noFill/>
          <a:ln w="23813">
            <a:solidFill>
              <a:srgbClr val="FF3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32967" y="3001268"/>
            <a:ext cx="3814999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Why can't we just use all cache instead of DRAM?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4071045"/>
            <a:ext cx="10970057" cy="24061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8443" y="4893022"/>
            <a:ext cx="69411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400" b="1" kern="0" spc="-27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5400" dirty="0"/>
          </a:p>
        </p:txBody>
      </p:sp>
      <p:sp>
        <p:nvSpPr>
          <p:cNvPr id="15" name="Text 10"/>
          <p:cNvSpPr/>
          <p:nvPr/>
        </p:nvSpPr>
        <p:spPr>
          <a:xfrm>
            <a:off x="2285429" y="4567267"/>
            <a:ext cx="2463085" cy="2828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DMA &amp; Multicore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2285429" y="5073997"/>
            <a:ext cx="6001928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DMA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frees CPU from I/O data copying; </a:t>
            </a: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Multicore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chips enable parallel threads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5429" y="5421660"/>
            <a:ext cx="8875081" cy="5715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513971" y="5574060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22219" y="133317"/>
                </a:moveTo>
                <a:cubicBezTo>
                  <a:pt x="22219" y="72000"/>
                  <a:pt x="72000" y="22219"/>
                  <a:pt x="133317" y="22219"/>
                </a:cubicBezTo>
                <a:cubicBezTo>
                  <a:pt x="194633" y="22219"/>
                  <a:pt x="244414" y="72000"/>
                  <a:pt x="244414" y="133317"/>
                </a:cubicBezTo>
                <a:cubicBezTo>
                  <a:pt x="244414" y="194633"/>
                  <a:pt x="194633" y="244414"/>
                  <a:pt x="133317" y="244414"/>
                </a:cubicBezTo>
                <a:cubicBezTo>
                  <a:pt x="72000" y="244414"/>
                  <a:pt x="22219" y="194633"/>
                  <a:pt x="22219" y="133317"/>
                </a:cubicBezTo>
                <a:close/>
                <a:moveTo>
                  <a:pt x="100987" y="99987"/>
                </a:moveTo>
                <a:cubicBezTo>
                  <a:pt x="106380" y="84657"/>
                  <a:pt x="122045" y="75451"/>
                  <a:pt x="138062" y="78198"/>
                </a:cubicBezTo>
                <a:cubicBezTo>
                  <a:pt x="154080" y="80946"/>
                  <a:pt x="165781" y="94845"/>
                  <a:pt x="165757" y="111097"/>
                </a:cubicBezTo>
                <a:cubicBezTo>
                  <a:pt x="165757" y="133317"/>
                  <a:pt x="132428" y="144426"/>
                  <a:pt x="132428" y="144426"/>
                </a:cubicBezTo>
                <a:moveTo>
                  <a:pt x="133317" y="188865"/>
                </a:moveTo>
                <a:lnTo>
                  <a:pt x="133428" y="188865"/>
                </a:lnTo>
              </a:path>
            </a:pathLst>
          </a:custGeom>
          <a:noFill/>
          <a:ln w="23813">
            <a:solidFill>
              <a:srgbClr val="FF300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932967" y="5635972"/>
            <a:ext cx="4925277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might DMA and multicore features interact in a real system?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0107069" y="5381625"/>
            <a:ext cx="698127" cy="1276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?</a:t>
            </a:r>
            <a:endParaRPr lang="en-US" sz="9000" dirty="0"/>
          </a:p>
        </p:txBody>
      </p:sp>
      <p:sp>
        <p:nvSpPr>
          <p:cNvPr id="21" name="Text 15"/>
          <p:cNvSpPr/>
          <p:nvPr/>
        </p:nvSpPr>
        <p:spPr>
          <a:xfrm>
            <a:off x="10881377" y="5381625"/>
            <a:ext cx="698127" cy="1276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?</a:t>
            </a:r>
            <a:endParaRPr lang="en-US" sz="9000" dirty="0"/>
          </a:p>
        </p:txBody>
      </p:sp>
      <p:sp>
        <p:nvSpPr>
          <p:cNvPr id="22" name="Shape 16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3" name="Shape 17"/>
          <p:cNvSpPr/>
          <p:nvPr/>
        </p:nvSpPr>
        <p:spPr>
          <a:xfrm>
            <a:off x="0" y="6819900"/>
            <a:ext cx="3656686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5610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704850"/>
            <a:ext cx="8131572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900" b="1" kern="0" spc="-8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is an Operating System?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609448" y="1339155"/>
            <a:ext cx="9523" cy="200025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339155"/>
            <a:ext cx="10970057" cy="200025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Two fundamental roles that define every OS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843980"/>
            <a:ext cx="6563316" cy="22212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52262" y="2148780"/>
            <a:ext cx="685629" cy="6858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Shape 7"/>
          <p:cNvSpPr/>
          <p:nvPr/>
        </p:nvSpPr>
        <p:spPr>
          <a:xfrm>
            <a:off x="1123669" y="2320230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183263" y="31139"/>
                </a:moveTo>
                <a:cubicBezTo>
                  <a:pt x="175732" y="27704"/>
                  <a:pt x="167082" y="27704"/>
                  <a:pt x="159551" y="31139"/>
                </a:cubicBezTo>
                <a:lnTo>
                  <a:pt x="37138" y="86846"/>
                </a:lnTo>
                <a:cubicBezTo>
                  <a:pt x="31959" y="89130"/>
                  <a:pt x="28617" y="94256"/>
                  <a:pt x="28617" y="99916"/>
                </a:cubicBezTo>
                <a:cubicBezTo>
                  <a:pt x="28617" y="105576"/>
                  <a:pt x="31959" y="110702"/>
                  <a:pt x="37138" y="112986"/>
                </a:cubicBezTo>
                <a:lnTo>
                  <a:pt x="159694" y="168836"/>
                </a:lnTo>
                <a:cubicBezTo>
                  <a:pt x="167225" y="172271"/>
                  <a:pt x="175875" y="172271"/>
                  <a:pt x="183406" y="168836"/>
                </a:cubicBezTo>
                <a:lnTo>
                  <a:pt x="305962" y="113129"/>
                </a:lnTo>
                <a:cubicBezTo>
                  <a:pt x="311141" y="110845"/>
                  <a:pt x="314483" y="105719"/>
                  <a:pt x="314483" y="100059"/>
                </a:cubicBezTo>
                <a:cubicBezTo>
                  <a:pt x="314483" y="94399"/>
                  <a:pt x="311141" y="89273"/>
                  <a:pt x="305962" y="86989"/>
                </a:cubicBezTo>
                <a:close/>
                <a:moveTo>
                  <a:pt x="28568" y="171407"/>
                </a:moveTo>
                <a:cubicBezTo>
                  <a:pt x="28554" y="176986"/>
                  <a:pt x="31790" y="182062"/>
                  <a:pt x="36853" y="184406"/>
                </a:cubicBezTo>
                <a:lnTo>
                  <a:pt x="159694" y="240256"/>
                </a:lnTo>
                <a:cubicBezTo>
                  <a:pt x="167184" y="243647"/>
                  <a:pt x="175773" y="243647"/>
                  <a:pt x="183263" y="240256"/>
                </a:cubicBezTo>
                <a:lnTo>
                  <a:pt x="305819" y="184548"/>
                </a:lnTo>
                <a:cubicBezTo>
                  <a:pt x="310985" y="182226"/>
                  <a:pt x="314291" y="177071"/>
                  <a:pt x="314246" y="171407"/>
                </a:cubicBezTo>
                <a:moveTo>
                  <a:pt x="28568" y="242827"/>
                </a:moveTo>
                <a:cubicBezTo>
                  <a:pt x="28554" y="248406"/>
                  <a:pt x="31790" y="253482"/>
                  <a:pt x="36853" y="255825"/>
                </a:cubicBezTo>
                <a:lnTo>
                  <a:pt x="159694" y="311675"/>
                </a:lnTo>
                <a:cubicBezTo>
                  <a:pt x="167184" y="315067"/>
                  <a:pt x="175773" y="315067"/>
                  <a:pt x="183263" y="311675"/>
                </a:cubicBezTo>
                <a:lnTo>
                  <a:pt x="305819" y="255968"/>
                </a:lnTo>
                <a:cubicBezTo>
                  <a:pt x="310985" y="253646"/>
                  <a:pt x="314291" y="248491"/>
                  <a:pt x="314246" y="242827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66433" y="2154495"/>
            <a:ext cx="2711566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Resource Manager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866433" y="2634555"/>
            <a:ext cx="4792109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Allocates </a:t>
            </a: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CPU time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, </a:t>
            </a: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, </a:t>
            </a: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disk space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, and </a:t>
            </a: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I/O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devices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fairly and efficiently among competing programs</a:t>
            </a: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4255740"/>
            <a:ext cx="6563316" cy="22212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52262" y="4560540"/>
            <a:ext cx="685629" cy="6858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5" name="Shape 11"/>
          <p:cNvSpPr/>
          <p:nvPr/>
        </p:nvSpPr>
        <p:spPr>
          <a:xfrm>
            <a:off x="1123669" y="4731990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285679" y="185691"/>
                </a:moveTo>
                <a:cubicBezTo>
                  <a:pt x="285679" y="257111"/>
                  <a:pt x="235685" y="292821"/>
                  <a:pt x="176264" y="313532"/>
                </a:cubicBezTo>
                <a:cubicBezTo>
                  <a:pt x="173152" y="314587"/>
                  <a:pt x="169772" y="314536"/>
                  <a:pt x="166693" y="313389"/>
                </a:cubicBezTo>
                <a:cubicBezTo>
                  <a:pt x="107129" y="292821"/>
                  <a:pt x="57136" y="257111"/>
                  <a:pt x="57136" y="185691"/>
                </a:cubicBezTo>
                <a:lnTo>
                  <a:pt x="57136" y="85704"/>
                </a:lnTo>
                <a:cubicBezTo>
                  <a:pt x="57136" y="77820"/>
                  <a:pt x="63536" y="71420"/>
                  <a:pt x="71420" y="71420"/>
                </a:cubicBezTo>
                <a:cubicBezTo>
                  <a:pt x="99987" y="71420"/>
                  <a:pt x="135697" y="54279"/>
                  <a:pt x="160551" y="32567"/>
                </a:cubicBezTo>
                <a:cubicBezTo>
                  <a:pt x="166803" y="27226"/>
                  <a:pt x="176011" y="27226"/>
                  <a:pt x="182263" y="32567"/>
                </a:cubicBezTo>
                <a:cubicBezTo>
                  <a:pt x="207260" y="54422"/>
                  <a:pt x="242827" y="71420"/>
                  <a:pt x="271395" y="71420"/>
                </a:cubicBezTo>
                <a:cubicBezTo>
                  <a:pt x="279278" y="71420"/>
                  <a:pt x="285679" y="77820"/>
                  <a:pt x="285679" y="85704"/>
                </a:cubicBezTo>
                <a:close/>
                <a:moveTo>
                  <a:pt x="128555" y="171407"/>
                </a:moveTo>
                <a:moveTo>
                  <a:pt x="157123" y="199975"/>
                </a:moveTo>
                <a:moveTo>
                  <a:pt x="214259" y="142839"/>
                </a:move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66433" y="4566255"/>
            <a:ext cx="2544176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Control Program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866433" y="5046315"/>
            <a:ext cx="4859065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Supervises execution of user programs to </a:t>
            </a: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prevent errors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and manage hardware access safely</a:t>
            </a:r>
            <a:endParaRPr lang="en-US" sz="15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77488" y="1843980"/>
            <a:ext cx="4102017" cy="46330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20302" y="2343090"/>
            <a:ext cx="1292993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Think About It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10779604" y="2186880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1" name="Shape 16"/>
          <p:cNvSpPr/>
          <p:nvPr/>
        </p:nvSpPr>
        <p:spPr>
          <a:xfrm>
            <a:off x="10874831" y="2282130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22219" y="133317"/>
                </a:moveTo>
                <a:cubicBezTo>
                  <a:pt x="22219" y="72000"/>
                  <a:pt x="72000" y="22219"/>
                  <a:pt x="133317" y="22219"/>
                </a:cubicBezTo>
                <a:cubicBezTo>
                  <a:pt x="194633" y="22219"/>
                  <a:pt x="244414" y="72000"/>
                  <a:pt x="244414" y="133317"/>
                </a:cubicBezTo>
                <a:cubicBezTo>
                  <a:pt x="244414" y="194633"/>
                  <a:pt x="194633" y="244414"/>
                  <a:pt x="133317" y="244414"/>
                </a:cubicBezTo>
                <a:cubicBezTo>
                  <a:pt x="72000" y="244414"/>
                  <a:pt x="22219" y="194633"/>
                  <a:pt x="22219" y="133317"/>
                </a:cubicBezTo>
                <a:close/>
                <a:moveTo>
                  <a:pt x="100987" y="99987"/>
                </a:moveTo>
                <a:cubicBezTo>
                  <a:pt x="106380" y="84657"/>
                  <a:pt x="122045" y="75451"/>
                  <a:pt x="138062" y="78198"/>
                </a:cubicBezTo>
                <a:cubicBezTo>
                  <a:pt x="154080" y="80946"/>
                  <a:pt x="165781" y="94845"/>
                  <a:pt x="165757" y="111097"/>
                </a:cubicBezTo>
                <a:cubicBezTo>
                  <a:pt x="165757" y="133317"/>
                  <a:pt x="132428" y="144426"/>
                  <a:pt x="132428" y="144426"/>
                </a:cubicBezTo>
                <a:moveTo>
                  <a:pt x="133317" y="188865"/>
                </a:moveTo>
                <a:lnTo>
                  <a:pt x="133428" y="188865"/>
                </a:lnTo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820302" y="4089053"/>
            <a:ext cx="3410734" cy="8286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would happen if</a:t>
            </a:r>
            <a:endParaRPr lang="en-US" sz="1700" dirty="0"/>
          </a:p>
          <a:p>
            <a:pPr marL="0" indent="0">
              <a:buNone/>
            </a:pPr>
            <a:r>
              <a:rPr lang="en-US" sz="1700" b="1" i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applications could directly control</a:t>
            </a:r>
            <a:endParaRPr lang="en-US" sz="1700" dirty="0"/>
          </a:p>
          <a:p>
            <a:pPr marL="0" indent="0">
              <a:buNone/>
            </a:pPr>
            <a:r>
              <a:rPr lang="en-US" sz="1700" b="1" i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hardware without an OS?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10808321" y="4476750"/>
            <a:ext cx="771183" cy="1704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0" b="1" kern="0" spc="-600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2</a:t>
            </a:r>
            <a:endParaRPr lang="en-US" sz="12000" dirty="0"/>
          </a:p>
        </p:txBody>
      </p:sp>
      <p:sp>
        <p:nvSpPr>
          <p:cNvPr id="24" name="Shape 19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5" name="Shape 20"/>
          <p:cNvSpPr/>
          <p:nvPr/>
        </p:nvSpPr>
        <p:spPr>
          <a:xfrm>
            <a:off x="0" y="6819900"/>
            <a:ext cx="3656686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972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809625"/>
            <a:ext cx="4966194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Core OS Objectives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448" y="1443960"/>
            <a:ext cx="424932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Every operating system aims to balance three key goals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448" y="3084165"/>
            <a:ext cx="10970057" cy="1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448" y="2207865"/>
            <a:ext cx="617036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00" b="1" kern="0" spc="-2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01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675981" y="2245965"/>
            <a:ext cx="609448" cy="60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Shape 8"/>
          <p:cNvSpPr/>
          <p:nvPr/>
        </p:nvSpPr>
        <p:spPr>
          <a:xfrm>
            <a:off x="1828343" y="2398365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90452" y="126968"/>
                </a:moveTo>
                <a:lnTo>
                  <a:pt x="190452" y="114271"/>
                </a:lnTo>
                <a:moveTo>
                  <a:pt x="209142" y="190452"/>
                </a:moveTo>
                <a:cubicBezTo>
                  <a:pt x="194690" y="206605"/>
                  <a:pt x="174042" y="215837"/>
                  <a:pt x="152368" y="215837"/>
                </a:cubicBezTo>
                <a:cubicBezTo>
                  <a:pt x="130694" y="215837"/>
                  <a:pt x="110046" y="206605"/>
                  <a:pt x="95594" y="190452"/>
                </a:cubicBezTo>
                <a:moveTo>
                  <a:pt x="114271" y="126968"/>
                </a:moveTo>
                <a:lnTo>
                  <a:pt x="114271" y="114271"/>
                </a:lnTo>
                <a:moveTo>
                  <a:pt x="25394" y="152362"/>
                </a:moveTo>
                <a:cubicBezTo>
                  <a:pt x="25394" y="82286"/>
                  <a:pt x="82286" y="25394"/>
                  <a:pt x="152362" y="25394"/>
                </a:cubicBezTo>
                <a:cubicBezTo>
                  <a:pt x="222438" y="25394"/>
                  <a:pt x="279330" y="82286"/>
                  <a:pt x="279330" y="152362"/>
                </a:cubicBezTo>
                <a:cubicBezTo>
                  <a:pt x="279330" y="222438"/>
                  <a:pt x="222438" y="279330"/>
                  <a:pt x="152362" y="279330"/>
                </a:cubicBezTo>
                <a:cubicBezTo>
                  <a:pt x="82286" y="279330"/>
                  <a:pt x="25394" y="222438"/>
                  <a:pt x="25394" y="152362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5881" y="2385983"/>
            <a:ext cx="2168032" cy="3314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Convenience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80305" y="2341215"/>
            <a:ext cx="6161581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Making the computer easy to use through clean abstractions and intuitive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interfaces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448" y="4360515"/>
            <a:ext cx="10970057" cy="1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448" y="3484215"/>
            <a:ext cx="617036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00" b="1" kern="0" spc="-2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1675981" y="3522315"/>
            <a:ext cx="609448" cy="60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6" name="Shape 14"/>
          <p:cNvSpPr/>
          <p:nvPr/>
        </p:nvSpPr>
        <p:spPr>
          <a:xfrm>
            <a:off x="1828343" y="3674715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52362" y="177756"/>
                </a:moveTo>
                <a:moveTo>
                  <a:pt x="203149" y="126968"/>
                </a:moveTo>
                <a:moveTo>
                  <a:pt x="42407" y="241240"/>
                </a:moveTo>
                <a:cubicBezTo>
                  <a:pt x="11595" y="187878"/>
                  <a:pt x="23545" y="120096"/>
                  <a:pt x="70747" y="80488"/>
                </a:cubicBezTo>
                <a:cubicBezTo>
                  <a:pt x="117948" y="40880"/>
                  <a:pt x="186775" y="40880"/>
                  <a:pt x="233977" y="80488"/>
                </a:cubicBezTo>
                <a:cubicBezTo>
                  <a:pt x="281179" y="120096"/>
                  <a:pt x="293128" y="187878"/>
                  <a:pt x="262316" y="241240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75881" y="3662333"/>
            <a:ext cx="1750674" cy="3314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Efficiency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180305" y="3760440"/>
            <a:ext cx="5521185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Maximizing resource utilization (CPU, memory, I/O) without waste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448" y="4760565"/>
            <a:ext cx="617036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00" b="1" kern="0" spc="-2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1675981" y="4798665"/>
            <a:ext cx="609448" cy="60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1" name="Shape 19"/>
          <p:cNvSpPr/>
          <p:nvPr/>
        </p:nvSpPr>
        <p:spPr>
          <a:xfrm>
            <a:off x="1828343" y="4951065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25394" y="152362"/>
                </a:moveTo>
                <a:cubicBezTo>
                  <a:pt x="25394" y="82286"/>
                  <a:pt x="82286" y="25394"/>
                  <a:pt x="152362" y="25394"/>
                </a:cubicBezTo>
                <a:cubicBezTo>
                  <a:pt x="222438" y="25394"/>
                  <a:pt x="279330" y="82286"/>
                  <a:pt x="279330" y="152362"/>
                </a:cubicBezTo>
                <a:cubicBezTo>
                  <a:pt x="279330" y="222438"/>
                  <a:pt x="222438" y="279330"/>
                  <a:pt x="152362" y="279330"/>
                </a:cubicBezTo>
                <a:cubicBezTo>
                  <a:pt x="82286" y="279330"/>
                  <a:pt x="25394" y="222438"/>
                  <a:pt x="25394" y="152362"/>
                </a:cubicBezTo>
                <a:close/>
                <a:moveTo>
                  <a:pt x="203149" y="152362"/>
                </a:moveTo>
                <a:moveTo>
                  <a:pt x="152362" y="101575"/>
                </a:moveTo>
                <a:moveTo>
                  <a:pt x="101575" y="152362"/>
                </a:moveTo>
                <a:moveTo>
                  <a:pt x="152362" y="203149"/>
                </a:moveTo>
                <a:lnTo>
                  <a:pt x="152362" y="101575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75881" y="4938683"/>
            <a:ext cx="2099589" cy="3314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Evolvability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80305" y="4893915"/>
            <a:ext cx="6044929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Allowing the system to adapt and grow with new hardware and software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needs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09448" y="5636865"/>
            <a:ext cx="10970057" cy="104388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5" name="Shape 23"/>
          <p:cNvSpPr/>
          <p:nvPr/>
        </p:nvSpPr>
        <p:spPr>
          <a:xfrm>
            <a:off x="990352" y="5930205"/>
            <a:ext cx="457086" cy="457200"/>
          </a:xfrm>
          <a:custGeom>
            <a:avLst/>
            <a:gdLst/>
            <a:ahLst/>
            <a:cxnLst/>
            <a:rect l="l" t="t" r="r" b="b"/>
            <a:pathLst>
              <a:path w="457086" h="457200">
                <a:moveTo>
                  <a:pt x="38090" y="228543"/>
                </a:moveTo>
                <a:cubicBezTo>
                  <a:pt x="38090" y="123429"/>
                  <a:pt x="123429" y="38090"/>
                  <a:pt x="228543" y="38090"/>
                </a:cubicBezTo>
                <a:cubicBezTo>
                  <a:pt x="333656" y="38090"/>
                  <a:pt x="418995" y="123429"/>
                  <a:pt x="418995" y="228543"/>
                </a:cubicBezTo>
                <a:cubicBezTo>
                  <a:pt x="418995" y="333656"/>
                  <a:pt x="333656" y="418995"/>
                  <a:pt x="228543" y="418995"/>
                </a:cubicBezTo>
                <a:cubicBezTo>
                  <a:pt x="123429" y="418995"/>
                  <a:pt x="38090" y="333656"/>
                  <a:pt x="38090" y="228543"/>
                </a:cubicBezTo>
                <a:close/>
                <a:moveTo>
                  <a:pt x="173121" y="171407"/>
                </a:moveTo>
                <a:cubicBezTo>
                  <a:pt x="182366" y="145126"/>
                  <a:pt x="209219" y="129344"/>
                  <a:pt x="236679" y="134054"/>
                </a:cubicBezTo>
                <a:cubicBezTo>
                  <a:pt x="264138" y="138764"/>
                  <a:pt x="284196" y="162592"/>
                  <a:pt x="284155" y="190452"/>
                </a:cubicBezTo>
                <a:cubicBezTo>
                  <a:pt x="284155" y="228543"/>
                  <a:pt x="227019" y="247588"/>
                  <a:pt x="227019" y="247588"/>
                </a:cubicBezTo>
                <a:moveTo>
                  <a:pt x="228543" y="323769"/>
                </a:moveTo>
                <a:lnTo>
                  <a:pt x="228733" y="323769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75981" y="5907375"/>
            <a:ext cx="1255647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Think About 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75981" y="6154073"/>
            <a:ext cx="6797513" cy="22574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Which of these goals matters most for your smartphone's OS?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9" name="Shape 27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95325"/>
            <a:ext cx="5936311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Essential OS Functions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322040"/>
            <a:ext cx="9523" cy="219075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322040"/>
            <a:ext cx="10970057" cy="219075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OS handles six core jobs to keep everything running smoothly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769715"/>
            <a:ext cx="3529618" cy="229641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7990" y="2036415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Shape 7"/>
          <p:cNvSpPr/>
          <p:nvPr/>
        </p:nvSpPr>
        <p:spPr>
          <a:xfrm>
            <a:off x="971307" y="2169765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133317" y="222194"/>
                </a:moveTo>
                <a:lnTo>
                  <a:pt x="133317" y="244414"/>
                </a:lnTo>
                <a:moveTo>
                  <a:pt x="133317" y="22219"/>
                </a:moveTo>
                <a:lnTo>
                  <a:pt x="133317" y="44439"/>
                </a:lnTo>
                <a:moveTo>
                  <a:pt x="188865" y="222194"/>
                </a:moveTo>
                <a:lnTo>
                  <a:pt x="188865" y="244414"/>
                </a:lnTo>
                <a:moveTo>
                  <a:pt x="188865" y="22219"/>
                </a:moveTo>
                <a:lnTo>
                  <a:pt x="188865" y="44439"/>
                </a:lnTo>
                <a:moveTo>
                  <a:pt x="22219" y="133317"/>
                </a:moveTo>
                <a:lnTo>
                  <a:pt x="44439" y="133317"/>
                </a:lnTo>
                <a:moveTo>
                  <a:pt x="22219" y="188865"/>
                </a:moveTo>
                <a:lnTo>
                  <a:pt x="44439" y="188865"/>
                </a:lnTo>
                <a:moveTo>
                  <a:pt x="22219" y="77768"/>
                </a:moveTo>
                <a:lnTo>
                  <a:pt x="44439" y="77768"/>
                </a:lnTo>
                <a:moveTo>
                  <a:pt x="222194" y="133317"/>
                </a:moveTo>
                <a:lnTo>
                  <a:pt x="244414" y="133317"/>
                </a:lnTo>
                <a:moveTo>
                  <a:pt x="222194" y="188865"/>
                </a:moveTo>
                <a:lnTo>
                  <a:pt x="244414" y="188865"/>
                </a:lnTo>
                <a:moveTo>
                  <a:pt x="222194" y="77768"/>
                </a:moveTo>
                <a:lnTo>
                  <a:pt x="244414" y="77768"/>
                </a:lnTo>
                <a:moveTo>
                  <a:pt x="77768" y="222194"/>
                </a:moveTo>
                <a:lnTo>
                  <a:pt x="77768" y="244414"/>
                </a:lnTo>
                <a:moveTo>
                  <a:pt x="77768" y="22219"/>
                </a:moveTo>
                <a:lnTo>
                  <a:pt x="77768" y="44439"/>
                </a:lnTo>
                <a:moveTo>
                  <a:pt x="66658" y="44439"/>
                </a:moveTo>
                <a:lnTo>
                  <a:pt x="199975" y="44439"/>
                </a:lnTo>
                <a:cubicBezTo>
                  <a:pt x="212238" y="44439"/>
                  <a:pt x="222194" y="54395"/>
                  <a:pt x="222194" y="66658"/>
                </a:cubicBezTo>
                <a:lnTo>
                  <a:pt x="222194" y="199975"/>
                </a:lnTo>
                <a:cubicBezTo>
                  <a:pt x="222194" y="212238"/>
                  <a:pt x="212238" y="222194"/>
                  <a:pt x="199975" y="222194"/>
                </a:cubicBezTo>
                <a:lnTo>
                  <a:pt x="66658" y="222194"/>
                </a:lnTo>
                <a:cubicBezTo>
                  <a:pt x="54395" y="222194"/>
                  <a:pt x="44439" y="212238"/>
                  <a:pt x="44439" y="199975"/>
                </a:cubicBezTo>
                <a:lnTo>
                  <a:pt x="44439" y="66658"/>
                </a:lnTo>
                <a:cubicBezTo>
                  <a:pt x="44439" y="54395"/>
                  <a:pt x="54395" y="44439"/>
                  <a:pt x="66658" y="44439"/>
                </a:cubicBezTo>
                <a:close/>
                <a:moveTo>
                  <a:pt x="99987" y="88878"/>
                </a:moveTo>
                <a:lnTo>
                  <a:pt x="166646" y="88878"/>
                </a:lnTo>
                <a:cubicBezTo>
                  <a:pt x="172777" y="88878"/>
                  <a:pt x="177756" y="93856"/>
                  <a:pt x="177756" y="99987"/>
                </a:cubicBezTo>
                <a:lnTo>
                  <a:pt x="177756" y="166646"/>
                </a:lnTo>
                <a:cubicBezTo>
                  <a:pt x="177756" y="172777"/>
                  <a:pt x="172777" y="177756"/>
                  <a:pt x="166646" y="177756"/>
                </a:cubicBezTo>
                <a:lnTo>
                  <a:pt x="99987" y="177756"/>
                </a:lnTo>
                <a:cubicBezTo>
                  <a:pt x="93856" y="177756"/>
                  <a:pt x="88878" y="172777"/>
                  <a:pt x="88878" y="166646"/>
                </a:cubicBezTo>
                <a:lnTo>
                  <a:pt x="88878" y="99987"/>
                </a:lnTo>
                <a:cubicBezTo>
                  <a:pt x="88878" y="93856"/>
                  <a:pt x="93856" y="88878"/>
                  <a:pt x="99987" y="88878"/>
                </a:cubicBezTo>
                <a:close/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7990" y="2731740"/>
            <a:ext cx="2336017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Process Management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37990" y="3094643"/>
            <a:ext cx="2947399" cy="3532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Creates, schedules, and terminates running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programs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29518" y="1769715"/>
            <a:ext cx="3529767" cy="229641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58061" y="2036415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5" name="Shape 11"/>
          <p:cNvSpPr/>
          <p:nvPr/>
        </p:nvSpPr>
        <p:spPr>
          <a:xfrm>
            <a:off x="4691378" y="2169765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133317" y="133317"/>
                </a:moveTo>
                <a:lnTo>
                  <a:pt x="133317" y="111097"/>
                </a:lnTo>
                <a:moveTo>
                  <a:pt x="133317" y="199975"/>
                </a:moveTo>
                <a:lnTo>
                  <a:pt x="133317" y="177756"/>
                </a:lnTo>
                <a:moveTo>
                  <a:pt x="177756" y="133317"/>
                </a:moveTo>
                <a:lnTo>
                  <a:pt x="177756" y="111097"/>
                </a:lnTo>
                <a:moveTo>
                  <a:pt x="177756" y="199975"/>
                </a:moveTo>
                <a:lnTo>
                  <a:pt x="177756" y="177756"/>
                </a:lnTo>
                <a:moveTo>
                  <a:pt x="22219" y="122207"/>
                </a:moveTo>
                <a:lnTo>
                  <a:pt x="38884" y="122207"/>
                </a:lnTo>
                <a:moveTo>
                  <a:pt x="222194" y="199975"/>
                </a:moveTo>
                <a:lnTo>
                  <a:pt x="222194" y="177756"/>
                </a:lnTo>
                <a:moveTo>
                  <a:pt x="227749" y="122207"/>
                </a:moveTo>
                <a:lnTo>
                  <a:pt x="244414" y="122207"/>
                </a:lnTo>
                <a:moveTo>
                  <a:pt x="44439" y="199975"/>
                </a:moveTo>
                <a:lnTo>
                  <a:pt x="44439" y="177756"/>
                </a:lnTo>
                <a:moveTo>
                  <a:pt x="88878" y="133317"/>
                </a:moveTo>
                <a:lnTo>
                  <a:pt x="88878" y="111097"/>
                </a:lnTo>
                <a:moveTo>
                  <a:pt x="88878" y="199975"/>
                </a:moveTo>
                <a:lnTo>
                  <a:pt x="88878" y="177756"/>
                </a:lnTo>
                <a:moveTo>
                  <a:pt x="44439" y="66658"/>
                </a:moveTo>
                <a:lnTo>
                  <a:pt x="222194" y="66658"/>
                </a:lnTo>
                <a:cubicBezTo>
                  <a:pt x="234458" y="66658"/>
                  <a:pt x="244414" y="76615"/>
                  <a:pt x="244414" y="88878"/>
                </a:cubicBezTo>
                <a:lnTo>
                  <a:pt x="244414" y="155536"/>
                </a:lnTo>
                <a:cubicBezTo>
                  <a:pt x="244414" y="167799"/>
                  <a:pt x="234458" y="177756"/>
                  <a:pt x="222194" y="177756"/>
                </a:cubicBezTo>
                <a:lnTo>
                  <a:pt x="44439" y="177756"/>
                </a:lnTo>
                <a:cubicBezTo>
                  <a:pt x="32176" y="177756"/>
                  <a:pt x="22219" y="167799"/>
                  <a:pt x="22219" y="155536"/>
                </a:cubicBezTo>
                <a:lnTo>
                  <a:pt x="22219" y="88878"/>
                </a:lnTo>
                <a:cubicBezTo>
                  <a:pt x="22219" y="76615"/>
                  <a:pt x="32176" y="66658"/>
                  <a:pt x="44439" y="66658"/>
                </a:cubicBezTo>
                <a:close/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58061" y="2731740"/>
            <a:ext cx="2253141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 Management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58061" y="3094643"/>
            <a:ext cx="2845329" cy="3532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Allocates RAM fairly and keeps processes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isolated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49737" y="1769715"/>
            <a:ext cx="3529618" cy="229641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278280" y="2036415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0" name="Shape 15"/>
          <p:cNvSpPr/>
          <p:nvPr/>
        </p:nvSpPr>
        <p:spPr>
          <a:xfrm>
            <a:off x="8411597" y="2169765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222194" y="222194"/>
                </a:moveTo>
                <a:cubicBezTo>
                  <a:pt x="234458" y="222194"/>
                  <a:pt x="244414" y="212238"/>
                  <a:pt x="244414" y="199975"/>
                </a:cubicBezTo>
                <a:lnTo>
                  <a:pt x="244414" y="88878"/>
                </a:lnTo>
                <a:cubicBezTo>
                  <a:pt x="244414" y="76615"/>
                  <a:pt x="234458" y="66658"/>
                  <a:pt x="222194" y="66658"/>
                </a:cubicBezTo>
                <a:lnTo>
                  <a:pt x="134428" y="66658"/>
                </a:lnTo>
                <a:cubicBezTo>
                  <a:pt x="126877" y="66732"/>
                  <a:pt x="119805" y="62966"/>
                  <a:pt x="115652" y="56660"/>
                </a:cubicBezTo>
                <a:lnTo>
                  <a:pt x="106653" y="43328"/>
                </a:lnTo>
                <a:cubicBezTo>
                  <a:pt x="102544" y="37087"/>
                  <a:pt x="95572" y="33330"/>
                  <a:pt x="88100" y="33329"/>
                </a:cubicBezTo>
                <a:lnTo>
                  <a:pt x="44439" y="33329"/>
                </a:lnTo>
                <a:cubicBezTo>
                  <a:pt x="32167" y="33329"/>
                  <a:pt x="22219" y="43277"/>
                  <a:pt x="22219" y="55549"/>
                </a:cubicBezTo>
                <a:lnTo>
                  <a:pt x="22219" y="199975"/>
                </a:lnTo>
                <a:cubicBezTo>
                  <a:pt x="22219" y="212238"/>
                  <a:pt x="32176" y="222194"/>
                  <a:pt x="44439" y="222194"/>
                </a:cubicBezTo>
                <a:close/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78280" y="2731740"/>
            <a:ext cx="1822986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File Management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278280" y="3094643"/>
            <a:ext cx="2836996" cy="3532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Organizes, stores, and retrieves your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reliably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448" y="4256633"/>
            <a:ext cx="3529618" cy="2296567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37990" y="4523333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5" name="Shape 19"/>
          <p:cNvSpPr/>
          <p:nvPr/>
        </p:nvSpPr>
        <p:spPr>
          <a:xfrm>
            <a:off x="971307" y="4656683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133317" y="244414"/>
                </a:moveTo>
                <a:lnTo>
                  <a:pt x="133317" y="188865"/>
                </a:lnTo>
                <a:moveTo>
                  <a:pt x="166646" y="88878"/>
                </a:moveTo>
                <a:lnTo>
                  <a:pt x="166646" y="22219"/>
                </a:lnTo>
                <a:moveTo>
                  <a:pt x="188865" y="88878"/>
                </a:moveTo>
                <a:cubicBezTo>
                  <a:pt x="194997" y="88878"/>
                  <a:pt x="199975" y="93856"/>
                  <a:pt x="199975" y="99987"/>
                </a:cubicBezTo>
                <a:lnTo>
                  <a:pt x="199975" y="144426"/>
                </a:lnTo>
                <a:cubicBezTo>
                  <a:pt x="199975" y="168953"/>
                  <a:pt x="180063" y="188865"/>
                  <a:pt x="155536" y="188865"/>
                </a:cubicBezTo>
                <a:lnTo>
                  <a:pt x="111097" y="188865"/>
                </a:lnTo>
                <a:cubicBezTo>
                  <a:pt x="86571" y="188865"/>
                  <a:pt x="66658" y="168953"/>
                  <a:pt x="66658" y="144426"/>
                </a:cubicBezTo>
                <a:lnTo>
                  <a:pt x="66658" y="99987"/>
                </a:lnTo>
                <a:cubicBezTo>
                  <a:pt x="66658" y="93856"/>
                  <a:pt x="71636" y="88878"/>
                  <a:pt x="77768" y="88878"/>
                </a:cubicBezTo>
                <a:close/>
                <a:moveTo>
                  <a:pt x="99987" y="88878"/>
                </a:moveTo>
                <a:lnTo>
                  <a:pt x="99987" y="22219"/>
                </a:lnTo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37990" y="5218658"/>
            <a:ext cx="1666309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I/O Management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37990" y="5581561"/>
            <a:ext cx="2777480" cy="3532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Controls communication with devices like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disks and keyboards</a:t>
            </a:r>
            <a:endParaRPr lang="en-US" sz="12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29518" y="4256633"/>
            <a:ext cx="3529767" cy="2296567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4558061" y="4523333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30" name="Shape 23"/>
          <p:cNvSpPr/>
          <p:nvPr/>
        </p:nvSpPr>
        <p:spPr>
          <a:xfrm>
            <a:off x="4691378" y="4656683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222194" y="144426"/>
                </a:moveTo>
                <a:cubicBezTo>
                  <a:pt x="222194" y="199975"/>
                  <a:pt x="183310" y="227749"/>
                  <a:pt x="137094" y="243858"/>
                </a:cubicBezTo>
                <a:cubicBezTo>
                  <a:pt x="134674" y="244678"/>
                  <a:pt x="132045" y="244639"/>
                  <a:pt x="129650" y="243747"/>
                </a:cubicBezTo>
                <a:cubicBezTo>
                  <a:pt x="83323" y="227749"/>
                  <a:pt x="44439" y="199975"/>
                  <a:pt x="44439" y="144426"/>
                </a:cubicBezTo>
                <a:lnTo>
                  <a:pt x="44439" y="66658"/>
                </a:lnTo>
                <a:cubicBezTo>
                  <a:pt x="44439" y="60527"/>
                  <a:pt x="49417" y="55549"/>
                  <a:pt x="55549" y="55549"/>
                </a:cubicBezTo>
                <a:cubicBezTo>
                  <a:pt x="77768" y="55549"/>
                  <a:pt x="105542" y="42217"/>
                  <a:pt x="124873" y="25330"/>
                </a:cubicBezTo>
                <a:cubicBezTo>
                  <a:pt x="129736" y="21176"/>
                  <a:pt x="136898" y="21176"/>
                  <a:pt x="141760" y="25330"/>
                </a:cubicBezTo>
                <a:cubicBezTo>
                  <a:pt x="161202" y="42328"/>
                  <a:pt x="188865" y="55549"/>
                  <a:pt x="211085" y="55549"/>
                </a:cubicBezTo>
                <a:cubicBezTo>
                  <a:pt x="217216" y="55549"/>
                  <a:pt x="222194" y="60527"/>
                  <a:pt x="222194" y="66658"/>
                </a:cubicBezTo>
                <a:close/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558061" y="5218658"/>
            <a:ext cx="1229608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Protection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4558061" y="5581561"/>
            <a:ext cx="2798162" cy="3532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Enforces security rules so programs don't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interfere with each other</a:t>
            </a:r>
            <a:endParaRPr lang="en-US" sz="12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49737" y="4256633"/>
            <a:ext cx="3529618" cy="2296567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8278280" y="4523333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35" name="Shape 27"/>
          <p:cNvSpPr/>
          <p:nvPr/>
        </p:nvSpPr>
        <p:spPr>
          <a:xfrm>
            <a:off x="8411597" y="4656683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133317" y="211085"/>
                </a:moveTo>
                <a:lnTo>
                  <a:pt x="222194" y="211085"/>
                </a:lnTo>
                <a:moveTo>
                  <a:pt x="44439" y="188865"/>
                </a:moveTo>
                <a:moveTo>
                  <a:pt x="111097" y="122207"/>
                </a:moveTo>
                <a:moveTo>
                  <a:pt x="44439" y="55549"/>
                </a:moveTo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278280" y="5218658"/>
            <a:ext cx="1634766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User Interface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8278280" y="5581561"/>
            <a:ext cx="2929991" cy="3532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Provides shells or GUIs so you can actually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use the system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11001005" y="5343525"/>
            <a:ext cx="578499" cy="1276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0" b="1" kern="0" spc="-450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6</a:t>
            </a:r>
            <a:endParaRPr lang="en-US" sz="9000" dirty="0"/>
          </a:p>
        </p:txBody>
      </p:sp>
      <p:sp>
        <p:nvSpPr>
          <p:cNvPr id="39" name="Shape 31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0" name="Shape 32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95325"/>
            <a:ext cx="6649169" cy="4667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3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OS as a Service Provider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09448" y="1280071"/>
            <a:ext cx="9523" cy="400050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280071"/>
            <a:ext cx="8570357" cy="400050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Think of the operating system as your program's personal assistant — your code simply requests services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from the OS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832521"/>
            <a:ext cx="2599675" cy="350147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99900" y="2099221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Shape 7"/>
          <p:cNvSpPr/>
          <p:nvPr/>
        </p:nvSpPr>
        <p:spPr>
          <a:xfrm>
            <a:off x="952262" y="2251621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52362" y="253936"/>
                </a:moveTo>
                <a:lnTo>
                  <a:pt x="152362" y="279330"/>
                </a:lnTo>
                <a:moveTo>
                  <a:pt x="152362" y="25394"/>
                </a:moveTo>
                <a:lnTo>
                  <a:pt x="152362" y="50787"/>
                </a:lnTo>
                <a:moveTo>
                  <a:pt x="215846" y="253936"/>
                </a:moveTo>
                <a:lnTo>
                  <a:pt x="215846" y="279330"/>
                </a:lnTo>
                <a:moveTo>
                  <a:pt x="215846" y="25394"/>
                </a:moveTo>
                <a:lnTo>
                  <a:pt x="215846" y="50787"/>
                </a:lnTo>
                <a:moveTo>
                  <a:pt x="25394" y="152362"/>
                </a:moveTo>
                <a:lnTo>
                  <a:pt x="50787" y="152362"/>
                </a:lnTo>
                <a:moveTo>
                  <a:pt x="25394" y="215846"/>
                </a:moveTo>
                <a:lnTo>
                  <a:pt x="50787" y="215846"/>
                </a:lnTo>
                <a:moveTo>
                  <a:pt x="25394" y="88878"/>
                </a:moveTo>
                <a:lnTo>
                  <a:pt x="50787" y="88878"/>
                </a:lnTo>
                <a:moveTo>
                  <a:pt x="253936" y="152362"/>
                </a:moveTo>
                <a:lnTo>
                  <a:pt x="279330" y="152362"/>
                </a:lnTo>
                <a:moveTo>
                  <a:pt x="253936" y="215846"/>
                </a:moveTo>
                <a:lnTo>
                  <a:pt x="279330" y="215846"/>
                </a:lnTo>
                <a:moveTo>
                  <a:pt x="253936" y="88878"/>
                </a:moveTo>
                <a:lnTo>
                  <a:pt x="279330" y="88878"/>
                </a:lnTo>
                <a:moveTo>
                  <a:pt x="88878" y="253936"/>
                </a:moveTo>
                <a:lnTo>
                  <a:pt x="88878" y="279330"/>
                </a:lnTo>
                <a:moveTo>
                  <a:pt x="88878" y="25394"/>
                </a:moveTo>
                <a:lnTo>
                  <a:pt x="88878" y="50787"/>
                </a:lnTo>
                <a:moveTo>
                  <a:pt x="76181" y="50787"/>
                </a:moveTo>
                <a:lnTo>
                  <a:pt x="228543" y="50787"/>
                </a:lnTo>
                <a:cubicBezTo>
                  <a:pt x="242558" y="50787"/>
                  <a:pt x="253936" y="62166"/>
                  <a:pt x="253936" y="76181"/>
                </a:cubicBezTo>
                <a:lnTo>
                  <a:pt x="253936" y="228543"/>
                </a:lnTo>
                <a:cubicBezTo>
                  <a:pt x="253936" y="242558"/>
                  <a:pt x="242558" y="253936"/>
                  <a:pt x="228543" y="253936"/>
                </a:cubicBezTo>
                <a:lnTo>
                  <a:pt x="76181" y="253936"/>
                </a:lnTo>
                <a:cubicBezTo>
                  <a:pt x="62166" y="253936"/>
                  <a:pt x="50787" y="242558"/>
                  <a:pt x="50787" y="228543"/>
                </a:cubicBezTo>
                <a:lnTo>
                  <a:pt x="50787" y="76181"/>
                </a:lnTo>
                <a:cubicBezTo>
                  <a:pt x="50787" y="62166"/>
                  <a:pt x="62166" y="50787"/>
                  <a:pt x="76181" y="50787"/>
                </a:cubicBezTo>
                <a:close/>
                <a:moveTo>
                  <a:pt x="114271" y="101575"/>
                </a:moveTo>
                <a:lnTo>
                  <a:pt x="190452" y="101575"/>
                </a:lnTo>
                <a:cubicBezTo>
                  <a:pt x="197460" y="101575"/>
                  <a:pt x="203149" y="107264"/>
                  <a:pt x="203149" y="114271"/>
                </a:cubicBezTo>
                <a:lnTo>
                  <a:pt x="203149" y="190452"/>
                </a:lnTo>
                <a:cubicBezTo>
                  <a:pt x="203149" y="197460"/>
                  <a:pt x="197460" y="203149"/>
                  <a:pt x="190452" y="203149"/>
                </a:cubicBezTo>
                <a:lnTo>
                  <a:pt x="114271" y="203149"/>
                </a:lnTo>
                <a:cubicBezTo>
                  <a:pt x="107264" y="203149"/>
                  <a:pt x="101575" y="197460"/>
                  <a:pt x="101575" y="190452"/>
                </a:cubicBezTo>
                <a:lnTo>
                  <a:pt x="101575" y="114271"/>
                </a:lnTo>
                <a:cubicBezTo>
                  <a:pt x="101575" y="107264"/>
                  <a:pt x="107264" y="101575"/>
                  <a:pt x="114271" y="10157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9900" y="2868841"/>
            <a:ext cx="2102416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kern="0" spc="-1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Process Management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9900" y="3194596"/>
            <a:ext cx="2112236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Creating and scheduling program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execution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99575" y="1832521"/>
            <a:ext cx="2599675" cy="350147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590027" y="2099221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5" name="Shape 11"/>
          <p:cNvSpPr/>
          <p:nvPr/>
        </p:nvSpPr>
        <p:spPr>
          <a:xfrm>
            <a:off x="3742389" y="2251621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52362" y="152362"/>
                </a:moveTo>
                <a:lnTo>
                  <a:pt x="152362" y="126968"/>
                </a:lnTo>
                <a:moveTo>
                  <a:pt x="152362" y="228543"/>
                </a:moveTo>
                <a:lnTo>
                  <a:pt x="152362" y="203149"/>
                </a:lnTo>
                <a:moveTo>
                  <a:pt x="203149" y="152362"/>
                </a:moveTo>
                <a:lnTo>
                  <a:pt x="203149" y="126968"/>
                </a:lnTo>
                <a:moveTo>
                  <a:pt x="203149" y="228543"/>
                </a:moveTo>
                <a:lnTo>
                  <a:pt x="203149" y="203149"/>
                </a:lnTo>
                <a:moveTo>
                  <a:pt x="25394" y="139665"/>
                </a:moveTo>
                <a:lnTo>
                  <a:pt x="44439" y="139665"/>
                </a:lnTo>
                <a:moveTo>
                  <a:pt x="253936" y="228543"/>
                </a:moveTo>
                <a:lnTo>
                  <a:pt x="253936" y="203149"/>
                </a:lnTo>
                <a:moveTo>
                  <a:pt x="260285" y="139665"/>
                </a:moveTo>
                <a:lnTo>
                  <a:pt x="279330" y="139665"/>
                </a:lnTo>
                <a:moveTo>
                  <a:pt x="50787" y="228543"/>
                </a:moveTo>
                <a:lnTo>
                  <a:pt x="50787" y="203149"/>
                </a:lnTo>
                <a:moveTo>
                  <a:pt x="101575" y="152362"/>
                </a:moveTo>
                <a:lnTo>
                  <a:pt x="101575" y="126968"/>
                </a:lnTo>
                <a:moveTo>
                  <a:pt x="101575" y="228543"/>
                </a:moveTo>
                <a:lnTo>
                  <a:pt x="101575" y="203149"/>
                </a:lnTo>
                <a:moveTo>
                  <a:pt x="50787" y="76181"/>
                </a:moveTo>
                <a:lnTo>
                  <a:pt x="253936" y="76181"/>
                </a:lnTo>
                <a:cubicBezTo>
                  <a:pt x="267952" y="76181"/>
                  <a:pt x="279330" y="87559"/>
                  <a:pt x="279330" y="101575"/>
                </a:cubicBezTo>
                <a:lnTo>
                  <a:pt x="279330" y="177756"/>
                </a:lnTo>
                <a:cubicBezTo>
                  <a:pt x="279330" y="191771"/>
                  <a:pt x="267952" y="203149"/>
                  <a:pt x="253936" y="203149"/>
                </a:cubicBezTo>
                <a:lnTo>
                  <a:pt x="50787" y="203149"/>
                </a:lnTo>
                <a:cubicBezTo>
                  <a:pt x="36772" y="203149"/>
                  <a:pt x="25394" y="191771"/>
                  <a:pt x="25394" y="177756"/>
                </a:cubicBezTo>
                <a:lnTo>
                  <a:pt x="25394" y="101575"/>
                </a:lnTo>
                <a:cubicBezTo>
                  <a:pt x="25394" y="87559"/>
                  <a:pt x="36772" y="76181"/>
                  <a:pt x="50787" y="7618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90027" y="2868841"/>
            <a:ext cx="1884883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kern="0" spc="-1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 Allocation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90027" y="3194596"/>
            <a:ext cx="2032484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Providing safe, isolated memory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space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9702" y="1832521"/>
            <a:ext cx="2599675" cy="3501479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380155" y="2099221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0" name="Shape 15"/>
          <p:cNvSpPr/>
          <p:nvPr/>
        </p:nvSpPr>
        <p:spPr>
          <a:xfrm>
            <a:off x="6532516" y="2251621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76181" y="279330"/>
                </a:moveTo>
                <a:cubicBezTo>
                  <a:pt x="62166" y="279330"/>
                  <a:pt x="50787" y="267952"/>
                  <a:pt x="50787" y="253936"/>
                </a:cubicBezTo>
                <a:lnTo>
                  <a:pt x="50787" y="50787"/>
                </a:lnTo>
                <a:cubicBezTo>
                  <a:pt x="50787" y="36772"/>
                  <a:pt x="62166" y="25394"/>
                  <a:pt x="76181" y="25394"/>
                </a:cubicBezTo>
                <a:lnTo>
                  <a:pt x="177756" y="25394"/>
                </a:lnTo>
                <a:cubicBezTo>
                  <a:pt x="185873" y="25380"/>
                  <a:pt x="193661" y="28607"/>
                  <a:pt x="199391" y="34358"/>
                </a:cubicBezTo>
                <a:lnTo>
                  <a:pt x="244947" y="79914"/>
                </a:lnTo>
                <a:cubicBezTo>
                  <a:pt x="250713" y="85646"/>
                  <a:pt x="253950" y="93444"/>
                  <a:pt x="253936" y="101575"/>
                </a:cubicBezTo>
                <a:lnTo>
                  <a:pt x="253936" y="253936"/>
                </a:lnTo>
                <a:cubicBezTo>
                  <a:pt x="253936" y="267952"/>
                  <a:pt x="242558" y="279330"/>
                  <a:pt x="228543" y="279330"/>
                </a:cubicBezTo>
                <a:close/>
                <a:moveTo>
                  <a:pt x="177756" y="25394"/>
                </a:moveTo>
                <a:lnTo>
                  <a:pt x="177756" y="88878"/>
                </a:lnTo>
                <a:cubicBezTo>
                  <a:pt x="177756" y="95885"/>
                  <a:pt x="183445" y="101575"/>
                  <a:pt x="190452" y="101575"/>
                </a:cubicBezTo>
                <a:lnTo>
                  <a:pt x="253936" y="101575"/>
                </a:lnTo>
                <a:moveTo>
                  <a:pt x="126968" y="114271"/>
                </a:moveTo>
                <a:lnTo>
                  <a:pt x="101575" y="114271"/>
                </a:lnTo>
                <a:moveTo>
                  <a:pt x="203149" y="165059"/>
                </a:moveTo>
                <a:lnTo>
                  <a:pt x="101575" y="165059"/>
                </a:lnTo>
                <a:moveTo>
                  <a:pt x="203149" y="215846"/>
                </a:moveTo>
                <a:lnTo>
                  <a:pt x="101575" y="215846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80155" y="2868841"/>
            <a:ext cx="1513948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kern="0" spc="-1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File Operations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80155" y="3194596"/>
            <a:ext cx="1794567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Reading/writing data without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knowing disk details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79829" y="1832521"/>
            <a:ext cx="2599675" cy="3501479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170282" y="2099221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5" name="Shape 19"/>
          <p:cNvSpPr/>
          <p:nvPr/>
        </p:nvSpPr>
        <p:spPr>
          <a:xfrm>
            <a:off x="9322644" y="2251621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76181" y="228543"/>
                </a:moveTo>
                <a:lnTo>
                  <a:pt x="50787" y="228543"/>
                </a:lnTo>
                <a:cubicBezTo>
                  <a:pt x="36772" y="228543"/>
                  <a:pt x="25394" y="217164"/>
                  <a:pt x="25394" y="203149"/>
                </a:cubicBezTo>
                <a:lnTo>
                  <a:pt x="25394" y="139665"/>
                </a:lnTo>
                <a:cubicBezTo>
                  <a:pt x="25394" y="125650"/>
                  <a:pt x="36772" y="114271"/>
                  <a:pt x="50787" y="114271"/>
                </a:cubicBezTo>
                <a:lnTo>
                  <a:pt x="253936" y="114271"/>
                </a:lnTo>
                <a:cubicBezTo>
                  <a:pt x="267952" y="114271"/>
                  <a:pt x="279330" y="125650"/>
                  <a:pt x="279330" y="139665"/>
                </a:cubicBezTo>
                <a:lnTo>
                  <a:pt x="279330" y="203149"/>
                </a:lnTo>
                <a:cubicBezTo>
                  <a:pt x="279330" y="217164"/>
                  <a:pt x="267952" y="228543"/>
                  <a:pt x="253936" y="228543"/>
                </a:cubicBezTo>
                <a:lnTo>
                  <a:pt x="228543" y="228543"/>
                </a:lnTo>
                <a:moveTo>
                  <a:pt x="76181" y="114271"/>
                </a:moveTo>
                <a:lnTo>
                  <a:pt x="76181" y="38090"/>
                </a:lnTo>
                <a:cubicBezTo>
                  <a:pt x="76181" y="31083"/>
                  <a:pt x="81870" y="25394"/>
                  <a:pt x="88878" y="25394"/>
                </a:cubicBezTo>
                <a:lnTo>
                  <a:pt x="215846" y="25394"/>
                </a:lnTo>
                <a:cubicBezTo>
                  <a:pt x="222854" y="25394"/>
                  <a:pt x="228543" y="31083"/>
                  <a:pt x="228543" y="38090"/>
                </a:cubicBezTo>
                <a:lnTo>
                  <a:pt x="228543" y="114271"/>
                </a:lnTo>
                <a:moveTo>
                  <a:pt x="88878" y="177756"/>
                </a:moveTo>
                <a:lnTo>
                  <a:pt x="215846" y="177756"/>
                </a:lnTo>
                <a:cubicBezTo>
                  <a:pt x="222854" y="177756"/>
                  <a:pt x="228543" y="183445"/>
                  <a:pt x="228543" y="190452"/>
                </a:cubicBezTo>
                <a:lnTo>
                  <a:pt x="228543" y="266633"/>
                </a:lnTo>
                <a:cubicBezTo>
                  <a:pt x="228543" y="273641"/>
                  <a:pt x="222854" y="279330"/>
                  <a:pt x="215846" y="279330"/>
                </a:cubicBezTo>
                <a:lnTo>
                  <a:pt x="88878" y="279330"/>
                </a:lnTo>
                <a:cubicBezTo>
                  <a:pt x="81870" y="279330"/>
                  <a:pt x="76181" y="273641"/>
                  <a:pt x="76181" y="266633"/>
                </a:cubicBezTo>
                <a:lnTo>
                  <a:pt x="76181" y="190452"/>
                </a:lnTo>
                <a:cubicBezTo>
                  <a:pt x="76181" y="183445"/>
                  <a:pt x="81870" y="177756"/>
                  <a:pt x="88878" y="177756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170282" y="2868841"/>
            <a:ext cx="1160272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kern="0" spc="-1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I/O Handling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170282" y="3194596"/>
            <a:ext cx="2199576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Managing printers, keyboards, 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network devices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5562600"/>
            <a:ext cx="10970057" cy="9144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914171" y="5791200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30" name="Shape 23"/>
          <p:cNvSpPr/>
          <p:nvPr/>
        </p:nvSpPr>
        <p:spPr>
          <a:xfrm>
            <a:off x="1009398" y="5886450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22219" y="133317"/>
                </a:moveTo>
                <a:cubicBezTo>
                  <a:pt x="22219" y="72000"/>
                  <a:pt x="72000" y="22219"/>
                  <a:pt x="133317" y="22219"/>
                </a:cubicBezTo>
                <a:cubicBezTo>
                  <a:pt x="194633" y="22219"/>
                  <a:pt x="244414" y="72000"/>
                  <a:pt x="244414" y="133317"/>
                </a:cubicBezTo>
                <a:cubicBezTo>
                  <a:pt x="244414" y="194633"/>
                  <a:pt x="194633" y="244414"/>
                  <a:pt x="133317" y="244414"/>
                </a:cubicBezTo>
                <a:cubicBezTo>
                  <a:pt x="72000" y="244414"/>
                  <a:pt x="22219" y="194633"/>
                  <a:pt x="22219" y="133317"/>
                </a:cubicBezTo>
                <a:close/>
                <a:moveTo>
                  <a:pt x="100987" y="99987"/>
                </a:moveTo>
                <a:cubicBezTo>
                  <a:pt x="106380" y="84657"/>
                  <a:pt x="122045" y="75451"/>
                  <a:pt x="138062" y="78198"/>
                </a:cubicBezTo>
                <a:cubicBezTo>
                  <a:pt x="154080" y="80946"/>
                  <a:pt x="165781" y="94845"/>
                  <a:pt x="165757" y="111097"/>
                </a:cubicBezTo>
                <a:cubicBezTo>
                  <a:pt x="165757" y="133317"/>
                  <a:pt x="132428" y="144426"/>
                  <a:pt x="132428" y="144426"/>
                </a:cubicBezTo>
                <a:moveTo>
                  <a:pt x="133317" y="188865"/>
                </a:moveTo>
                <a:lnTo>
                  <a:pt x="133428" y="188865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561709" y="5943660"/>
            <a:ext cx="5621767" cy="1657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would happen if every application had to manage hardware directly?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1001005" y="4695825"/>
            <a:ext cx="578499" cy="1276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0" b="1" kern="0" spc="-450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4</a:t>
            </a:r>
            <a:endParaRPr lang="en-US" sz="9000" dirty="0"/>
          </a:p>
        </p:txBody>
      </p:sp>
      <p:sp>
        <p:nvSpPr>
          <p:cNvPr id="33" name="Shape 26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4" name="Shape 27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714375"/>
            <a:ext cx="7161456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Early OS: Serial Processing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455390"/>
            <a:ext cx="3529767" cy="38786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6081" y="1760190"/>
            <a:ext cx="677891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01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76081" y="2605058"/>
            <a:ext cx="2482279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No Operating System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76081" y="3074640"/>
            <a:ext cx="2868243" cy="7429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Programmers worked directly with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bare metal hardware — no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software layer in between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29667" y="1455390"/>
            <a:ext cx="3529767" cy="38786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6300" y="1760190"/>
            <a:ext cx="677891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4596300" y="2605058"/>
            <a:ext cx="2584945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Sequential Execution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96300" y="3074640"/>
            <a:ext cx="2943382" cy="7429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Each program ran one after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another: load → execute → unload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before the next job</a:t>
            </a:r>
            <a:endParaRPr lang="en-US" sz="15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49886" y="1455390"/>
            <a:ext cx="3529767" cy="38786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16520" y="1760190"/>
            <a:ext cx="677891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4800" dirty="0"/>
          </a:p>
        </p:txBody>
      </p:sp>
      <p:sp>
        <p:nvSpPr>
          <p:cNvPr id="16" name="Text 11"/>
          <p:cNvSpPr/>
          <p:nvPr/>
        </p:nvSpPr>
        <p:spPr>
          <a:xfrm>
            <a:off x="8316520" y="2605058"/>
            <a:ext cx="2158510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Manual Operation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316520" y="3074640"/>
            <a:ext cx="2809173" cy="7429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You had to manually set switches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or punch cards for every single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instruction</a:t>
            </a:r>
            <a:endParaRPr lang="en-US" sz="15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5562600"/>
            <a:ext cx="10970057" cy="9906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71307" y="5829300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0" name="Shape 14"/>
          <p:cNvSpPr/>
          <p:nvPr/>
        </p:nvSpPr>
        <p:spPr>
          <a:xfrm>
            <a:off x="1085579" y="594360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9045" y="114271"/>
                </a:moveTo>
                <a:cubicBezTo>
                  <a:pt x="19045" y="61715"/>
                  <a:pt x="61715" y="19045"/>
                  <a:pt x="114271" y="19045"/>
                </a:cubicBezTo>
                <a:cubicBezTo>
                  <a:pt x="166828" y="19045"/>
                  <a:pt x="209498" y="61715"/>
                  <a:pt x="209498" y="114271"/>
                </a:cubicBezTo>
                <a:cubicBezTo>
                  <a:pt x="209498" y="166828"/>
                  <a:pt x="166828" y="209498"/>
                  <a:pt x="114271" y="209498"/>
                </a:cubicBezTo>
                <a:cubicBezTo>
                  <a:pt x="61715" y="209498"/>
                  <a:pt x="19045" y="166828"/>
                  <a:pt x="19045" y="114271"/>
                </a:cubicBezTo>
                <a:close/>
                <a:moveTo>
                  <a:pt x="86561" y="85704"/>
                </a:moveTo>
                <a:cubicBezTo>
                  <a:pt x="91183" y="72563"/>
                  <a:pt x="104610" y="64672"/>
                  <a:pt x="118339" y="67027"/>
                </a:cubicBezTo>
                <a:cubicBezTo>
                  <a:pt x="132069" y="69382"/>
                  <a:pt x="142098" y="81296"/>
                  <a:pt x="142077" y="95226"/>
                </a:cubicBezTo>
                <a:cubicBezTo>
                  <a:pt x="142077" y="114271"/>
                  <a:pt x="113510" y="123794"/>
                  <a:pt x="113510" y="123794"/>
                </a:cubicBezTo>
                <a:moveTo>
                  <a:pt x="114271" y="161885"/>
                </a:moveTo>
                <a:lnTo>
                  <a:pt x="114367" y="161885"/>
                </a:lnTo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618845" y="5957828"/>
            <a:ext cx="7581344" cy="2105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challenges would you face if you had to operate a computer this way today?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0037138" y="4933950"/>
            <a:ext cx="1542367" cy="1704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0" b="1" kern="0" spc="-600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23</a:t>
            </a:r>
            <a:endParaRPr lang="en-US" sz="12000" dirty="0"/>
          </a:p>
        </p:txBody>
      </p:sp>
      <p:sp>
        <p:nvSpPr>
          <p:cNvPr id="23" name="Shape 17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4" name="Shape 18"/>
          <p:cNvSpPr/>
          <p:nvPr/>
        </p:nvSpPr>
        <p:spPr>
          <a:xfrm>
            <a:off x="0" y="6819900"/>
            <a:ext cx="402226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95325"/>
            <a:ext cx="6336559" cy="6000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200" b="1" kern="0" spc="-13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Simple Batch Systems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2236440"/>
            <a:ext cx="6833372" cy="962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5126" y="2407890"/>
            <a:ext cx="338946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01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466483" y="2426940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9" name="Shape 6"/>
          <p:cNvSpPr/>
          <p:nvPr/>
        </p:nvSpPr>
        <p:spPr>
          <a:xfrm>
            <a:off x="1580755" y="254124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22175" y="20759"/>
                </a:moveTo>
                <a:cubicBezTo>
                  <a:pt x="117155" y="18469"/>
                  <a:pt x="111388" y="18469"/>
                  <a:pt x="106368" y="20759"/>
                </a:cubicBezTo>
                <a:lnTo>
                  <a:pt x="24759" y="57898"/>
                </a:lnTo>
                <a:cubicBezTo>
                  <a:pt x="21306" y="59420"/>
                  <a:pt x="19078" y="62837"/>
                  <a:pt x="19078" y="66611"/>
                </a:cubicBezTo>
                <a:cubicBezTo>
                  <a:pt x="19078" y="70384"/>
                  <a:pt x="21306" y="73802"/>
                  <a:pt x="24759" y="75324"/>
                </a:cubicBezTo>
                <a:lnTo>
                  <a:pt x="106463" y="112557"/>
                </a:lnTo>
                <a:cubicBezTo>
                  <a:pt x="111483" y="114847"/>
                  <a:pt x="117250" y="114847"/>
                  <a:pt x="122270" y="112557"/>
                </a:cubicBezTo>
                <a:lnTo>
                  <a:pt x="203974" y="75419"/>
                </a:lnTo>
                <a:cubicBezTo>
                  <a:pt x="207427" y="73897"/>
                  <a:pt x="209655" y="70479"/>
                  <a:pt x="209655" y="66706"/>
                </a:cubicBezTo>
                <a:cubicBezTo>
                  <a:pt x="209655" y="62933"/>
                  <a:pt x="207427" y="59515"/>
                  <a:pt x="203974" y="57993"/>
                </a:cubicBezTo>
                <a:close/>
                <a:moveTo>
                  <a:pt x="19045" y="114271"/>
                </a:moveTo>
                <a:cubicBezTo>
                  <a:pt x="19036" y="117991"/>
                  <a:pt x="21193" y="121375"/>
                  <a:pt x="24568" y="122937"/>
                </a:cubicBezTo>
                <a:lnTo>
                  <a:pt x="106463" y="160170"/>
                </a:lnTo>
                <a:cubicBezTo>
                  <a:pt x="111456" y="162432"/>
                  <a:pt x="117182" y="162432"/>
                  <a:pt x="122175" y="160170"/>
                </a:cubicBezTo>
                <a:lnTo>
                  <a:pt x="203879" y="123032"/>
                </a:lnTo>
                <a:cubicBezTo>
                  <a:pt x="207323" y="121484"/>
                  <a:pt x="209527" y="118047"/>
                  <a:pt x="209498" y="114271"/>
                </a:cubicBezTo>
                <a:moveTo>
                  <a:pt x="19045" y="161885"/>
                </a:moveTo>
                <a:cubicBezTo>
                  <a:pt x="19036" y="165604"/>
                  <a:pt x="21193" y="168988"/>
                  <a:pt x="24568" y="170550"/>
                </a:cubicBezTo>
                <a:lnTo>
                  <a:pt x="106463" y="207784"/>
                </a:lnTo>
                <a:cubicBezTo>
                  <a:pt x="111456" y="210045"/>
                  <a:pt x="117182" y="210045"/>
                  <a:pt x="122175" y="207784"/>
                </a:cubicBezTo>
                <a:lnTo>
                  <a:pt x="203879" y="170645"/>
                </a:lnTo>
                <a:cubicBezTo>
                  <a:pt x="207323" y="169097"/>
                  <a:pt x="209527" y="165660"/>
                  <a:pt x="209498" y="161885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14021" y="2433608"/>
            <a:ext cx="2139316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Batch Processing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114021" y="2812703"/>
            <a:ext cx="4887633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Groups similar jobs together to reduce setup time between tasks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3427065"/>
            <a:ext cx="6833372" cy="9620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5126" y="3598515"/>
            <a:ext cx="338946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1466483" y="3617565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5" name="Shape 11"/>
          <p:cNvSpPr/>
          <p:nvPr/>
        </p:nvSpPr>
        <p:spPr>
          <a:xfrm>
            <a:off x="1580755" y="3731865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14271" y="180930"/>
                </a:moveTo>
                <a:lnTo>
                  <a:pt x="190452" y="180930"/>
                </a:lnTo>
                <a:moveTo>
                  <a:pt x="38090" y="161885"/>
                </a:moveTo>
                <a:moveTo>
                  <a:pt x="95226" y="104749"/>
                </a:moveTo>
                <a:moveTo>
                  <a:pt x="38090" y="47613"/>
                </a:move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114021" y="3624233"/>
            <a:ext cx="1439552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Monitor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2114021" y="4003328"/>
            <a:ext cx="4811749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Early OS automatically loads and runs the next job in sequence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4617690"/>
            <a:ext cx="6833372" cy="1219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5126" y="4789140"/>
            <a:ext cx="338946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1466483" y="4808190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1" name="Shape 16"/>
          <p:cNvSpPr/>
          <p:nvPr/>
        </p:nvSpPr>
        <p:spPr>
          <a:xfrm>
            <a:off x="1580755" y="492249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51543" y="38090"/>
                </a:moveTo>
                <a:cubicBezTo>
                  <a:pt x="153762" y="31802"/>
                  <a:pt x="151335" y="24815"/>
                  <a:pt x="145695" y="21257"/>
                </a:cubicBezTo>
                <a:cubicBezTo>
                  <a:pt x="140056" y="17698"/>
                  <a:pt x="132704" y="18516"/>
                  <a:pt x="127984" y="23226"/>
                </a:cubicBezTo>
                <a:lnTo>
                  <a:pt x="42280" y="108929"/>
                </a:lnTo>
                <a:cubicBezTo>
                  <a:pt x="38194" y="113013"/>
                  <a:pt x="36970" y="119157"/>
                  <a:pt x="39179" y="124495"/>
                </a:cubicBezTo>
                <a:cubicBezTo>
                  <a:pt x="41389" y="129834"/>
                  <a:pt x="46597" y="133315"/>
                  <a:pt x="52374" y="133317"/>
                </a:cubicBezTo>
                <a:lnTo>
                  <a:pt x="90484" y="133317"/>
                </a:lnTo>
                <a:cubicBezTo>
                  <a:pt x="92027" y="133319"/>
                  <a:pt x="93474" y="134069"/>
                  <a:pt x="94365" y="135329"/>
                </a:cubicBezTo>
                <a:cubicBezTo>
                  <a:pt x="95256" y="136589"/>
                  <a:pt x="95481" y="138203"/>
                  <a:pt x="94969" y="139659"/>
                </a:cubicBezTo>
                <a:lnTo>
                  <a:pt x="77000" y="190452"/>
                </a:lnTo>
                <a:cubicBezTo>
                  <a:pt x="74780" y="196743"/>
                  <a:pt x="77210" y="203733"/>
                  <a:pt x="82853" y="207290"/>
                </a:cubicBezTo>
                <a:cubicBezTo>
                  <a:pt x="88497" y="210847"/>
                  <a:pt x="95851" y="210024"/>
                  <a:pt x="100568" y="205308"/>
                </a:cubicBezTo>
                <a:lnTo>
                  <a:pt x="186272" y="119604"/>
                </a:lnTo>
                <a:cubicBezTo>
                  <a:pt x="190353" y="115518"/>
                  <a:pt x="191572" y="109376"/>
                  <a:pt x="189361" y="104041"/>
                </a:cubicBezTo>
                <a:cubicBezTo>
                  <a:pt x="187150" y="98706"/>
                  <a:pt x="181944" y="95227"/>
                  <a:pt x="176168" y="95226"/>
                </a:cubicBezTo>
                <a:lnTo>
                  <a:pt x="138107" y="95226"/>
                </a:lnTo>
                <a:cubicBezTo>
                  <a:pt x="136559" y="95228"/>
                  <a:pt x="135107" y="94478"/>
                  <a:pt x="134213" y="93215"/>
                </a:cubicBezTo>
                <a:cubicBezTo>
                  <a:pt x="133319" y="91952"/>
                  <a:pt x="133095" y="90333"/>
                  <a:pt x="133612" y="8887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114021" y="4814858"/>
            <a:ext cx="2381399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Improved Efficiency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2114021" y="5193953"/>
            <a:ext cx="4639896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Eliminates manual intervention between jobs, improving CPU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utilization</a:t>
            </a:r>
            <a:endParaRPr lang="en-US" sz="14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899905" y="3286125"/>
            <a:ext cx="3679599" cy="150108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204629" y="3676650"/>
            <a:ext cx="228543" cy="1905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6" name="Text 20"/>
          <p:cNvSpPr/>
          <p:nvPr/>
        </p:nvSpPr>
        <p:spPr>
          <a:xfrm>
            <a:off x="8509353" y="3634740"/>
            <a:ext cx="1133192" cy="10858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00" b="1" kern="0" spc="17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Think About It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8204629" y="3975735"/>
            <a:ext cx="2696538" cy="42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would you design a system to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handle different types of jobs fairly?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0652835" y="3348930"/>
            <a:ext cx="698127" cy="1276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?</a:t>
            </a:r>
            <a:endParaRPr lang="en-US" sz="9000" dirty="0"/>
          </a:p>
        </p:txBody>
      </p:sp>
      <p:sp>
        <p:nvSpPr>
          <p:cNvPr id="29" name="Text 23"/>
          <p:cNvSpPr/>
          <p:nvPr/>
        </p:nvSpPr>
        <p:spPr>
          <a:xfrm>
            <a:off x="8166536" y="3171825"/>
            <a:ext cx="361264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\"</a:t>
            </a:r>
            <a:endParaRPr lang="en-US" sz="6000" dirty="0"/>
          </a:p>
        </p:txBody>
      </p:sp>
      <p:sp>
        <p:nvSpPr>
          <p:cNvPr id="30" name="Text 24"/>
          <p:cNvSpPr/>
          <p:nvPr/>
        </p:nvSpPr>
        <p:spPr>
          <a:xfrm>
            <a:off x="11171668" y="6480810"/>
            <a:ext cx="407836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24 / 42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2" name="Shape 26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95325"/>
            <a:ext cx="8471113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900" b="1" kern="0" spc="-8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Multiprogramming Revolution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09448" y="1478161"/>
            <a:ext cx="4901173" cy="8286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Multiprogramming</a:t>
            </a: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keeps several jobs in memory at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once, so when one job waits for I/O, the CPU can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immediately switch to another ready job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3658" y="1401961"/>
            <a:ext cx="5365847" cy="9429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18381" y="1644848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9" name="Shape 6"/>
          <p:cNvSpPr/>
          <p:nvPr/>
        </p:nvSpPr>
        <p:spPr>
          <a:xfrm>
            <a:off x="6613608" y="1740098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177756" y="77768"/>
                </a:moveTo>
                <a:lnTo>
                  <a:pt x="244414" y="77768"/>
                </a:lnTo>
                <a:lnTo>
                  <a:pt x="244414" y="144426"/>
                </a:lnTo>
                <a:moveTo>
                  <a:pt x="244414" y="77768"/>
                </a:moveTo>
                <a:moveTo>
                  <a:pt x="149981" y="172201"/>
                </a:moveTo>
                <a:moveTo>
                  <a:pt x="94433" y="116652"/>
                </a:moveTo>
                <a:lnTo>
                  <a:pt x="22219" y="188865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27829" y="1773436"/>
            <a:ext cx="4146952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3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Dramatically boosts CPU utilization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09448" y="2622113"/>
            <a:ext cx="2777480" cy="1514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CPU Utilization Comparison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9448" y="3205996"/>
            <a:ext cx="807488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Single Job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61609" y="3049786"/>
            <a:ext cx="9217895" cy="457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390177" y="3078361"/>
            <a:ext cx="2748168" cy="40005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5" name="Text 11"/>
          <p:cNvSpPr/>
          <p:nvPr/>
        </p:nvSpPr>
        <p:spPr>
          <a:xfrm>
            <a:off x="2390177" y="3078361"/>
            <a:ext cx="2748168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CPU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138346" y="3078361"/>
            <a:ext cx="3664274" cy="400050"/>
          </a:xfrm>
          <a:prstGeom prst="rect">
            <a:avLst/>
          </a:prstGeom>
          <a:solidFill>
            <a:srgbClr val="E5E5E5"/>
          </a:solidFill>
        </p:spPr>
      </p:sp>
      <p:sp>
        <p:nvSpPr>
          <p:cNvPr id="17" name="Text 13"/>
          <p:cNvSpPr/>
          <p:nvPr/>
        </p:nvSpPr>
        <p:spPr>
          <a:xfrm>
            <a:off x="5138346" y="3078361"/>
            <a:ext cx="3664274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66666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I/O Wait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802619" y="3078361"/>
            <a:ext cx="1374084" cy="40005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9" name="Text 15"/>
          <p:cNvSpPr/>
          <p:nvPr/>
        </p:nvSpPr>
        <p:spPr>
          <a:xfrm>
            <a:off x="8802619" y="3078361"/>
            <a:ext cx="1374084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CPU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10176704" y="3078361"/>
            <a:ext cx="1374084" cy="400050"/>
          </a:xfrm>
          <a:prstGeom prst="rect">
            <a:avLst/>
          </a:prstGeom>
          <a:solidFill>
            <a:srgbClr val="E5E5E5"/>
          </a:solidFill>
        </p:spPr>
      </p:sp>
      <p:sp>
        <p:nvSpPr>
          <p:cNvPr id="21" name="Text 17"/>
          <p:cNvSpPr/>
          <p:nvPr/>
        </p:nvSpPr>
        <p:spPr>
          <a:xfrm>
            <a:off x="10176704" y="3078361"/>
            <a:ext cx="1374084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666666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I/O Wait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09448" y="3853696"/>
            <a:ext cx="715982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Multi-Job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61609" y="3697486"/>
            <a:ext cx="9217895" cy="4572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2390177" y="3726061"/>
            <a:ext cx="2748168" cy="40005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5" name="Text 20"/>
          <p:cNvSpPr/>
          <p:nvPr/>
        </p:nvSpPr>
        <p:spPr>
          <a:xfrm>
            <a:off x="2390177" y="3726061"/>
            <a:ext cx="2748168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Job 1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138346" y="3726061"/>
            <a:ext cx="3206147" cy="40005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7" name="Text 22"/>
          <p:cNvSpPr/>
          <p:nvPr/>
        </p:nvSpPr>
        <p:spPr>
          <a:xfrm>
            <a:off x="5138346" y="3726061"/>
            <a:ext cx="3206147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Job 2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8344492" y="3726061"/>
            <a:ext cx="1832063" cy="400050"/>
          </a:xfrm>
          <a:prstGeom prst="rect">
            <a:avLst/>
          </a:prstGeom>
          <a:solidFill>
            <a:srgbClr val="666666"/>
          </a:solidFill>
        </p:spPr>
      </p:sp>
      <p:sp>
        <p:nvSpPr>
          <p:cNvPr id="29" name="Text 24"/>
          <p:cNvSpPr/>
          <p:nvPr/>
        </p:nvSpPr>
        <p:spPr>
          <a:xfrm>
            <a:off x="8344492" y="3726061"/>
            <a:ext cx="1832063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Job 3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10176555" y="3726061"/>
            <a:ext cx="1374084" cy="40005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31" name="Text 26"/>
          <p:cNvSpPr/>
          <p:nvPr/>
        </p:nvSpPr>
        <p:spPr>
          <a:xfrm>
            <a:off x="10176555" y="3726061"/>
            <a:ext cx="1374084" cy="4000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Job 1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2361609" y="4310896"/>
            <a:ext cx="2407883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← CPU stays busy! No more idle time →</a:t>
            </a:r>
            <a:endParaRPr lang="en-US" sz="11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448" y="5375970"/>
            <a:ext cx="10970057" cy="117723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28443" y="5682675"/>
            <a:ext cx="115625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Think About It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028443" y="5988427"/>
            <a:ext cx="8549377" cy="22574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happens if we only run one job at a time? How much CPU time goes to waste?</a:t>
            </a:r>
            <a:endParaRPr lang="en-US" sz="1800" dirty="0"/>
          </a:p>
        </p:txBody>
      </p:sp>
      <p:sp>
        <p:nvSpPr>
          <p:cNvPr id="36" name="Shape 30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7" name="Shape 31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95325"/>
            <a:ext cx="7663923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900" b="1" kern="0" spc="-8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Time-Sharing &amp; Multitasking</a:t>
            </a:r>
            <a:endParaRPr lang="en-US" sz="3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440061"/>
            <a:ext cx="6399200" cy="1916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262" y="1748671"/>
            <a:ext cx="1266062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Core Concept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52262" y="2070616"/>
            <a:ext cx="5526392" cy="94851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Time-sharing lets multiple users interact with a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computer </a:t>
            </a:r>
            <a:r>
              <a:rPr lang="en-US" sz="20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simultaneously</a:t>
            </a:r>
            <a:r>
              <a:rPr lang="en-US" sz="20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by rapidly switching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CPU between their jobs</a:t>
            </a:r>
            <a:endParaRPr lang="en-US" sz="2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3584823"/>
            <a:ext cx="6399200" cy="5905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7990" y="3718173"/>
            <a:ext cx="148345" cy="2952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1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1295076" y="3813423"/>
            <a:ext cx="5388166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Each user gets the </a:t>
            </a: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illusion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of having exclusive machine access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448" y="4327773"/>
            <a:ext cx="6399200" cy="876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7990" y="4461123"/>
            <a:ext cx="148345" cy="2952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2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295076" y="4556373"/>
            <a:ext cx="5266008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Switching happens so fast (milliseconds!) that you won't notice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delays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448" y="5356473"/>
            <a:ext cx="6399200" cy="876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7990" y="5489823"/>
            <a:ext cx="148345" cy="2952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</a:t>
            </a:r>
            <a:endParaRPr lang="en-US" sz="2100" dirty="0"/>
          </a:p>
        </p:txBody>
      </p:sp>
      <p:sp>
        <p:nvSpPr>
          <p:cNvPr id="17" name="Text 11"/>
          <p:cNvSpPr/>
          <p:nvPr/>
        </p:nvSpPr>
        <p:spPr>
          <a:xfrm>
            <a:off x="1295076" y="5585073"/>
            <a:ext cx="4838085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This evolved from batch processing to enable </a:t>
            </a: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interactive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computing</a:t>
            </a:r>
            <a:endParaRPr lang="en-US" sz="15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13371" y="2782193"/>
            <a:ext cx="4266133" cy="2428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18095" y="3146048"/>
            <a:ext cx="115625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Think About It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11046238" y="3010793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25394" y="152362"/>
                </a:moveTo>
                <a:cubicBezTo>
                  <a:pt x="25394" y="82286"/>
                  <a:pt x="82286" y="25394"/>
                  <a:pt x="152362" y="25394"/>
                </a:cubicBezTo>
                <a:cubicBezTo>
                  <a:pt x="222438" y="25394"/>
                  <a:pt x="279330" y="82286"/>
                  <a:pt x="279330" y="152362"/>
                </a:cubicBezTo>
                <a:cubicBezTo>
                  <a:pt x="279330" y="222438"/>
                  <a:pt x="222438" y="279330"/>
                  <a:pt x="152362" y="279330"/>
                </a:cubicBezTo>
                <a:cubicBezTo>
                  <a:pt x="82286" y="279330"/>
                  <a:pt x="25394" y="222438"/>
                  <a:pt x="25394" y="152362"/>
                </a:cubicBezTo>
                <a:close/>
                <a:moveTo>
                  <a:pt x="115414" y="114271"/>
                </a:moveTo>
                <a:cubicBezTo>
                  <a:pt x="121578" y="96750"/>
                  <a:pt x="139479" y="86229"/>
                  <a:pt x="157786" y="89369"/>
                </a:cubicBezTo>
                <a:cubicBezTo>
                  <a:pt x="176092" y="92509"/>
                  <a:pt x="189464" y="108395"/>
                  <a:pt x="189437" y="126968"/>
                </a:cubicBezTo>
                <a:cubicBezTo>
                  <a:pt x="189437" y="152362"/>
                  <a:pt x="151346" y="165059"/>
                  <a:pt x="151346" y="165059"/>
                </a:cubicBezTo>
                <a:moveTo>
                  <a:pt x="152362" y="215846"/>
                </a:moveTo>
                <a:lnTo>
                  <a:pt x="152489" y="215846"/>
                </a:lnTo>
              </a:path>
            </a:pathLst>
          </a:cu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618095" y="3372743"/>
            <a:ext cx="3517864" cy="14573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would happen if the OS didn't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switch tasks quickly enough?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slow is </a:t>
            </a:r>
            <a:r>
              <a:rPr lang="en-US" sz="1700" b="1" i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"too slow"</a:t>
            </a: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for you to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feel it's unresponsive?</a:t>
            </a:r>
            <a:endParaRPr lang="en-US" sz="17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9448" y="5486400"/>
            <a:ext cx="609448" cy="609600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333167" y="5486400"/>
            <a:ext cx="609448" cy="609600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056886" y="5486400"/>
            <a:ext cx="609448" cy="6096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6" name="Shape 16"/>
          <p:cNvSpPr/>
          <p:nvPr/>
        </p:nvSpPr>
        <p:spPr>
          <a:xfrm>
            <a:off x="0" y="6819900"/>
            <a:ext cx="7557093" cy="381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7" name="Text 17"/>
          <p:cNvSpPr/>
          <p:nvPr/>
        </p:nvSpPr>
        <p:spPr>
          <a:xfrm>
            <a:off x="11171668" y="6518910"/>
            <a:ext cx="407836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26 / 42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95325"/>
            <a:ext cx="6573732" cy="6000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200" b="1" kern="0" spc="-13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Modern OS Milestones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443930"/>
            <a:ext cx="5332667" cy="12314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6558" y="1634430"/>
            <a:ext cx="508419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01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1399825" y="1663005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9" name="Shape 6"/>
          <p:cNvSpPr/>
          <p:nvPr/>
        </p:nvSpPr>
        <p:spPr>
          <a:xfrm>
            <a:off x="1533142" y="1796355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142538" y="24219"/>
                </a:moveTo>
                <a:cubicBezTo>
                  <a:pt x="136681" y="21548"/>
                  <a:pt x="129953" y="21548"/>
                  <a:pt x="124096" y="24219"/>
                </a:cubicBezTo>
                <a:lnTo>
                  <a:pt x="28885" y="67547"/>
                </a:lnTo>
                <a:cubicBezTo>
                  <a:pt x="24857" y="69323"/>
                  <a:pt x="22258" y="73310"/>
                  <a:pt x="22258" y="77713"/>
                </a:cubicBezTo>
                <a:cubicBezTo>
                  <a:pt x="22258" y="82115"/>
                  <a:pt x="24857" y="86102"/>
                  <a:pt x="28885" y="87878"/>
                </a:cubicBezTo>
                <a:lnTo>
                  <a:pt x="124207" y="131317"/>
                </a:lnTo>
                <a:cubicBezTo>
                  <a:pt x="130064" y="133989"/>
                  <a:pt x="136792" y="133989"/>
                  <a:pt x="142649" y="131317"/>
                </a:cubicBezTo>
                <a:lnTo>
                  <a:pt x="237970" y="87989"/>
                </a:lnTo>
                <a:cubicBezTo>
                  <a:pt x="241998" y="86213"/>
                  <a:pt x="244598" y="82226"/>
                  <a:pt x="244598" y="77824"/>
                </a:cubicBezTo>
                <a:cubicBezTo>
                  <a:pt x="244598" y="73421"/>
                  <a:pt x="241998" y="69434"/>
                  <a:pt x="237970" y="67658"/>
                </a:cubicBezTo>
                <a:close/>
                <a:moveTo>
                  <a:pt x="22219" y="133317"/>
                </a:moveTo>
                <a:cubicBezTo>
                  <a:pt x="22209" y="137656"/>
                  <a:pt x="24725" y="141604"/>
                  <a:pt x="28663" y="143427"/>
                </a:cubicBezTo>
                <a:lnTo>
                  <a:pt x="124207" y="186866"/>
                </a:lnTo>
                <a:cubicBezTo>
                  <a:pt x="130032" y="189503"/>
                  <a:pt x="136712" y="189503"/>
                  <a:pt x="142538" y="186866"/>
                </a:cubicBezTo>
                <a:lnTo>
                  <a:pt x="237859" y="143538"/>
                </a:lnTo>
                <a:cubicBezTo>
                  <a:pt x="241877" y="141732"/>
                  <a:pt x="244449" y="137722"/>
                  <a:pt x="244414" y="133317"/>
                </a:cubicBezTo>
                <a:moveTo>
                  <a:pt x="22219" y="188865"/>
                </a:moveTo>
                <a:cubicBezTo>
                  <a:pt x="22209" y="193204"/>
                  <a:pt x="24725" y="197153"/>
                  <a:pt x="28663" y="198975"/>
                </a:cubicBezTo>
                <a:lnTo>
                  <a:pt x="124207" y="242414"/>
                </a:lnTo>
                <a:cubicBezTo>
                  <a:pt x="130032" y="245052"/>
                  <a:pt x="136712" y="245052"/>
                  <a:pt x="142538" y="242414"/>
                </a:cubicBezTo>
                <a:lnTo>
                  <a:pt x="237859" y="199086"/>
                </a:lnTo>
                <a:cubicBezTo>
                  <a:pt x="241877" y="197280"/>
                  <a:pt x="244449" y="193271"/>
                  <a:pt x="244414" y="188865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23544" y="1669673"/>
            <a:ext cx="1674195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Microkernels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123544" y="2032814"/>
            <a:ext cx="3014206" cy="3887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Move core services out of kernel space 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improves </a:t>
            </a: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modularity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and </a:t>
            </a: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security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46838" y="1443930"/>
            <a:ext cx="5332667" cy="12314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03949" y="1634430"/>
            <a:ext cx="508419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3600" dirty="0"/>
          </a:p>
        </p:txBody>
      </p:sp>
      <p:sp>
        <p:nvSpPr>
          <p:cNvPr id="14" name="Shape 10"/>
          <p:cNvSpPr/>
          <p:nvPr/>
        </p:nvSpPr>
        <p:spPr>
          <a:xfrm>
            <a:off x="7037215" y="1663005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5" name="Shape 11"/>
          <p:cNvSpPr/>
          <p:nvPr/>
        </p:nvSpPr>
        <p:spPr>
          <a:xfrm>
            <a:off x="7170532" y="1796355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166646" y="66658"/>
                </a:moveTo>
                <a:cubicBezTo>
                  <a:pt x="111461" y="66658"/>
                  <a:pt x="66658" y="111461"/>
                  <a:pt x="66658" y="166646"/>
                </a:cubicBezTo>
                <a:lnTo>
                  <a:pt x="66658" y="33329"/>
                </a:lnTo>
                <a:moveTo>
                  <a:pt x="166646" y="66658"/>
                </a:moveTo>
                <a:cubicBezTo>
                  <a:pt x="166646" y="48263"/>
                  <a:pt x="181580" y="33329"/>
                  <a:pt x="199975" y="33329"/>
                </a:cubicBezTo>
                <a:cubicBezTo>
                  <a:pt x="218370" y="33329"/>
                  <a:pt x="233304" y="48263"/>
                  <a:pt x="233304" y="66658"/>
                </a:cubicBezTo>
                <a:cubicBezTo>
                  <a:pt x="233304" y="85053"/>
                  <a:pt x="218370" y="99987"/>
                  <a:pt x="199975" y="99987"/>
                </a:cubicBezTo>
                <a:cubicBezTo>
                  <a:pt x="181580" y="99987"/>
                  <a:pt x="166646" y="85053"/>
                  <a:pt x="166646" y="66658"/>
                </a:cubicBezTo>
                <a:close/>
                <a:moveTo>
                  <a:pt x="33329" y="199975"/>
                </a:moveTo>
                <a:cubicBezTo>
                  <a:pt x="33329" y="181580"/>
                  <a:pt x="48263" y="166646"/>
                  <a:pt x="66658" y="166646"/>
                </a:cubicBezTo>
                <a:cubicBezTo>
                  <a:pt x="85053" y="166646"/>
                  <a:pt x="99987" y="181580"/>
                  <a:pt x="99987" y="199975"/>
                </a:cubicBezTo>
                <a:cubicBezTo>
                  <a:pt x="99987" y="218370"/>
                  <a:pt x="85053" y="233304"/>
                  <a:pt x="66658" y="233304"/>
                </a:cubicBezTo>
                <a:cubicBezTo>
                  <a:pt x="48263" y="233304"/>
                  <a:pt x="33329" y="218370"/>
                  <a:pt x="33329" y="19997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60934" y="1669673"/>
            <a:ext cx="1840544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Multithreading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760934" y="2032814"/>
            <a:ext cx="3158534" cy="3887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Let a single process run multiple </a:t>
            </a: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threads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boosts responsiveness &amp; CPU utilization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2865834"/>
            <a:ext cx="5332667" cy="12314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6558" y="3056334"/>
            <a:ext cx="508419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3600" dirty="0"/>
          </a:p>
        </p:txBody>
      </p:sp>
      <p:sp>
        <p:nvSpPr>
          <p:cNvPr id="20" name="Shape 15"/>
          <p:cNvSpPr/>
          <p:nvPr/>
        </p:nvSpPr>
        <p:spPr>
          <a:xfrm>
            <a:off x="1399825" y="3084909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1" name="Shape 16"/>
          <p:cNvSpPr/>
          <p:nvPr/>
        </p:nvSpPr>
        <p:spPr>
          <a:xfrm>
            <a:off x="1533142" y="3218259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44439" y="22219"/>
                </a:moveTo>
                <a:lnTo>
                  <a:pt x="222194" y="22219"/>
                </a:lnTo>
                <a:cubicBezTo>
                  <a:pt x="234458" y="22219"/>
                  <a:pt x="244414" y="32176"/>
                  <a:pt x="244414" y="44439"/>
                </a:cubicBezTo>
                <a:lnTo>
                  <a:pt x="244414" y="88878"/>
                </a:lnTo>
                <a:cubicBezTo>
                  <a:pt x="244414" y="101141"/>
                  <a:pt x="234458" y="111097"/>
                  <a:pt x="222194" y="111097"/>
                </a:cubicBezTo>
                <a:lnTo>
                  <a:pt x="44439" y="111097"/>
                </a:lnTo>
                <a:cubicBezTo>
                  <a:pt x="32176" y="111097"/>
                  <a:pt x="22219" y="101141"/>
                  <a:pt x="22219" y="88878"/>
                </a:cubicBezTo>
                <a:lnTo>
                  <a:pt x="22219" y="44439"/>
                </a:lnTo>
                <a:cubicBezTo>
                  <a:pt x="22219" y="32176"/>
                  <a:pt x="32176" y="22219"/>
                  <a:pt x="44439" y="22219"/>
                </a:cubicBezTo>
                <a:close/>
                <a:moveTo>
                  <a:pt x="44439" y="155536"/>
                </a:moveTo>
                <a:lnTo>
                  <a:pt x="222194" y="155536"/>
                </a:lnTo>
                <a:cubicBezTo>
                  <a:pt x="234458" y="155536"/>
                  <a:pt x="244414" y="165492"/>
                  <a:pt x="244414" y="177756"/>
                </a:cubicBezTo>
                <a:lnTo>
                  <a:pt x="244414" y="222194"/>
                </a:lnTo>
                <a:cubicBezTo>
                  <a:pt x="244414" y="234458"/>
                  <a:pt x="234458" y="244414"/>
                  <a:pt x="222194" y="244414"/>
                </a:cubicBezTo>
                <a:lnTo>
                  <a:pt x="44439" y="244414"/>
                </a:lnTo>
                <a:cubicBezTo>
                  <a:pt x="32176" y="244414"/>
                  <a:pt x="22219" y="234458"/>
                  <a:pt x="22219" y="222194"/>
                </a:cubicBezTo>
                <a:lnTo>
                  <a:pt x="22219" y="177756"/>
                </a:lnTo>
                <a:cubicBezTo>
                  <a:pt x="22219" y="165492"/>
                  <a:pt x="32176" y="155536"/>
                  <a:pt x="44439" y="155536"/>
                </a:cubicBezTo>
                <a:close/>
                <a:moveTo>
                  <a:pt x="66658" y="66658"/>
                </a:moveTo>
                <a:lnTo>
                  <a:pt x="66769" y="66658"/>
                </a:lnTo>
                <a:moveTo>
                  <a:pt x="66658" y="199975"/>
                </a:moveTo>
                <a:lnTo>
                  <a:pt x="66769" y="199975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123544" y="3091577"/>
            <a:ext cx="1498176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SMP Support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2123544" y="3454717"/>
            <a:ext cx="3211801" cy="3887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Manage </a:t>
            </a: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Symmetric Multiprocessors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multiple CPUs sharing memory for scalability</a:t>
            </a:r>
            <a:endParaRPr lang="en-US" sz="13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46838" y="2865834"/>
            <a:ext cx="5332667" cy="12314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03949" y="3056334"/>
            <a:ext cx="508419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04</a:t>
            </a:r>
            <a:endParaRPr lang="en-US" sz="3600" dirty="0"/>
          </a:p>
        </p:txBody>
      </p:sp>
      <p:sp>
        <p:nvSpPr>
          <p:cNvPr id="26" name="Shape 20"/>
          <p:cNvSpPr/>
          <p:nvPr/>
        </p:nvSpPr>
        <p:spPr>
          <a:xfrm>
            <a:off x="7037215" y="3084909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7" name="Shape 21"/>
          <p:cNvSpPr/>
          <p:nvPr/>
        </p:nvSpPr>
        <p:spPr>
          <a:xfrm>
            <a:off x="7170532" y="3218259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172601" y="125462"/>
                </a:moveTo>
                <a:cubicBezTo>
                  <a:pt x="168264" y="129800"/>
                  <a:pt x="168264" y="136833"/>
                  <a:pt x="172601" y="141171"/>
                </a:cubicBezTo>
                <a:lnTo>
                  <a:pt x="198997" y="167579"/>
                </a:lnTo>
                <a:cubicBezTo>
                  <a:pt x="203336" y="171916"/>
                  <a:pt x="210368" y="171916"/>
                  <a:pt x="214706" y="167579"/>
                </a:cubicBezTo>
                <a:lnTo>
                  <a:pt x="241114" y="141171"/>
                </a:lnTo>
                <a:cubicBezTo>
                  <a:pt x="245451" y="136833"/>
                  <a:pt x="245451" y="129800"/>
                  <a:pt x="241114" y="125462"/>
                </a:cubicBezTo>
                <a:lnTo>
                  <a:pt x="214706" y="99054"/>
                </a:lnTo>
                <a:cubicBezTo>
                  <a:pt x="210368" y="94717"/>
                  <a:pt x="203336" y="94717"/>
                  <a:pt x="198997" y="99054"/>
                </a:cubicBezTo>
                <a:close/>
                <a:moveTo>
                  <a:pt x="25519" y="125462"/>
                </a:moveTo>
                <a:cubicBezTo>
                  <a:pt x="21182" y="129800"/>
                  <a:pt x="21182" y="136833"/>
                  <a:pt x="25519" y="141171"/>
                </a:cubicBezTo>
                <a:lnTo>
                  <a:pt x="51927" y="167579"/>
                </a:lnTo>
                <a:cubicBezTo>
                  <a:pt x="56265" y="171916"/>
                  <a:pt x="63298" y="171916"/>
                  <a:pt x="67636" y="167579"/>
                </a:cubicBezTo>
                <a:lnTo>
                  <a:pt x="94044" y="141171"/>
                </a:lnTo>
                <a:cubicBezTo>
                  <a:pt x="98381" y="136833"/>
                  <a:pt x="98381" y="129800"/>
                  <a:pt x="94044" y="125462"/>
                </a:cubicBezTo>
                <a:lnTo>
                  <a:pt x="67636" y="99054"/>
                </a:lnTo>
                <a:cubicBezTo>
                  <a:pt x="63298" y="94717"/>
                  <a:pt x="56265" y="94717"/>
                  <a:pt x="51927" y="99054"/>
                </a:cubicBezTo>
                <a:close/>
                <a:moveTo>
                  <a:pt x="99054" y="198997"/>
                </a:moveTo>
                <a:cubicBezTo>
                  <a:pt x="96968" y="201081"/>
                  <a:pt x="95796" y="203909"/>
                  <a:pt x="95796" y="206857"/>
                </a:cubicBezTo>
                <a:cubicBezTo>
                  <a:pt x="95796" y="209806"/>
                  <a:pt x="96968" y="212634"/>
                  <a:pt x="99054" y="214718"/>
                </a:cubicBezTo>
                <a:lnTo>
                  <a:pt x="125462" y="241114"/>
                </a:lnTo>
                <a:cubicBezTo>
                  <a:pt x="129800" y="245451"/>
                  <a:pt x="136833" y="245451"/>
                  <a:pt x="141171" y="241114"/>
                </a:cubicBezTo>
                <a:lnTo>
                  <a:pt x="167579" y="214718"/>
                </a:lnTo>
                <a:cubicBezTo>
                  <a:pt x="169665" y="212634"/>
                  <a:pt x="170837" y="209806"/>
                  <a:pt x="170837" y="206857"/>
                </a:cubicBezTo>
                <a:cubicBezTo>
                  <a:pt x="170837" y="203909"/>
                  <a:pt x="169665" y="201081"/>
                  <a:pt x="167579" y="198997"/>
                </a:cubicBezTo>
                <a:lnTo>
                  <a:pt x="141171" y="172601"/>
                </a:lnTo>
                <a:cubicBezTo>
                  <a:pt x="136833" y="168264"/>
                  <a:pt x="129800" y="168264"/>
                  <a:pt x="125462" y="172601"/>
                </a:cubicBezTo>
                <a:close/>
                <a:moveTo>
                  <a:pt x="99054" y="51927"/>
                </a:moveTo>
                <a:cubicBezTo>
                  <a:pt x="94717" y="56265"/>
                  <a:pt x="94717" y="63298"/>
                  <a:pt x="99054" y="67636"/>
                </a:cubicBezTo>
                <a:lnTo>
                  <a:pt x="125462" y="94033"/>
                </a:lnTo>
                <a:cubicBezTo>
                  <a:pt x="129800" y="98370"/>
                  <a:pt x="136833" y="98370"/>
                  <a:pt x="141171" y="94033"/>
                </a:cubicBezTo>
                <a:lnTo>
                  <a:pt x="167579" y="67636"/>
                </a:lnTo>
                <a:cubicBezTo>
                  <a:pt x="171916" y="63298"/>
                  <a:pt x="171916" y="56265"/>
                  <a:pt x="167579" y="51927"/>
                </a:cubicBezTo>
                <a:lnTo>
                  <a:pt x="141171" y="25519"/>
                </a:lnTo>
                <a:cubicBezTo>
                  <a:pt x="136833" y="21182"/>
                  <a:pt x="129800" y="21182"/>
                  <a:pt x="125462" y="25519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760934" y="3091577"/>
            <a:ext cx="2805899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Object-Oriented Design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760934" y="3454717"/>
            <a:ext cx="3401212" cy="3887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Structure OS components as </a:t>
            </a:r>
            <a:r>
              <a:rPr lang="en-US" sz="13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reusable objects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— eases maintenance &amp; extension</a:t>
            </a:r>
            <a:endParaRPr lang="en-US" sz="13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5556945"/>
            <a:ext cx="10970057" cy="99625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2262" y="5829360"/>
            <a:ext cx="1133192" cy="10858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00" b="1" kern="0" spc="17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Think About It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952262" y="6040815"/>
            <a:ext cx="4950423" cy="2209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might these ideas shape the OS you'll build?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10978686" y="5788372"/>
            <a:ext cx="372275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3000">
                    <a:alpha val="1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?</a:t>
            </a:r>
            <a:endParaRPr lang="en-US" sz="4800" dirty="0"/>
          </a:p>
        </p:txBody>
      </p:sp>
      <p:sp>
        <p:nvSpPr>
          <p:cNvPr id="34" name="Shape 27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5" name="Shape 28"/>
          <p:cNvSpPr/>
          <p:nvPr/>
        </p:nvSpPr>
        <p:spPr>
          <a:xfrm>
            <a:off x="0" y="6819900"/>
            <a:ext cx="2437790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95325"/>
            <a:ext cx="5851798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Summary: OS Evolution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994446"/>
            <a:ext cx="609448" cy="60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Text 5"/>
          <p:cNvSpPr/>
          <p:nvPr/>
        </p:nvSpPr>
        <p:spPr>
          <a:xfrm>
            <a:off x="609448" y="1994446"/>
            <a:ext cx="609448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01</a:t>
            </a:r>
            <a:endParaRPr lang="en-US" sz="2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47438" y="1994446"/>
            <a:ext cx="6056386" cy="10953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04549" y="2219236"/>
            <a:ext cx="2581076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Serial Processing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704549" y="2661196"/>
            <a:ext cx="5408996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No OS: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Programmers ran one job at a time directly on hardware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980455" y="3394621"/>
            <a:ext cx="457086" cy="457200"/>
          </a:xfrm>
          <a:custGeom>
            <a:avLst/>
            <a:gdLst/>
            <a:ahLst/>
            <a:cxnLst/>
            <a:rect l="l" t="t" r="r" b="b"/>
            <a:pathLst>
              <a:path w="457086" h="457200">
                <a:moveTo>
                  <a:pt x="228543" y="95226"/>
                </a:moveTo>
                <a:lnTo>
                  <a:pt x="228543" y="361860"/>
                </a:lnTo>
                <a:moveTo>
                  <a:pt x="361860" y="228543"/>
                </a:moveTo>
                <a:moveTo>
                  <a:pt x="228543" y="361860"/>
                </a:moveTo>
                <a:moveTo>
                  <a:pt x="95226" y="228543"/>
                </a:moveTo>
              </a:path>
            </a:pathLst>
          </a:custGeom>
          <a:noFill/>
          <a:ln w="23813">
            <a:solidFill>
              <a:srgbClr val="FF3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9448" y="4156621"/>
            <a:ext cx="609448" cy="6096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3" name="Text 10"/>
          <p:cNvSpPr/>
          <p:nvPr/>
        </p:nvSpPr>
        <p:spPr>
          <a:xfrm>
            <a:off x="609448" y="4156621"/>
            <a:ext cx="609448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2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47438" y="4156621"/>
            <a:ext cx="6056386" cy="176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04549" y="4381411"/>
            <a:ext cx="4732593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Multiprogramming &amp; Time-sharing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704549" y="4823371"/>
            <a:ext cx="5141619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OS emerged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to manage resources, enable concurrency, and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support interactive use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704549" y="5432971"/>
            <a:ext cx="2328429" cy="2667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8" name="Shape 14"/>
          <p:cNvSpPr/>
          <p:nvPr/>
        </p:nvSpPr>
        <p:spPr>
          <a:xfrm>
            <a:off x="1818820" y="5490121"/>
            <a:ext cx="152362" cy="152400"/>
          </a:xfrm>
          <a:custGeom>
            <a:avLst/>
            <a:gdLst/>
            <a:ahLst/>
            <a:cxnLst/>
            <a:rect l="l" t="t" r="r" b="b"/>
            <a:pathLst>
              <a:path w="152362" h="152400">
                <a:moveTo>
                  <a:pt x="126968" y="38090"/>
                </a:moveTo>
                <a:moveTo>
                  <a:pt x="57136" y="107923"/>
                </a:moveTo>
                <a:lnTo>
                  <a:pt x="25394" y="76181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704549" y="5432971"/>
            <a:ext cx="2328429" cy="266700"/>
          </a:xfrm>
          <a:prstGeom prst="rect">
            <a:avLst/>
          </a:prstGeom>
          <a:noFill/>
        </p:spPr>
        <p:txBody>
          <a:bodyPr wrap="none" lIns="114300" tIns="57150" rIns="114300" bIns="5715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Modern OS Foundation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60909" y="1360140"/>
            <a:ext cx="3618595" cy="51930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03724" y="2939326"/>
            <a:ext cx="1503681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Critical Thinking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303724" y="3342233"/>
            <a:ext cx="2856934" cy="15859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Each step solved real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limitations. What if we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skipped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multiprogramming</a:t>
            </a: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—could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modern apps even exist?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4" name="Shape 19"/>
          <p:cNvSpPr/>
          <p:nvPr/>
        </p:nvSpPr>
        <p:spPr>
          <a:xfrm>
            <a:off x="0" y="6819900"/>
            <a:ext cx="8044680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13821" y="1419225"/>
            <a:ext cx="4761309" cy="4762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89952" y="2657475"/>
            <a:ext cx="38090" cy="1905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Text 4"/>
          <p:cNvSpPr/>
          <p:nvPr/>
        </p:nvSpPr>
        <p:spPr>
          <a:xfrm>
            <a:off x="609448" y="2202180"/>
            <a:ext cx="1784003" cy="3314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400" kern="0" spc="-2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Imagine This: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09448" y="2600325"/>
            <a:ext cx="1797097" cy="19335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200" b="1" kern="0" spc="-22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No</a:t>
            </a:r>
            <a:endParaRPr lang="en-US" sz="7200" dirty="0"/>
          </a:p>
          <a:p>
            <a:pPr marL="0" indent="0">
              <a:buNone/>
            </a:pPr>
            <a:r>
              <a:rPr lang="en-US" sz="7200" b="1" kern="0" spc="-22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OS?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609448" y="4791075"/>
            <a:ext cx="2713351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if you had to </a:t>
            </a:r>
            <a:r>
              <a:rPr lang="en-US" sz="17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manually</a:t>
            </a: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: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5128" y="1381125"/>
            <a:ext cx="6894376" cy="9715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42239" y="1600200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2" name="Shape 8"/>
          <p:cNvSpPr/>
          <p:nvPr/>
        </p:nvSpPr>
        <p:spPr>
          <a:xfrm>
            <a:off x="5075556" y="1733550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133317" y="22219"/>
                </a:moveTo>
                <a:lnTo>
                  <a:pt x="133317" y="111097"/>
                </a:lnTo>
                <a:moveTo>
                  <a:pt x="177756" y="66658"/>
                </a:moveTo>
                <a:moveTo>
                  <a:pt x="133317" y="111097"/>
                </a:moveTo>
                <a:moveTo>
                  <a:pt x="88878" y="66658"/>
                </a:moveTo>
                <a:moveTo>
                  <a:pt x="44439" y="155536"/>
                </a:moveTo>
                <a:lnTo>
                  <a:pt x="222194" y="155536"/>
                </a:lnTo>
                <a:cubicBezTo>
                  <a:pt x="234458" y="155536"/>
                  <a:pt x="244414" y="165492"/>
                  <a:pt x="244414" y="177756"/>
                </a:cubicBezTo>
                <a:lnTo>
                  <a:pt x="244414" y="222194"/>
                </a:lnTo>
                <a:cubicBezTo>
                  <a:pt x="244414" y="234458"/>
                  <a:pt x="234458" y="244414"/>
                  <a:pt x="222194" y="244414"/>
                </a:cubicBezTo>
                <a:lnTo>
                  <a:pt x="44439" y="244414"/>
                </a:lnTo>
                <a:cubicBezTo>
                  <a:pt x="32176" y="244414"/>
                  <a:pt x="22219" y="234458"/>
                  <a:pt x="22219" y="222194"/>
                </a:cubicBezTo>
                <a:lnTo>
                  <a:pt x="22219" y="177756"/>
                </a:lnTo>
                <a:cubicBezTo>
                  <a:pt x="22219" y="165492"/>
                  <a:pt x="32176" y="155536"/>
                  <a:pt x="44439" y="155536"/>
                </a:cubicBezTo>
                <a:close/>
                <a:moveTo>
                  <a:pt x="66658" y="199975"/>
                </a:moveTo>
                <a:lnTo>
                  <a:pt x="66769" y="199975"/>
                </a:lnTo>
                <a:moveTo>
                  <a:pt x="111097" y="199975"/>
                </a:moveTo>
                <a:lnTo>
                  <a:pt x="111208" y="199975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5958" y="1766828"/>
            <a:ext cx="2619910" cy="2105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Load programs into memory</a:t>
            </a:r>
            <a:endParaRPr lang="en-US" sz="17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5128" y="2543175"/>
            <a:ext cx="6894376" cy="97155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942239" y="2762250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6" name="Shape 11"/>
          <p:cNvSpPr/>
          <p:nvPr/>
        </p:nvSpPr>
        <p:spPr>
          <a:xfrm>
            <a:off x="5075556" y="2895600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188865" y="22219"/>
                </a:moveTo>
                <a:moveTo>
                  <a:pt x="233304" y="66658"/>
                </a:moveTo>
                <a:moveTo>
                  <a:pt x="188865" y="111097"/>
                </a:moveTo>
                <a:moveTo>
                  <a:pt x="33329" y="122207"/>
                </a:moveTo>
                <a:lnTo>
                  <a:pt x="33329" y="111097"/>
                </a:lnTo>
                <a:cubicBezTo>
                  <a:pt x="33329" y="86571"/>
                  <a:pt x="53242" y="66658"/>
                  <a:pt x="77768" y="66658"/>
                </a:cubicBezTo>
                <a:lnTo>
                  <a:pt x="233304" y="66658"/>
                </a:lnTo>
                <a:moveTo>
                  <a:pt x="77768" y="244414"/>
                </a:moveTo>
                <a:moveTo>
                  <a:pt x="33329" y="199975"/>
                </a:moveTo>
                <a:moveTo>
                  <a:pt x="77768" y="155536"/>
                </a:moveTo>
                <a:moveTo>
                  <a:pt x="233304" y="144426"/>
                </a:moveTo>
                <a:lnTo>
                  <a:pt x="233304" y="155536"/>
                </a:lnTo>
                <a:cubicBezTo>
                  <a:pt x="233304" y="180063"/>
                  <a:pt x="213392" y="199975"/>
                  <a:pt x="188865" y="199975"/>
                </a:cubicBezTo>
                <a:lnTo>
                  <a:pt x="33329" y="199975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665958" y="2928878"/>
            <a:ext cx="2631963" cy="2105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Switch between applications</a:t>
            </a:r>
            <a:endParaRPr lang="en-US" sz="17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5128" y="3705225"/>
            <a:ext cx="6894376" cy="97155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942239" y="3924300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0" name="Shape 14"/>
          <p:cNvSpPr/>
          <p:nvPr/>
        </p:nvSpPr>
        <p:spPr>
          <a:xfrm>
            <a:off x="5075556" y="4057650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22219" y="133317"/>
                </a:moveTo>
                <a:cubicBezTo>
                  <a:pt x="22219" y="72000"/>
                  <a:pt x="72000" y="22219"/>
                  <a:pt x="133317" y="22219"/>
                </a:cubicBezTo>
                <a:cubicBezTo>
                  <a:pt x="194633" y="22219"/>
                  <a:pt x="244414" y="72000"/>
                  <a:pt x="244414" y="133317"/>
                </a:cubicBezTo>
                <a:cubicBezTo>
                  <a:pt x="244414" y="194633"/>
                  <a:pt x="194633" y="244414"/>
                  <a:pt x="133317" y="244414"/>
                </a:cubicBezTo>
                <a:cubicBezTo>
                  <a:pt x="72000" y="244414"/>
                  <a:pt x="22219" y="194633"/>
                  <a:pt x="22219" y="133317"/>
                </a:cubicBezTo>
                <a:close/>
                <a:moveTo>
                  <a:pt x="133317" y="66658"/>
                </a:moveTo>
                <a:lnTo>
                  <a:pt x="133317" y="133317"/>
                </a:lnTo>
                <a:lnTo>
                  <a:pt x="177756" y="155536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665958" y="4090928"/>
            <a:ext cx="2212223" cy="2105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Manage CPU time fairly</a:t>
            </a:r>
            <a:endParaRPr lang="en-US" sz="17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5128" y="4867275"/>
            <a:ext cx="6894376" cy="97155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942239" y="5086350"/>
            <a:ext cx="533267" cy="5334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4" name="Shape 17"/>
          <p:cNvSpPr/>
          <p:nvPr/>
        </p:nvSpPr>
        <p:spPr>
          <a:xfrm>
            <a:off x="5075556" y="5219700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69991" y="225527"/>
                </a:moveTo>
                <a:cubicBezTo>
                  <a:pt x="74994" y="230548"/>
                  <a:pt x="81790" y="233370"/>
                  <a:pt x="88878" y="233370"/>
                </a:cubicBezTo>
                <a:cubicBezTo>
                  <a:pt x="95965" y="233370"/>
                  <a:pt x="102761" y="230548"/>
                  <a:pt x="107764" y="225527"/>
                </a:cubicBezTo>
                <a:lnTo>
                  <a:pt x="133317" y="199975"/>
                </a:lnTo>
                <a:lnTo>
                  <a:pt x="66658" y="133317"/>
                </a:lnTo>
                <a:lnTo>
                  <a:pt x="41106" y="158869"/>
                </a:lnTo>
                <a:cubicBezTo>
                  <a:pt x="36086" y="163872"/>
                  <a:pt x="33264" y="170668"/>
                  <a:pt x="33264" y="177756"/>
                </a:cubicBezTo>
                <a:cubicBezTo>
                  <a:pt x="33264" y="184843"/>
                  <a:pt x="36086" y="191639"/>
                  <a:pt x="41106" y="196642"/>
                </a:cubicBezTo>
                <a:close/>
                <a:moveTo>
                  <a:pt x="22219" y="244414"/>
                </a:moveTo>
                <a:moveTo>
                  <a:pt x="55549" y="211085"/>
                </a:moveTo>
                <a:moveTo>
                  <a:pt x="83323" y="149981"/>
                </a:moveTo>
                <a:moveTo>
                  <a:pt x="111097" y="122207"/>
                </a:moveTo>
                <a:moveTo>
                  <a:pt x="116652" y="183310"/>
                </a:moveTo>
                <a:moveTo>
                  <a:pt x="144426" y="155536"/>
                </a:moveTo>
                <a:moveTo>
                  <a:pt x="199975" y="33329"/>
                </a:moveTo>
                <a:moveTo>
                  <a:pt x="155536" y="77768"/>
                </a:moveTo>
                <a:lnTo>
                  <a:pt x="222194" y="77768"/>
                </a:lnTo>
                <a:lnTo>
                  <a:pt x="177756" y="122207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665958" y="5252978"/>
            <a:ext cx="2759923" cy="2105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Handle I/O operations directly</a:t>
            </a:r>
            <a:endParaRPr lang="en-US" sz="17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448" y="5520779"/>
            <a:ext cx="10970057" cy="95622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940234" y="5884634"/>
            <a:ext cx="8308485" cy="2552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would </a:t>
            </a:r>
            <a:r>
              <a:rPr lang="en-US" sz="20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you</a:t>
            </a: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keep everything running smoothly—without crashing?</a:t>
            </a:r>
            <a:endParaRPr lang="en-US" sz="2000" dirty="0"/>
          </a:p>
        </p:txBody>
      </p:sp>
      <p:sp>
        <p:nvSpPr>
          <p:cNvPr id="28" name="Text 20"/>
          <p:cNvSpPr/>
          <p:nvPr/>
        </p:nvSpPr>
        <p:spPr>
          <a:xfrm>
            <a:off x="11476392" y="6557010"/>
            <a:ext cx="407836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29 / 42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0" name="Shape 22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972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809625"/>
            <a:ext cx="5987942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Major OS Achievements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474440"/>
            <a:ext cx="9523" cy="219075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474440"/>
            <a:ext cx="7618095" cy="219075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Modern operating systems solve three fundamental challenges that define computing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2074515"/>
            <a:ext cx="3453437" cy="44024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171" y="2455515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Shape 7"/>
          <p:cNvSpPr/>
          <p:nvPr/>
        </p:nvSpPr>
        <p:spPr>
          <a:xfrm>
            <a:off x="1104624" y="2646015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203625" y="34599"/>
                </a:moveTo>
                <a:cubicBezTo>
                  <a:pt x="195258" y="30782"/>
                  <a:pt x="185647" y="30782"/>
                  <a:pt x="177279" y="34599"/>
                </a:cubicBezTo>
                <a:lnTo>
                  <a:pt x="41265" y="96496"/>
                </a:lnTo>
                <a:cubicBezTo>
                  <a:pt x="35510" y="99033"/>
                  <a:pt x="31797" y="104729"/>
                  <a:pt x="31797" y="111018"/>
                </a:cubicBezTo>
                <a:cubicBezTo>
                  <a:pt x="31797" y="117307"/>
                  <a:pt x="35510" y="123003"/>
                  <a:pt x="41265" y="125540"/>
                </a:cubicBezTo>
                <a:lnTo>
                  <a:pt x="177438" y="187596"/>
                </a:lnTo>
                <a:cubicBezTo>
                  <a:pt x="185805" y="191412"/>
                  <a:pt x="195417" y="191412"/>
                  <a:pt x="203784" y="187596"/>
                </a:cubicBezTo>
                <a:lnTo>
                  <a:pt x="339957" y="125699"/>
                </a:lnTo>
                <a:cubicBezTo>
                  <a:pt x="345712" y="123161"/>
                  <a:pt x="349425" y="117466"/>
                  <a:pt x="349425" y="111177"/>
                </a:cubicBezTo>
                <a:cubicBezTo>
                  <a:pt x="349425" y="104888"/>
                  <a:pt x="345712" y="99192"/>
                  <a:pt x="339957" y="96655"/>
                </a:cubicBezTo>
                <a:close/>
                <a:moveTo>
                  <a:pt x="31742" y="190452"/>
                </a:moveTo>
                <a:cubicBezTo>
                  <a:pt x="31727" y="196651"/>
                  <a:pt x="35322" y="202292"/>
                  <a:pt x="40947" y="204895"/>
                </a:cubicBezTo>
                <a:lnTo>
                  <a:pt x="177438" y="266951"/>
                </a:lnTo>
                <a:cubicBezTo>
                  <a:pt x="185760" y="270719"/>
                  <a:pt x="195303" y="270719"/>
                  <a:pt x="203625" y="266951"/>
                </a:cubicBezTo>
                <a:lnTo>
                  <a:pt x="339799" y="205054"/>
                </a:lnTo>
                <a:cubicBezTo>
                  <a:pt x="345539" y="202474"/>
                  <a:pt x="349212" y="196746"/>
                  <a:pt x="349163" y="190452"/>
                </a:cubicBezTo>
                <a:moveTo>
                  <a:pt x="31742" y="269808"/>
                </a:moveTo>
                <a:cubicBezTo>
                  <a:pt x="31727" y="276006"/>
                  <a:pt x="35322" y="281647"/>
                  <a:pt x="40947" y="284250"/>
                </a:cubicBezTo>
                <a:lnTo>
                  <a:pt x="177438" y="346306"/>
                </a:lnTo>
                <a:cubicBezTo>
                  <a:pt x="185760" y="350074"/>
                  <a:pt x="195303" y="350074"/>
                  <a:pt x="203625" y="346306"/>
                </a:cubicBezTo>
                <a:lnTo>
                  <a:pt x="339799" y="284409"/>
                </a:lnTo>
                <a:cubicBezTo>
                  <a:pt x="345539" y="281829"/>
                  <a:pt x="349212" y="276101"/>
                  <a:pt x="349163" y="269808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171" y="3449925"/>
            <a:ext cx="174978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171" y="3721388"/>
            <a:ext cx="2803221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Process Management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14171" y="4211925"/>
            <a:ext cx="2572446" cy="6971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Creating, scheduling, and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coordinating multiple programs so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they run smoothly together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67609" y="2074515"/>
            <a:ext cx="3453586" cy="440248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72332" y="2455515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6" name="Shape 12"/>
          <p:cNvSpPr/>
          <p:nvPr/>
        </p:nvSpPr>
        <p:spPr>
          <a:xfrm>
            <a:off x="4862785" y="2646015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47613" y="79355"/>
                </a:moveTo>
                <a:cubicBezTo>
                  <a:pt x="47613" y="53077"/>
                  <a:pt x="111617" y="31742"/>
                  <a:pt x="190452" y="31742"/>
                </a:cubicBezTo>
                <a:cubicBezTo>
                  <a:pt x="269288" y="31742"/>
                  <a:pt x="333292" y="53077"/>
                  <a:pt x="333292" y="79355"/>
                </a:cubicBezTo>
                <a:cubicBezTo>
                  <a:pt x="333292" y="105634"/>
                  <a:pt x="269288" y="126968"/>
                  <a:pt x="190452" y="126968"/>
                </a:cubicBezTo>
                <a:cubicBezTo>
                  <a:pt x="111617" y="126968"/>
                  <a:pt x="47613" y="105634"/>
                  <a:pt x="47613" y="79355"/>
                </a:cubicBezTo>
                <a:close/>
                <a:moveTo>
                  <a:pt x="47613" y="79355"/>
                </a:moveTo>
                <a:lnTo>
                  <a:pt x="47613" y="301550"/>
                </a:lnTo>
                <a:cubicBezTo>
                  <a:pt x="47613" y="327828"/>
                  <a:pt x="111617" y="349163"/>
                  <a:pt x="190452" y="349163"/>
                </a:cubicBezTo>
                <a:cubicBezTo>
                  <a:pt x="269288" y="349163"/>
                  <a:pt x="333292" y="327828"/>
                  <a:pt x="333292" y="301550"/>
                </a:cubicBezTo>
                <a:lnTo>
                  <a:pt x="333292" y="79355"/>
                </a:lnTo>
                <a:moveTo>
                  <a:pt x="47613" y="190452"/>
                </a:moveTo>
                <a:cubicBezTo>
                  <a:pt x="47613" y="216731"/>
                  <a:pt x="111617" y="238065"/>
                  <a:pt x="190452" y="238065"/>
                </a:cubicBezTo>
                <a:cubicBezTo>
                  <a:pt x="269288" y="238065"/>
                  <a:pt x="333292" y="216731"/>
                  <a:pt x="333292" y="190452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72332" y="3449925"/>
            <a:ext cx="174978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672332" y="3721388"/>
            <a:ext cx="2703680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 Management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672332" y="4211925"/>
            <a:ext cx="2416662" cy="6971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Giving each program its own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"private" memory space while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efficiently sharing physical RAM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5918" y="2074515"/>
            <a:ext cx="3453437" cy="440248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430642" y="2455515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2" name="Shape 17"/>
          <p:cNvSpPr/>
          <p:nvPr/>
        </p:nvSpPr>
        <p:spPr>
          <a:xfrm>
            <a:off x="8621095" y="2646015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317421" y="206323"/>
                </a:moveTo>
                <a:cubicBezTo>
                  <a:pt x="317421" y="285679"/>
                  <a:pt x="261872" y="325356"/>
                  <a:pt x="195849" y="348369"/>
                </a:cubicBezTo>
                <a:cubicBezTo>
                  <a:pt x="192391" y="349541"/>
                  <a:pt x="188636" y="349485"/>
                  <a:pt x="185215" y="348210"/>
                </a:cubicBezTo>
                <a:cubicBezTo>
                  <a:pt x="119033" y="325356"/>
                  <a:pt x="63484" y="285679"/>
                  <a:pt x="63484" y="206323"/>
                </a:cubicBezTo>
                <a:lnTo>
                  <a:pt x="63484" y="95226"/>
                </a:lnTo>
                <a:cubicBezTo>
                  <a:pt x="63484" y="86467"/>
                  <a:pt x="70596" y="79355"/>
                  <a:pt x="79355" y="79355"/>
                </a:cubicBezTo>
                <a:cubicBezTo>
                  <a:pt x="111097" y="79355"/>
                  <a:pt x="150775" y="60310"/>
                  <a:pt x="178390" y="36186"/>
                </a:cubicBezTo>
                <a:cubicBezTo>
                  <a:pt x="185337" y="30251"/>
                  <a:pt x="195568" y="30251"/>
                  <a:pt x="202514" y="36186"/>
                </a:cubicBezTo>
                <a:cubicBezTo>
                  <a:pt x="230289" y="60469"/>
                  <a:pt x="269808" y="79355"/>
                  <a:pt x="301550" y="79355"/>
                </a:cubicBezTo>
                <a:cubicBezTo>
                  <a:pt x="310309" y="79355"/>
                  <a:pt x="317421" y="86467"/>
                  <a:pt x="317421" y="95226"/>
                </a:cubicBezTo>
                <a:close/>
                <a:moveTo>
                  <a:pt x="142839" y="190452"/>
                </a:moveTo>
                <a:moveTo>
                  <a:pt x="174581" y="222194"/>
                </a:moveTo>
                <a:moveTo>
                  <a:pt x="238065" y="158710"/>
                </a:move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430642" y="3449925"/>
            <a:ext cx="174978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430642" y="3721388"/>
            <a:ext cx="1570339" cy="5153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Information</a:t>
            </a:r>
            <a:endParaRPr lang="en-US" sz="1800" dirty="0"/>
          </a:p>
          <a:p>
            <a:pPr marL="0" indent="0">
              <a:buNone/>
            </a:pPr>
            <a:r>
              <a:rPr lang="en-US" sz="18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Protection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430642" y="4478625"/>
            <a:ext cx="2800989" cy="6971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Controlling who can access what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resources to keep the system secure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and stable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0904589" y="5057775"/>
            <a:ext cx="674916" cy="14954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500" b="1" kern="0" spc="-520" dirty="0">
                <a:solidFill>
                  <a:srgbClr val="F2F2F2">
                    <a:alpha val="7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</a:t>
            </a:r>
            <a:endParaRPr lang="en-US" sz="10500" dirty="0"/>
          </a:p>
        </p:txBody>
      </p:sp>
      <p:sp>
        <p:nvSpPr>
          <p:cNvPr id="27" name="Shape 22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8" name="Shape 23"/>
          <p:cNvSpPr/>
          <p:nvPr/>
        </p:nvSpPr>
        <p:spPr>
          <a:xfrm>
            <a:off x="0" y="6819900"/>
            <a:ext cx="8532266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572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591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752475"/>
            <a:ext cx="7314115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Process Management Basics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398240"/>
            <a:ext cx="9523" cy="438150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398240"/>
            <a:ext cx="7618095" cy="438150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operating system treats each program as a process—a unit of work that it manages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from start to finish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988790"/>
            <a:ext cx="3504324" cy="25336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76081" y="2331690"/>
            <a:ext cx="685629" cy="6858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Shape 7"/>
          <p:cNvSpPr/>
          <p:nvPr/>
        </p:nvSpPr>
        <p:spPr>
          <a:xfrm>
            <a:off x="1047488" y="2503140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28568" y="171407"/>
                </a:moveTo>
                <a:cubicBezTo>
                  <a:pt x="28568" y="92572"/>
                  <a:pt x="92572" y="28568"/>
                  <a:pt x="171407" y="28568"/>
                </a:cubicBezTo>
                <a:cubicBezTo>
                  <a:pt x="250242" y="28568"/>
                  <a:pt x="314246" y="92572"/>
                  <a:pt x="314246" y="171407"/>
                </a:cubicBezTo>
                <a:cubicBezTo>
                  <a:pt x="314246" y="250242"/>
                  <a:pt x="250242" y="314246"/>
                  <a:pt x="171407" y="314246"/>
                </a:cubicBezTo>
                <a:cubicBezTo>
                  <a:pt x="92572" y="314246"/>
                  <a:pt x="28568" y="250242"/>
                  <a:pt x="28568" y="171407"/>
                </a:cubicBezTo>
                <a:close/>
                <a:moveTo>
                  <a:pt x="114271" y="171407"/>
                </a:moveTo>
                <a:lnTo>
                  <a:pt x="228543" y="171407"/>
                </a:lnTo>
                <a:moveTo>
                  <a:pt x="171407" y="114271"/>
                </a:moveTo>
                <a:lnTo>
                  <a:pt x="171407" y="228543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6081" y="3254663"/>
            <a:ext cx="1059094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Creates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76081" y="3727103"/>
            <a:ext cx="2934603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Starts a new process when you launch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 program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42314" y="1988790"/>
            <a:ext cx="3504324" cy="25336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08947" y="2331690"/>
            <a:ext cx="685629" cy="6858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5" name="Shape 11"/>
          <p:cNvSpPr/>
          <p:nvPr/>
        </p:nvSpPr>
        <p:spPr>
          <a:xfrm>
            <a:off x="4780355" y="2503140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28568" y="171407"/>
                </a:moveTo>
                <a:cubicBezTo>
                  <a:pt x="28568" y="92572"/>
                  <a:pt x="92572" y="28568"/>
                  <a:pt x="171407" y="28568"/>
                </a:cubicBezTo>
                <a:cubicBezTo>
                  <a:pt x="250242" y="28568"/>
                  <a:pt x="314246" y="92572"/>
                  <a:pt x="314246" y="171407"/>
                </a:cubicBezTo>
                <a:cubicBezTo>
                  <a:pt x="314246" y="250242"/>
                  <a:pt x="250242" y="314246"/>
                  <a:pt x="171407" y="314246"/>
                </a:cubicBezTo>
                <a:cubicBezTo>
                  <a:pt x="92572" y="314246"/>
                  <a:pt x="28568" y="250242"/>
                  <a:pt x="28568" y="171407"/>
                </a:cubicBezTo>
                <a:close/>
                <a:moveTo>
                  <a:pt x="171407" y="85704"/>
                </a:moveTo>
                <a:lnTo>
                  <a:pt x="171407" y="171407"/>
                </a:lnTo>
                <a:lnTo>
                  <a:pt x="228543" y="199975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08947" y="3254663"/>
            <a:ext cx="1389112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Schedules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608947" y="3727103"/>
            <a:ext cx="2658150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Decides which process runs on the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CPU and when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75181" y="1988790"/>
            <a:ext cx="3504324" cy="25336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341814" y="2331690"/>
            <a:ext cx="685629" cy="6858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0" name="Shape 15"/>
          <p:cNvSpPr/>
          <p:nvPr/>
        </p:nvSpPr>
        <p:spPr>
          <a:xfrm>
            <a:off x="8513221" y="2503140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28568" y="171407"/>
                </a:moveTo>
                <a:cubicBezTo>
                  <a:pt x="28568" y="92572"/>
                  <a:pt x="92572" y="28568"/>
                  <a:pt x="171407" y="28568"/>
                </a:cubicBezTo>
                <a:cubicBezTo>
                  <a:pt x="250242" y="28568"/>
                  <a:pt x="314246" y="92572"/>
                  <a:pt x="314246" y="171407"/>
                </a:cubicBezTo>
                <a:cubicBezTo>
                  <a:pt x="314246" y="250242"/>
                  <a:pt x="250242" y="314246"/>
                  <a:pt x="171407" y="314246"/>
                </a:cubicBezTo>
                <a:cubicBezTo>
                  <a:pt x="92572" y="314246"/>
                  <a:pt x="28568" y="250242"/>
                  <a:pt x="28568" y="171407"/>
                </a:cubicBezTo>
                <a:close/>
                <a:moveTo>
                  <a:pt x="214259" y="128555"/>
                </a:moveTo>
                <a:moveTo>
                  <a:pt x="128555" y="214259"/>
                </a:moveTo>
                <a:moveTo>
                  <a:pt x="128555" y="128555"/>
                </a:moveTo>
                <a:moveTo>
                  <a:pt x="214259" y="214259"/>
                </a:move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341814" y="3254663"/>
            <a:ext cx="1445801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Terminates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341814" y="3727103"/>
            <a:ext cx="2614852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Ends the process cleanly when it's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done or crashes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4827240"/>
            <a:ext cx="10970057" cy="111249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52262" y="5132040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31742" y="190452"/>
                </a:moveTo>
                <a:cubicBezTo>
                  <a:pt x="31742" y="102858"/>
                  <a:pt x="102858" y="31742"/>
                  <a:pt x="190452" y="31742"/>
                </a:cubicBezTo>
                <a:cubicBezTo>
                  <a:pt x="278047" y="31742"/>
                  <a:pt x="349163" y="102858"/>
                  <a:pt x="349163" y="190452"/>
                </a:cubicBezTo>
                <a:cubicBezTo>
                  <a:pt x="349163" y="278047"/>
                  <a:pt x="278047" y="349163"/>
                  <a:pt x="190452" y="349163"/>
                </a:cubicBezTo>
                <a:cubicBezTo>
                  <a:pt x="102858" y="349163"/>
                  <a:pt x="31742" y="278047"/>
                  <a:pt x="31742" y="190452"/>
                </a:cubicBezTo>
                <a:close/>
                <a:moveTo>
                  <a:pt x="144268" y="142839"/>
                </a:moveTo>
                <a:cubicBezTo>
                  <a:pt x="151972" y="120938"/>
                  <a:pt x="174349" y="107787"/>
                  <a:pt x="197232" y="111712"/>
                </a:cubicBezTo>
                <a:cubicBezTo>
                  <a:pt x="220115" y="115637"/>
                  <a:pt x="236830" y="135493"/>
                  <a:pt x="236796" y="158710"/>
                </a:cubicBezTo>
                <a:cubicBezTo>
                  <a:pt x="236796" y="190452"/>
                  <a:pt x="189183" y="206323"/>
                  <a:pt x="189183" y="206323"/>
                </a:cubicBezTo>
                <a:moveTo>
                  <a:pt x="190452" y="269808"/>
                </a:moveTo>
                <a:lnTo>
                  <a:pt x="190611" y="269808"/>
                </a:lnTo>
              </a:path>
            </a:pathLst>
          </a:cu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523619" y="5133945"/>
            <a:ext cx="115625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Think About It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523619" y="5388263"/>
            <a:ext cx="6025437" cy="2105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might happen if the OS couldn't terminate a stuck process?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808321" y="5010150"/>
            <a:ext cx="771183" cy="1704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0" b="1" kern="0" spc="-600" dirty="0">
                <a:solidFill>
                  <a:srgbClr val="F2F2F2">
                    <a:alpha val="7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</a:t>
            </a:r>
            <a:endParaRPr lang="en-US" sz="12000" dirty="0"/>
          </a:p>
        </p:txBody>
      </p:sp>
      <p:sp>
        <p:nvSpPr>
          <p:cNvPr id="28" name="Shape 22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9" name="Shape 23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714375"/>
            <a:ext cx="7027097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 Management Goals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341090"/>
            <a:ext cx="9523" cy="219075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341090"/>
            <a:ext cx="10970057" cy="219075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Your OS needs to balance three key goals when managing memory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712565"/>
            <a:ext cx="6399200" cy="13370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171" y="2076301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Shape 7"/>
          <p:cNvSpPr/>
          <p:nvPr/>
        </p:nvSpPr>
        <p:spPr>
          <a:xfrm>
            <a:off x="1066533" y="2228701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253936" y="165059"/>
                </a:moveTo>
                <a:cubicBezTo>
                  <a:pt x="253936" y="228543"/>
                  <a:pt x="209498" y="260285"/>
                  <a:pt x="156679" y="278695"/>
                </a:cubicBezTo>
                <a:cubicBezTo>
                  <a:pt x="153913" y="279633"/>
                  <a:pt x="150909" y="279588"/>
                  <a:pt x="148172" y="278568"/>
                </a:cubicBezTo>
                <a:cubicBezTo>
                  <a:pt x="95226" y="260285"/>
                  <a:pt x="50787" y="228543"/>
                  <a:pt x="50787" y="165059"/>
                </a:cubicBezTo>
                <a:lnTo>
                  <a:pt x="50787" y="76181"/>
                </a:lnTo>
                <a:cubicBezTo>
                  <a:pt x="50787" y="69173"/>
                  <a:pt x="56477" y="63484"/>
                  <a:pt x="63484" y="63484"/>
                </a:cubicBezTo>
                <a:cubicBezTo>
                  <a:pt x="88878" y="63484"/>
                  <a:pt x="120620" y="48248"/>
                  <a:pt x="142712" y="28949"/>
                </a:cubicBezTo>
                <a:cubicBezTo>
                  <a:pt x="148269" y="24201"/>
                  <a:pt x="156454" y="24201"/>
                  <a:pt x="162011" y="28949"/>
                </a:cubicBezTo>
                <a:cubicBezTo>
                  <a:pt x="184231" y="48375"/>
                  <a:pt x="215846" y="63484"/>
                  <a:pt x="241240" y="63484"/>
                </a:cubicBezTo>
                <a:cubicBezTo>
                  <a:pt x="248247" y="63484"/>
                  <a:pt x="253936" y="69173"/>
                  <a:pt x="253936" y="7618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52162" y="1985933"/>
            <a:ext cx="1106260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Isolation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752162" y="2346930"/>
            <a:ext cx="4920516" cy="4056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Keep each process's memory separate so bugs or attacks in one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program can't affect others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3240137"/>
            <a:ext cx="6399200" cy="13370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14171" y="3603873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5" name="Shape 11"/>
          <p:cNvSpPr/>
          <p:nvPr/>
        </p:nvSpPr>
        <p:spPr>
          <a:xfrm>
            <a:off x="1066533" y="3756273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90452" y="63484"/>
                </a:moveTo>
                <a:cubicBezTo>
                  <a:pt x="190452" y="42461"/>
                  <a:pt x="207520" y="25394"/>
                  <a:pt x="228543" y="25394"/>
                </a:cubicBezTo>
                <a:cubicBezTo>
                  <a:pt x="249566" y="25394"/>
                  <a:pt x="266633" y="42461"/>
                  <a:pt x="266633" y="63484"/>
                </a:cubicBezTo>
                <a:cubicBezTo>
                  <a:pt x="266633" y="84507"/>
                  <a:pt x="249566" y="101575"/>
                  <a:pt x="228543" y="101575"/>
                </a:cubicBezTo>
                <a:cubicBezTo>
                  <a:pt x="207520" y="101575"/>
                  <a:pt x="190452" y="84507"/>
                  <a:pt x="190452" y="63484"/>
                </a:cubicBezTo>
                <a:close/>
                <a:moveTo>
                  <a:pt x="38090" y="152362"/>
                </a:moveTo>
                <a:cubicBezTo>
                  <a:pt x="38090" y="131339"/>
                  <a:pt x="55158" y="114271"/>
                  <a:pt x="76181" y="114271"/>
                </a:cubicBezTo>
                <a:cubicBezTo>
                  <a:pt x="97204" y="114271"/>
                  <a:pt x="114271" y="131339"/>
                  <a:pt x="114271" y="152362"/>
                </a:cubicBezTo>
                <a:cubicBezTo>
                  <a:pt x="114271" y="173385"/>
                  <a:pt x="97204" y="190452"/>
                  <a:pt x="76181" y="190452"/>
                </a:cubicBezTo>
                <a:cubicBezTo>
                  <a:pt x="55158" y="190452"/>
                  <a:pt x="38090" y="173385"/>
                  <a:pt x="38090" y="152362"/>
                </a:cubicBezTo>
                <a:close/>
                <a:moveTo>
                  <a:pt x="190452" y="241240"/>
                </a:moveTo>
                <a:cubicBezTo>
                  <a:pt x="190452" y="220217"/>
                  <a:pt x="207520" y="203149"/>
                  <a:pt x="228543" y="203149"/>
                </a:cubicBezTo>
                <a:cubicBezTo>
                  <a:pt x="249566" y="203149"/>
                  <a:pt x="266633" y="220217"/>
                  <a:pt x="266633" y="241240"/>
                </a:cubicBezTo>
                <a:cubicBezTo>
                  <a:pt x="266633" y="262262"/>
                  <a:pt x="249566" y="279330"/>
                  <a:pt x="228543" y="279330"/>
                </a:cubicBezTo>
                <a:cubicBezTo>
                  <a:pt x="207520" y="279330"/>
                  <a:pt x="190452" y="262262"/>
                  <a:pt x="190452" y="241240"/>
                </a:cubicBezTo>
                <a:close/>
                <a:moveTo>
                  <a:pt x="109066" y="171534"/>
                </a:moveTo>
                <a:lnTo>
                  <a:pt x="195785" y="222067"/>
                </a:lnTo>
                <a:moveTo>
                  <a:pt x="195658" y="82656"/>
                </a:moveTo>
                <a:lnTo>
                  <a:pt x="109066" y="133190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752162" y="3513505"/>
            <a:ext cx="951518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Sharing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752162" y="3874502"/>
            <a:ext cx="4506431" cy="4056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Allow processes to safely share memory when needed (like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shared libraries)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4767709"/>
            <a:ext cx="6399200" cy="133707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4171" y="5131445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0" name="Shape 15"/>
          <p:cNvSpPr/>
          <p:nvPr/>
        </p:nvSpPr>
        <p:spPr>
          <a:xfrm>
            <a:off x="1066533" y="5283845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52362" y="177756"/>
                </a:moveTo>
                <a:moveTo>
                  <a:pt x="203149" y="126968"/>
                </a:moveTo>
                <a:moveTo>
                  <a:pt x="42407" y="241240"/>
                </a:moveTo>
                <a:cubicBezTo>
                  <a:pt x="11595" y="187878"/>
                  <a:pt x="23545" y="120096"/>
                  <a:pt x="70747" y="80488"/>
                </a:cubicBezTo>
                <a:cubicBezTo>
                  <a:pt x="117948" y="40880"/>
                  <a:pt x="186775" y="40880"/>
                  <a:pt x="233977" y="80488"/>
                </a:cubicBezTo>
                <a:cubicBezTo>
                  <a:pt x="281179" y="120096"/>
                  <a:pt x="293128" y="187878"/>
                  <a:pt x="262316" y="241240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752162" y="5041076"/>
            <a:ext cx="1854232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Efficient Usage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752162" y="5402074"/>
            <a:ext cx="4715928" cy="4056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Make the most of limited RAM by using techniques like </a:t>
            </a: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virtual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13371" y="3246983"/>
            <a:ext cx="4266133" cy="1695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56185" y="3631793"/>
            <a:ext cx="1816291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Discussion Question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656185" y="4008983"/>
            <a:ext cx="3400319" cy="514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would you design a system that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achieves all three goals at once?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10808321" y="4933950"/>
            <a:ext cx="771183" cy="1704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0" b="1" kern="0" spc="-600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</a:t>
            </a:r>
            <a:endParaRPr lang="en-US" sz="12000" dirty="0"/>
          </a:p>
        </p:txBody>
      </p:sp>
      <p:sp>
        <p:nvSpPr>
          <p:cNvPr id="27" name="Shape 21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8" name="Shape 22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714375"/>
            <a:ext cx="6707048" cy="552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900" b="1" kern="0" spc="-1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Virtual Memory Concept</a:t>
            </a:r>
            <a:endParaRPr lang="en-US" sz="3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2177355"/>
            <a:ext cx="5782164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262" y="2447865"/>
            <a:ext cx="1698300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Process Sees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52262" y="2681228"/>
            <a:ext cx="2896662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kern="0" spc="-4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Virtual Address Space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52262" y="3115568"/>
            <a:ext cx="3963344" cy="1285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Each process believes it has its own huge, private memory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52533" y="3777555"/>
            <a:ext cx="28568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1" name="Text 8"/>
          <p:cNvSpPr/>
          <p:nvPr/>
        </p:nvSpPr>
        <p:spPr>
          <a:xfrm>
            <a:off x="2495372" y="3937575"/>
            <a:ext cx="2153005" cy="14001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OS Maps Behind the Scenes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4463355"/>
            <a:ext cx="5782164" cy="1371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2262" y="4733865"/>
            <a:ext cx="1492373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Physical Reality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52262" y="4967228"/>
            <a:ext cx="2871070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kern="0" spc="-4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Physical Memory (RAM)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952262" y="5401568"/>
            <a:ext cx="3404187" cy="1285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Limited hardware memory shared by all processes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48697" y="2621012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7" name="Shape 13"/>
          <p:cNvSpPr/>
          <p:nvPr/>
        </p:nvSpPr>
        <p:spPr>
          <a:xfrm>
            <a:off x="6962969" y="2735312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22175" y="20759"/>
                </a:moveTo>
                <a:cubicBezTo>
                  <a:pt x="117155" y="18469"/>
                  <a:pt x="111388" y="18469"/>
                  <a:pt x="106368" y="20759"/>
                </a:cubicBezTo>
                <a:lnTo>
                  <a:pt x="24759" y="57898"/>
                </a:lnTo>
                <a:cubicBezTo>
                  <a:pt x="21306" y="59420"/>
                  <a:pt x="19078" y="62837"/>
                  <a:pt x="19078" y="66611"/>
                </a:cubicBezTo>
                <a:cubicBezTo>
                  <a:pt x="19078" y="70384"/>
                  <a:pt x="21306" y="73802"/>
                  <a:pt x="24759" y="75324"/>
                </a:cubicBezTo>
                <a:lnTo>
                  <a:pt x="106463" y="112557"/>
                </a:lnTo>
                <a:cubicBezTo>
                  <a:pt x="111483" y="114847"/>
                  <a:pt x="117250" y="114847"/>
                  <a:pt x="122270" y="112557"/>
                </a:cubicBezTo>
                <a:lnTo>
                  <a:pt x="203974" y="75419"/>
                </a:lnTo>
                <a:cubicBezTo>
                  <a:pt x="207427" y="73897"/>
                  <a:pt x="209655" y="70479"/>
                  <a:pt x="209655" y="66706"/>
                </a:cubicBezTo>
                <a:cubicBezTo>
                  <a:pt x="209655" y="62933"/>
                  <a:pt x="207427" y="59515"/>
                  <a:pt x="203974" y="57993"/>
                </a:cubicBezTo>
                <a:close/>
                <a:moveTo>
                  <a:pt x="19045" y="114271"/>
                </a:moveTo>
                <a:cubicBezTo>
                  <a:pt x="19036" y="117991"/>
                  <a:pt x="21193" y="121375"/>
                  <a:pt x="24568" y="122937"/>
                </a:cubicBezTo>
                <a:lnTo>
                  <a:pt x="106463" y="160170"/>
                </a:lnTo>
                <a:cubicBezTo>
                  <a:pt x="111456" y="162432"/>
                  <a:pt x="117182" y="162432"/>
                  <a:pt x="122175" y="160170"/>
                </a:cubicBezTo>
                <a:lnTo>
                  <a:pt x="203879" y="123032"/>
                </a:lnTo>
                <a:cubicBezTo>
                  <a:pt x="207323" y="121484"/>
                  <a:pt x="209527" y="118047"/>
                  <a:pt x="209498" y="114271"/>
                </a:cubicBezTo>
                <a:moveTo>
                  <a:pt x="19045" y="161885"/>
                </a:moveTo>
                <a:cubicBezTo>
                  <a:pt x="19036" y="165604"/>
                  <a:pt x="21193" y="168988"/>
                  <a:pt x="24568" y="170550"/>
                </a:cubicBezTo>
                <a:lnTo>
                  <a:pt x="106463" y="207784"/>
                </a:lnTo>
                <a:cubicBezTo>
                  <a:pt x="111456" y="210045"/>
                  <a:pt x="117182" y="210045"/>
                  <a:pt x="122175" y="207784"/>
                </a:cubicBezTo>
                <a:lnTo>
                  <a:pt x="203879" y="170645"/>
                </a:lnTo>
                <a:cubicBezTo>
                  <a:pt x="207323" y="169097"/>
                  <a:pt x="209527" y="165660"/>
                  <a:pt x="209498" y="161885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496235" y="2630537"/>
            <a:ext cx="2095720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Address Space Illusion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496235" y="2943195"/>
            <a:ext cx="3959475" cy="3887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Each process gets its own huge, private address space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—even when physical RAM is limited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848697" y="3633341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1" name="Shape 17"/>
          <p:cNvSpPr/>
          <p:nvPr/>
        </p:nvSpPr>
        <p:spPr>
          <a:xfrm>
            <a:off x="6962969" y="3747641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76181" y="28568"/>
                </a:moveTo>
                <a:moveTo>
                  <a:pt x="38090" y="66658"/>
                </a:moveTo>
                <a:lnTo>
                  <a:pt x="76181" y="104749"/>
                </a:lnTo>
                <a:moveTo>
                  <a:pt x="38090" y="66658"/>
                </a:moveTo>
                <a:lnTo>
                  <a:pt x="190452" y="66658"/>
                </a:lnTo>
                <a:moveTo>
                  <a:pt x="152362" y="199975"/>
                </a:moveTo>
                <a:moveTo>
                  <a:pt x="190452" y="161885"/>
                </a:moveTo>
                <a:moveTo>
                  <a:pt x="152362" y="123794"/>
                </a:moveTo>
                <a:moveTo>
                  <a:pt x="190452" y="161885"/>
                </a:moveTo>
                <a:lnTo>
                  <a:pt x="38090" y="161885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496235" y="3642866"/>
            <a:ext cx="1831021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Address Translation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496235" y="3955524"/>
            <a:ext cx="3572024" cy="3887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OS maps virtual addresses (used by programs) to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physical addresses (in real memory)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848697" y="4645670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5" name="Shape 21"/>
          <p:cNvSpPr/>
          <p:nvPr/>
        </p:nvSpPr>
        <p:spPr>
          <a:xfrm>
            <a:off x="6962969" y="475997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90452" y="123794"/>
                </a:moveTo>
                <a:cubicBezTo>
                  <a:pt x="190452" y="171407"/>
                  <a:pt x="157123" y="195214"/>
                  <a:pt x="117509" y="209021"/>
                </a:cubicBezTo>
                <a:cubicBezTo>
                  <a:pt x="115435" y="209724"/>
                  <a:pt x="113181" y="209691"/>
                  <a:pt x="111129" y="208926"/>
                </a:cubicBezTo>
                <a:cubicBezTo>
                  <a:pt x="71420" y="195214"/>
                  <a:pt x="38090" y="171407"/>
                  <a:pt x="38090" y="123794"/>
                </a:cubicBezTo>
                <a:lnTo>
                  <a:pt x="38090" y="57136"/>
                </a:lnTo>
                <a:cubicBezTo>
                  <a:pt x="38090" y="51880"/>
                  <a:pt x="42357" y="47613"/>
                  <a:pt x="47613" y="47613"/>
                </a:cubicBezTo>
                <a:cubicBezTo>
                  <a:pt x="66658" y="47613"/>
                  <a:pt x="90465" y="36186"/>
                  <a:pt x="107034" y="21712"/>
                </a:cubicBezTo>
                <a:cubicBezTo>
                  <a:pt x="111202" y="18151"/>
                  <a:pt x="117341" y="18151"/>
                  <a:pt x="121509" y="21712"/>
                </a:cubicBezTo>
                <a:cubicBezTo>
                  <a:pt x="138173" y="36281"/>
                  <a:pt x="161885" y="47613"/>
                  <a:pt x="180930" y="47613"/>
                </a:cubicBezTo>
                <a:cubicBezTo>
                  <a:pt x="186185" y="47613"/>
                  <a:pt x="190452" y="51880"/>
                  <a:pt x="190452" y="57136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496235" y="4655195"/>
            <a:ext cx="1577184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Process Isolation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7496235" y="4967853"/>
            <a:ext cx="3383654" cy="38876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Every process gains isolation and the feeling of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abundant memory</a:t>
            </a:r>
            <a:endParaRPr lang="en-US" sz="13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448" y="5734050"/>
            <a:ext cx="10970057" cy="81915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904649" y="5953125"/>
            <a:ext cx="380905" cy="381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30" name="Shape 25"/>
          <p:cNvSpPr/>
          <p:nvPr/>
        </p:nvSpPr>
        <p:spPr>
          <a:xfrm>
            <a:off x="990352" y="6038850"/>
            <a:ext cx="209498" cy="209550"/>
          </a:xfrm>
          <a:custGeom>
            <a:avLst/>
            <a:gdLst/>
            <a:ahLst/>
            <a:cxnLst/>
            <a:rect l="l" t="t" r="r" b="b"/>
            <a:pathLst>
              <a:path w="209498" h="209550">
                <a:moveTo>
                  <a:pt x="17458" y="104749"/>
                </a:moveTo>
                <a:cubicBezTo>
                  <a:pt x="17458" y="56572"/>
                  <a:pt x="56572" y="17458"/>
                  <a:pt x="104749" y="17458"/>
                </a:cubicBezTo>
                <a:cubicBezTo>
                  <a:pt x="152926" y="17458"/>
                  <a:pt x="192039" y="56572"/>
                  <a:pt x="192039" y="104749"/>
                </a:cubicBezTo>
                <a:cubicBezTo>
                  <a:pt x="192039" y="152926"/>
                  <a:pt x="152926" y="192039"/>
                  <a:pt x="104749" y="192039"/>
                </a:cubicBezTo>
                <a:cubicBezTo>
                  <a:pt x="56572" y="192039"/>
                  <a:pt x="17458" y="152926"/>
                  <a:pt x="17458" y="104749"/>
                </a:cubicBezTo>
                <a:close/>
                <a:moveTo>
                  <a:pt x="79347" y="78562"/>
                </a:moveTo>
                <a:cubicBezTo>
                  <a:pt x="83585" y="66516"/>
                  <a:pt x="95892" y="59283"/>
                  <a:pt x="108478" y="61441"/>
                </a:cubicBezTo>
                <a:cubicBezTo>
                  <a:pt x="121063" y="63600"/>
                  <a:pt x="130257" y="74521"/>
                  <a:pt x="130238" y="87291"/>
                </a:cubicBezTo>
                <a:cubicBezTo>
                  <a:pt x="130238" y="104749"/>
                  <a:pt x="104050" y="113478"/>
                  <a:pt x="104050" y="113478"/>
                </a:cubicBezTo>
                <a:moveTo>
                  <a:pt x="104749" y="148394"/>
                </a:moveTo>
                <a:lnTo>
                  <a:pt x="104836" y="148394"/>
                </a:lnTo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476006" y="6067425"/>
            <a:ext cx="6434761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would programs behave if they shared </a:t>
            </a: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one global address space</a:t>
            </a: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?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3" name="Shape 28"/>
          <p:cNvSpPr/>
          <p:nvPr/>
        </p:nvSpPr>
        <p:spPr>
          <a:xfrm>
            <a:off x="0" y="6819900"/>
            <a:ext cx="3656686" cy="381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34" name="Text 29"/>
          <p:cNvSpPr/>
          <p:nvPr/>
        </p:nvSpPr>
        <p:spPr>
          <a:xfrm>
            <a:off x="11171668" y="6518910"/>
            <a:ext cx="407836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33 / 42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714375"/>
            <a:ext cx="8907666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Information Protection &amp; Security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379190"/>
            <a:ext cx="3504324" cy="22383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6081" y="1683990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8" name="Shape 5"/>
          <p:cNvSpPr/>
          <p:nvPr/>
        </p:nvSpPr>
        <p:spPr>
          <a:xfrm>
            <a:off x="1028443" y="1836390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253936" y="165059"/>
                </a:moveTo>
                <a:cubicBezTo>
                  <a:pt x="253936" y="228543"/>
                  <a:pt x="209498" y="260285"/>
                  <a:pt x="156679" y="278695"/>
                </a:cubicBezTo>
                <a:cubicBezTo>
                  <a:pt x="153913" y="279633"/>
                  <a:pt x="150909" y="279588"/>
                  <a:pt x="148172" y="278568"/>
                </a:cubicBezTo>
                <a:cubicBezTo>
                  <a:pt x="95226" y="260285"/>
                  <a:pt x="50787" y="228543"/>
                  <a:pt x="50787" y="165059"/>
                </a:cubicBezTo>
                <a:lnTo>
                  <a:pt x="50787" y="76181"/>
                </a:lnTo>
                <a:cubicBezTo>
                  <a:pt x="50787" y="69173"/>
                  <a:pt x="56477" y="63484"/>
                  <a:pt x="63484" y="63484"/>
                </a:cubicBezTo>
                <a:cubicBezTo>
                  <a:pt x="88878" y="63484"/>
                  <a:pt x="120620" y="48248"/>
                  <a:pt x="142712" y="28949"/>
                </a:cubicBezTo>
                <a:cubicBezTo>
                  <a:pt x="148269" y="24201"/>
                  <a:pt x="156454" y="24201"/>
                  <a:pt x="162011" y="28949"/>
                </a:cubicBezTo>
                <a:cubicBezTo>
                  <a:pt x="184231" y="48375"/>
                  <a:pt x="215846" y="63484"/>
                  <a:pt x="241240" y="63484"/>
                </a:cubicBezTo>
                <a:cubicBezTo>
                  <a:pt x="248247" y="63484"/>
                  <a:pt x="253936" y="69173"/>
                  <a:pt x="253936" y="76181"/>
                </a:cubicBezTo>
                <a:close/>
                <a:moveTo>
                  <a:pt x="114271" y="152362"/>
                </a:moveTo>
                <a:moveTo>
                  <a:pt x="139665" y="177756"/>
                </a:moveTo>
                <a:moveTo>
                  <a:pt x="190452" y="126968"/>
                </a:move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6081" y="2474565"/>
            <a:ext cx="1761536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Access Control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76081" y="2860328"/>
            <a:ext cx="2934603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Mechanisms decide who can use what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resources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42314" y="1379190"/>
            <a:ext cx="3504324" cy="223837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08947" y="1683990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3" name="Shape 9"/>
          <p:cNvSpPr/>
          <p:nvPr/>
        </p:nvSpPr>
        <p:spPr>
          <a:xfrm>
            <a:off x="4761309" y="1836390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63484" y="139665"/>
                </a:moveTo>
                <a:lnTo>
                  <a:pt x="241240" y="139665"/>
                </a:lnTo>
                <a:cubicBezTo>
                  <a:pt x="255255" y="139665"/>
                  <a:pt x="266633" y="151044"/>
                  <a:pt x="266633" y="165059"/>
                </a:cubicBezTo>
                <a:lnTo>
                  <a:pt x="266633" y="253936"/>
                </a:lnTo>
                <a:cubicBezTo>
                  <a:pt x="266633" y="267952"/>
                  <a:pt x="255255" y="279330"/>
                  <a:pt x="241240" y="279330"/>
                </a:cubicBezTo>
                <a:lnTo>
                  <a:pt x="63484" y="279330"/>
                </a:lnTo>
                <a:cubicBezTo>
                  <a:pt x="49469" y="279330"/>
                  <a:pt x="38090" y="267952"/>
                  <a:pt x="38090" y="253936"/>
                </a:cubicBezTo>
                <a:lnTo>
                  <a:pt x="38090" y="165059"/>
                </a:lnTo>
                <a:cubicBezTo>
                  <a:pt x="38090" y="151044"/>
                  <a:pt x="49469" y="139665"/>
                  <a:pt x="63484" y="139665"/>
                </a:cubicBezTo>
                <a:close/>
                <a:moveTo>
                  <a:pt x="88878" y="139665"/>
                </a:moveTo>
                <a:lnTo>
                  <a:pt x="88878" y="88878"/>
                </a:lnTo>
                <a:cubicBezTo>
                  <a:pt x="88878" y="53840"/>
                  <a:pt x="117324" y="25394"/>
                  <a:pt x="152362" y="25394"/>
                </a:cubicBezTo>
                <a:cubicBezTo>
                  <a:pt x="187400" y="25394"/>
                  <a:pt x="215846" y="53840"/>
                  <a:pt x="215846" y="88878"/>
                </a:cubicBezTo>
                <a:lnTo>
                  <a:pt x="215846" y="139665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08947" y="2474565"/>
            <a:ext cx="1840990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Protected Space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08947" y="2860328"/>
            <a:ext cx="2744151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Each process runs in isolation – you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can't mess with others' data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75181" y="1379190"/>
            <a:ext cx="3504324" cy="223837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341814" y="1683990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8" name="Shape 13"/>
          <p:cNvSpPr/>
          <p:nvPr/>
        </p:nvSpPr>
        <p:spPr>
          <a:xfrm>
            <a:off x="8494176" y="1836390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96801" y="95226"/>
                </a:moveTo>
                <a:moveTo>
                  <a:pt x="226003" y="124429"/>
                </a:moveTo>
                <a:cubicBezTo>
                  <a:pt x="230941" y="129268"/>
                  <a:pt x="238842" y="129268"/>
                  <a:pt x="243779" y="124429"/>
                </a:cubicBezTo>
                <a:lnTo>
                  <a:pt x="270442" y="97766"/>
                </a:lnTo>
                <a:cubicBezTo>
                  <a:pt x="275282" y="92828"/>
                  <a:pt x="275282" y="84927"/>
                  <a:pt x="270442" y="79990"/>
                </a:cubicBezTo>
                <a:lnTo>
                  <a:pt x="241240" y="50787"/>
                </a:lnTo>
                <a:moveTo>
                  <a:pt x="266633" y="25394"/>
                </a:moveTo>
                <a:moveTo>
                  <a:pt x="144744" y="147283"/>
                </a:moveTo>
                <a:moveTo>
                  <a:pt x="25394" y="196801"/>
                </a:moveTo>
                <a:cubicBezTo>
                  <a:pt x="25394" y="158259"/>
                  <a:pt x="56685" y="126968"/>
                  <a:pt x="95226" y="126968"/>
                </a:cubicBezTo>
                <a:cubicBezTo>
                  <a:pt x="133768" y="126968"/>
                  <a:pt x="165059" y="158259"/>
                  <a:pt x="165059" y="196801"/>
                </a:cubicBezTo>
                <a:cubicBezTo>
                  <a:pt x="165059" y="235342"/>
                  <a:pt x="133768" y="266633"/>
                  <a:pt x="95226" y="266633"/>
                </a:cubicBezTo>
                <a:cubicBezTo>
                  <a:pt x="56685" y="266633"/>
                  <a:pt x="25394" y="235342"/>
                  <a:pt x="25394" y="19680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341814" y="2474565"/>
            <a:ext cx="1301921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Permissions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41814" y="2860328"/>
            <a:ext cx="2839228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OS enforces read, write, execute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– like digital locks on files</a:t>
            </a:r>
            <a:endParaRPr lang="en-US" sz="1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3922365"/>
            <a:ext cx="10970057" cy="97155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52262" y="4246215"/>
            <a:ext cx="342814" cy="342900"/>
          </a:xfrm>
          <a:custGeom>
            <a:avLst/>
            <a:gdLst/>
            <a:ahLst/>
            <a:cxnLst/>
            <a:rect l="l" t="t" r="r" b="b"/>
            <a:pathLst>
              <a:path w="342814" h="342900">
                <a:moveTo>
                  <a:pt x="28568" y="171407"/>
                </a:moveTo>
                <a:cubicBezTo>
                  <a:pt x="28568" y="92572"/>
                  <a:pt x="92572" y="28568"/>
                  <a:pt x="171407" y="28568"/>
                </a:cubicBezTo>
                <a:cubicBezTo>
                  <a:pt x="250242" y="28568"/>
                  <a:pt x="314246" y="92572"/>
                  <a:pt x="314246" y="171407"/>
                </a:cubicBezTo>
                <a:cubicBezTo>
                  <a:pt x="314246" y="250242"/>
                  <a:pt x="250242" y="314246"/>
                  <a:pt x="171407" y="314246"/>
                </a:cubicBezTo>
                <a:cubicBezTo>
                  <a:pt x="92572" y="314246"/>
                  <a:pt x="28568" y="250242"/>
                  <a:pt x="28568" y="171407"/>
                </a:cubicBezTo>
                <a:close/>
                <a:moveTo>
                  <a:pt x="129841" y="128555"/>
                </a:moveTo>
                <a:cubicBezTo>
                  <a:pt x="136775" y="108844"/>
                  <a:pt x="156914" y="97008"/>
                  <a:pt x="177509" y="100540"/>
                </a:cubicBezTo>
                <a:cubicBezTo>
                  <a:pt x="198103" y="104073"/>
                  <a:pt x="213147" y="121944"/>
                  <a:pt x="213116" y="142839"/>
                </a:cubicBezTo>
                <a:cubicBezTo>
                  <a:pt x="213116" y="171407"/>
                  <a:pt x="170264" y="185691"/>
                  <a:pt x="170264" y="185691"/>
                </a:cubicBezTo>
                <a:moveTo>
                  <a:pt x="171407" y="242827"/>
                </a:moveTo>
                <a:lnTo>
                  <a:pt x="171550" y="242827"/>
                </a:lnTo>
              </a:path>
            </a:pathLst>
          </a:cu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485529" y="4303365"/>
            <a:ext cx="7686390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would your phone feel if any app could read your messages or delete photos?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1001005" y="5572125"/>
            <a:ext cx="578499" cy="1276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0" b="1" kern="0" spc="-450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</a:t>
            </a:r>
            <a:endParaRPr lang="en-US" sz="9000" dirty="0"/>
          </a:p>
        </p:txBody>
      </p:sp>
      <p:sp>
        <p:nvSpPr>
          <p:cNvPr id="25" name="Shape 19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6" name="Shape 20"/>
          <p:cNvSpPr/>
          <p:nvPr/>
        </p:nvSpPr>
        <p:spPr>
          <a:xfrm>
            <a:off x="0" y="6819900"/>
            <a:ext cx="402226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95325"/>
            <a:ext cx="6713446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Scheduling Fundamentals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322040"/>
            <a:ext cx="9523" cy="400050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322040"/>
            <a:ext cx="7618095" cy="400050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OS uses a scheduler to decide which ready process gets the CPU next — like a traffic cop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managing flow through an intersection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874490"/>
            <a:ext cx="7427643" cy="92764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6558" y="2093565"/>
            <a:ext cx="342814" cy="3429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Text 7"/>
          <p:cNvSpPr/>
          <p:nvPr/>
        </p:nvSpPr>
        <p:spPr>
          <a:xfrm>
            <a:off x="866558" y="2093565"/>
            <a:ext cx="342814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99825" y="2103090"/>
            <a:ext cx="1594295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Scheduler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99825" y="2414558"/>
            <a:ext cx="6105933" cy="1362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 critical OS component that selects which process in the ready queue gets CPU time next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2954536"/>
            <a:ext cx="7427643" cy="114091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66558" y="3173611"/>
            <a:ext cx="342814" cy="3429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5" name="Text 11"/>
          <p:cNvSpPr/>
          <p:nvPr/>
        </p:nvSpPr>
        <p:spPr>
          <a:xfrm>
            <a:off x="866558" y="3173611"/>
            <a:ext cx="342814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399825" y="3183136"/>
            <a:ext cx="1372596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Ready Queue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399825" y="3494603"/>
            <a:ext cx="6080490" cy="34947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Maintains all processes waiting for CPU — without scheduling, only one program runs at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time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4247852"/>
            <a:ext cx="7427643" cy="114091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66558" y="4466927"/>
            <a:ext cx="342814" cy="3429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0" name="Text 15"/>
          <p:cNvSpPr/>
          <p:nvPr/>
        </p:nvSpPr>
        <p:spPr>
          <a:xfrm>
            <a:off x="866558" y="4466927"/>
            <a:ext cx="342814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399825" y="4476452"/>
            <a:ext cx="2545217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Scheduling Algorithms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99825" y="4787920"/>
            <a:ext cx="6044036" cy="34947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Apply fair and efficient decision-making rules to allocate processor time among competing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processes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41814" y="1832670"/>
            <a:ext cx="3237690" cy="36766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05248" y="2169855"/>
            <a:ext cx="1510823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Scheduling Flow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70307" y="2547045"/>
            <a:ext cx="1980705" cy="7620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13146" y="2691825"/>
            <a:ext cx="96178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90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Ready Queue</a:t>
            </a:r>
            <a:endParaRPr lang="en-US" sz="9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13146" y="2899470"/>
            <a:ext cx="380905" cy="2667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13146" y="2899470"/>
            <a:ext cx="380905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P1</a:t>
            </a:r>
            <a:endParaRPr lang="en-US" sz="8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51187" y="2899470"/>
            <a:ext cx="380905" cy="2667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551187" y="2899470"/>
            <a:ext cx="380905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P2</a:t>
            </a:r>
            <a:endParaRPr lang="en-US" sz="8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989227" y="2899470"/>
            <a:ext cx="380905" cy="2667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989227" y="2899470"/>
            <a:ext cx="380905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P3</a:t>
            </a:r>
            <a:endParaRPr lang="en-US" sz="8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27268" y="2899470"/>
            <a:ext cx="380905" cy="2667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10427268" y="2899470"/>
            <a:ext cx="380905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P4</a:t>
            </a:r>
            <a:endParaRPr lang="en-US" sz="800" dirty="0"/>
          </a:p>
        </p:txBody>
      </p:sp>
      <p:sp>
        <p:nvSpPr>
          <p:cNvPr id="35" name="Shape 24"/>
          <p:cNvSpPr/>
          <p:nvPr/>
        </p:nvSpPr>
        <p:spPr>
          <a:xfrm>
            <a:off x="9946375" y="3423345"/>
            <a:ext cx="28568" cy="190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98925" y="3728145"/>
            <a:ext cx="2723469" cy="51435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598925" y="3728145"/>
            <a:ext cx="2723469" cy="514350"/>
          </a:xfrm>
          <a:prstGeom prst="rect">
            <a:avLst/>
          </a:prstGeom>
          <a:noFill/>
        </p:spPr>
        <p:txBody>
          <a:bodyPr wrap="none" lIns="152400" tIns="152400" rIns="152400" bIns="15240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Scheduler</a:t>
            </a:r>
            <a:endParaRPr lang="en-US" sz="1100" dirty="0"/>
          </a:p>
        </p:txBody>
      </p:sp>
      <p:sp>
        <p:nvSpPr>
          <p:cNvPr id="38" name="Shape 26"/>
          <p:cNvSpPr/>
          <p:nvPr/>
        </p:nvSpPr>
        <p:spPr>
          <a:xfrm>
            <a:off x="9946375" y="4356795"/>
            <a:ext cx="28568" cy="1905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598925" y="4661595"/>
            <a:ext cx="2723469" cy="51435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8598925" y="4661595"/>
            <a:ext cx="2723469" cy="514350"/>
          </a:xfrm>
          <a:prstGeom prst="rect">
            <a:avLst/>
          </a:prstGeom>
          <a:noFill/>
        </p:spPr>
        <p:txBody>
          <a:bodyPr wrap="none" lIns="152400" tIns="152400" rIns="152400" bIns="15240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CPU</a:t>
            </a:r>
            <a:endParaRPr lang="en-US" sz="1100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09448" y="5657850"/>
            <a:ext cx="10970057" cy="895350"/>
          </a:xfrm>
          <a:prstGeom prst="rect">
            <a:avLst/>
          </a:prstGeom>
        </p:spPr>
      </p:pic>
      <p:sp>
        <p:nvSpPr>
          <p:cNvPr id="42" name="Shape 28"/>
          <p:cNvSpPr/>
          <p:nvPr/>
        </p:nvSpPr>
        <p:spPr>
          <a:xfrm>
            <a:off x="904649" y="5876925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43" name="Shape 29"/>
          <p:cNvSpPr/>
          <p:nvPr/>
        </p:nvSpPr>
        <p:spPr>
          <a:xfrm>
            <a:off x="999875" y="5972175"/>
            <a:ext cx="266633" cy="266700"/>
          </a:xfrm>
          <a:custGeom>
            <a:avLst/>
            <a:gdLst/>
            <a:ahLst/>
            <a:cxnLst/>
            <a:rect l="l" t="t" r="r" b="b"/>
            <a:pathLst>
              <a:path w="266633" h="266700">
                <a:moveTo>
                  <a:pt x="22219" y="133317"/>
                </a:moveTo>
                <a:cubicBezTo>
                  <a:pt x="22219" y="72000"/>
                  <a:pt x="72000" y="22219"/>
                  <a:pt x="133317" y="22219"/>
                </a:cubicBezTo>
                <a:cubicBezTo>
                  <a:pt x="194633" y="22219"/>
                  <a:pt x="244414" y="72000"/>
                  <a:pt x="244414" y="133317"/>
                </a:cubicBezTo>
                <a:cubicBezTo>
                  <a:pt x="244414" y="194633"/>
                  <a:pt x="194633" y="244414"/>
                  <a:pt x="133317" y="244414"/>
                </a:cubicBezTo>
                <a:cubicBezTo>
                  <a:pt x="72000" y="244414"/>
                  <a:pt x="22219" y="194633"/>
                  <a:pt x="22219" y="133317"/>
                </a:cubicBezTo>
                <a:close/>
                <a:moveTo>
                  <a:pt x="100987" y="99987"/>
                </a:moveTo>
                <a:cubicBezTo>
                  <a:pt x="106380" y="84657"/>
                  <a:pt x="122045" y="75451"/>
                  <a:pt x="138062" y="78198"/>
                </a:cubicBezTo>
                <a:cubicBezTo>
                  <a:pt x="154080" y="80946"/>
                  <a:pt x="165781" y="94845"/>
                  <a:pt x="165757" y="111097"/>
                </a:cubicBezTo>
                <a:cubicBezTo>
                  <a:pt x="165757" y="133317"/>
                  <a:pt x="132428" y="144426"/>
                  <a:pt x="132428" y="144426"/>
                </a:cubicBezTo>
                <a:moveTo>
                  <a:pt x="133317" y="188865"/>
                </a:moveTo>
                <a:lnTo>
                  <a:pt x="133428" y="188865"/>
                </a:lnTo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sp>
        <p:nvSpPr>
          <p:cNvPr id="44" name="Text 30"/>
          <p:cNvSpPr/>
          <p:nvPr/>
        </p:nvSpPr>
        <p:spPr>
          <a:xfrm>
            <a:off x="1552187" y="5904071"/>
            <a:ext cx="1289422" cy="10858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Critical Thinking</a:t>
            </a:r>
            <a:endParaRPr lang="en-US" sz="800" dirty="0"/>
          </a:p>
        </p:txBody>
      </p:sp>
      <p:sp>
        <p:nvSpPr>
          <p:cNvPr id="45" name="Text 31"/>
          <p:cNvSpPr/>
          <p:nvPr/>
        </p:nvSpPr>
        <p:spPr>
          <a:xfrm>
            <a:off x="1552187" y="6129338"/>
            <a:ext cx="8018045" cy="15001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would you design a fair system if you had to choose between urgent tasks and long-running computations?</a:t>
            </a:r>
            <a:endParaRPr lang="en-US" sz="1300" dirty="0"/>
          </a:p>
        </p:txBody>
      </p:sp>
      <p:sp>
        <p:nvSpPr>
          <p:cNvPr id="46" name="Text 32"/>
          <p:cNvSpPr/>
          <p:nvPr/>
        </p:nvSpPr>
        <p:spPr>
          <a:xfrm>
            <a:off x="10422655" y="5343525"/>
            <a:ext cx="1156849" cy="1276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0" b="1" kern="0" spc="-450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35</a:t>
            </a:r>
            <a:endParaRPr lang="en-US" sz="9000" dirty="0"/>
          </a:p>
        </p:txBody>
      </p:sp>
      <p:sp>
        <p:nvSpPr>
          <p:cNvPr id="47" name="Shape 33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48" name="Shape 34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714375"/>
            <a:ext cx="7118901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System Generation (SYSGEN)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379190"/>
            <a:ext cx="4847757" cy="2438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2262" y="1722090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8" name="Shape 5"/>
          <p:cNvSpPr/>
          <p:nvPr/>
        </p:nvSpPr>
        <p:spPr>
          <a:xfrm>
            <a:off x="1104624" y="1874490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77756" y="215846"/>
                </a:moveTo>
                <a:lnTo>
                  <a:pt x="63484" y="215846"/>
                </a:lnTo>
                <a:moveTo>
                  <a:pt x="241240" y="88878"/>
                </a:moveTo>
                <a:lnTo>
                  <a:pt x="126968" y="88878"/>
                </a:lnTo>
                <a:moveTo>
                  <a:pt x="177756" y="215846"/>
                </a:moveTo>
                <a:cubicBezTo>
                  <a:pt x="177756" y="194823"/>
                  <a:pt x="194823" y="177756"/>
                  <a:pt x="215846" y="177756"/>
                </a:cubicBezTo>
                <a:cubicBezTo>
                  <a:pt x="236869" y="177756"/>
                  <a:pt x="253936" y="194823"/>
                  <a:pt x="253936" y="215846"/>
                </a:cubicBezTo>
                <a:cubicBezTo>
                  <a:pt x="253936" y="236869"/>
                  <a:pt x="236869" y="253936"/>
                  <a:pt x="215846" y="253936"/>
                </a:cubicBezTo>
                <a:cubicBezTo>
                  <a:pt x="194823" y="253936"/>
                  <a:pt x="177756" y="236869"/>
                  <a:pt x="177756" y="215846"/>
                </a:cubicBezTo>
                <a:close/>
                <a:moveTo>
                  <a:pt x="50787" y="88878"/>
                </a:moveTo>
                <a:cubicBezTo>
                  <a:pt x="50787" y="67855"/>
                  <a:pt x="67855" y="50787"/>
                  <a:pt x="88878" y="50787"/>
                </a:cubicBezTo>
                <a:cubicBezTo>
                  <a:pt x="109900" y="50787"/>
                  <a:pt x="126968" y="67855"/>
                  <a:pt x="126968" y="88878"/>
                </a:cubicBezTo>
                <a:cubicBezTo>
                  <a:pt x="126968" y="109900"/>
                  <a:pt x="109900" y="126968"/>
                  <a:pt x="88878" y="126968"/>
                </a:cubicBezTo>
                <a:cubicBezTo>
                  <a:pt x="67855" y="126968"/>
                  <a:pt x="50787" y="109900"/>
                  <a:pt x="50787" y="88878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14071" y="1902113"/>
            <a:ext cx="2069384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is SYSGEN?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52262" y="2655540"/>
            <a:ext cx="4128799" cy="7715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System Generation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is the process of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customizing and configuring an operating system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for a specific computer's hardware setup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761928" y="1712565"/>
            <a:ext cx="5817576" cy="10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1928" y="1379190"/>
            <a:ext cx="5817576" cy="352425"/>
          </a:xfrm>
          <a:prstGeom prst="rect">
            <a:avLst/>
          </a:prstGeom>
          <a:noFill/>
        </p:spPr>
        <p:txBody>
          <a:bodyPr wrap="none" lIns="0" tIns="0" rIns="0" bIns="114300" rtlCol="0" anchor="ctr"/>
          <a:lstStyle/>
          <a:p>
            <a:pPr marL="0" indent="0">
              <a:buNone/>
            </a:pPr>
            <a:r>
              <a:rPr lang="en-US" sz="1500" b="1" kern="0" spc="3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When does SYSGEN happen?</a:t>
            </a: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1928" y="1922115"/>
            <a:ext cx="5817576" cy="5619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90471" y="2082135"/>
            <a:ext cx="19075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01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9466" y="2136428"/>
            <a:ext cx="2572744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Installing an OS on new hardware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61928" y="2636490"/>
            <a:ext cx="5817576" cy="8191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90471" y="2796510"/>
            <a:ext cx="19075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9466" y="2850803"/>
            <a:ext cx="4417454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OS needs to recognize your exact CPU, memory, and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devices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1928" y="3608040"/>
            <a:ext cx="5817576" cy="5619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90471" y="3768060"/>
            <a:ext cx="190750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9466" y="3822353"/>
            <a:ext cx="4792258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Drivers and kernel modules are selected based on your system</a:t>
            </a:r>
            <a:endParaRPr lang="en-US" sz="14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448" y="5516910"/>
            <a:ext cx="10970057" cy="103629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990352" y="5806380"/>
            <a:ext cx="457086" cy="4572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4" name="Shape 17"/>
          <p:cNvSpPr/>
          <p:nvPr/>
        </p:nvSpPr>
        <p:spPr>
          <a:xfrm>
            <a:off x="1104624" y="5920680"/>
            <a:ext cx="228543" cy="228600"/>
          </a:xfrm>
          <a:custGeom>
            <a:avLst/>
            <a:gdLst/>
            <a:ahLst/>
            <a:cxnLst/>
            <a:rect l="l" t="t" r="r" b="b"/>
            <a:pathLst>
              <a:path w="228543" h="228600">
                <a:moveTo>
                  <a:pt x="19045" y="114271"/>
                </a:moveTo>
                <a:cubicBezTo>
                  <a:pt x="19045" y="61715"/>
                  <a:pt x="61715" y="19045"/>
                  <a:pt x="114271" y="19045"/>
                </a:cubicBezTo>
                <a:cubicBezTo>
                  <a:pt x="166828" y="19045"/>
                  <a:pt x="209498" y="61715"/>
                  <a:pt x="209498" y="114271"/>
                </a:cubicBezTo>
                <a:cubicBezTo>
                  <a:pt x="209498" y="166828"/>
                  <a:pt x="166828" y="209498"/>
                  <a:pt x="114271" y="209498"/>
                </a:cubicBezTo>
                <a:cubicBezTo>
                  <a:pt x="61715" y="209498"/>
                  <a:pt x="19045" y="166828"/>
                  <a:pt x="19045" y="114271"/>
                </a:cubicBezTo>
                <a:close/>
                <a:moveTo>
                  <a:pt x="86561" y="85704"/>
                </a:moveTo>
                <a:cubicBezTo>
                  <a:pt x="91183" y="72563"/>
                  <a:pt x="104610" y="64672"/>
                  <a:pt x="118339" y="67027"/>
                </a:cubicBezTo>
                <a:cubicBezTo>
                  <a:pt x="132069" y="69382"/>
                  <a:pt x="142098" y="81296"/>
                  <a:pt x="142077" y="95226"/>
                </a:cubicBezTo>
                <a:cubicBezTo>
                  <a:pt x="142077" y="114271"/>
                  <a:pt x="113510" y="123794"/>
                  <a:pt x="113510" y="123794"/>
                </a:cubicBezTo>
                <a:moveTo>
                  <a:pt x="114271" y="161885"/>
                </a:moveTo>
                <a:lnTo>
                  <a:pt x="114367" y="161885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637890" y="5777895"/>
            <a:ext cx="1255647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Think About It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1637890" y="6049357"/>
            <a:ext cx="6439225" cy="2105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might go wrong if an OS skips proper SYSGEN for your laptop?</a:t>
            </a:r>
            <a:endParaRPr lang="en-US" sz="1700" dirty="0"/>
          </a:p>
        </p:txBody>
      </p:sp>
      <p:sp>
        <p:nvSpPr>
          <p:cNvPr id="27" name="Shape 20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8" name="Shape 21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95325"/>
            <a:ext cx="4006047" cy="6000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200" b="1" kern="0" spc="-13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Key Concepts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09448" y="1375350"/>
            <a:ext cx="3763369" cy="182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Four pillars that define modern operating systems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796355"/>
            <a:ext cx="5389802" cy="188312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6583" y="1853507"/>
            <a:ext cx="5332667" cy="5715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9" name="Shape 6"/>
          <p:cNvSpPr/>
          <p:nvPr/>
        </p:nvSpPr>
        <p:spPr>
          <a:xfrm>
            <a:off x="904649" y="2053530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62900" y="27679"/>
                </a:moveTo>
                <a:cubicBezTo>
                  <a:pt x="156206" y="24626"/>
                  <a:pt x="148517" y="24626"/>
                  <a:pt x="141824" y="27679"/>
                </a:cubicBezTo>
                <a:lnTo>
                  <a:pt x="33012" y="77197"/>
                </a:lnTo>
                <a:cubicBezTo>
                  <a:pt x="28408" y="79227"/>
                  <a:pt x="25438" y="83783"/>
                  <a:pt x="25438" y="88814"/>
                </a:cubicBezTo>
                <a:cubicBezTo>
                  <a:pt x="25438" y="93845"/>
                  <a:pt x="28408" y="98402"/>
                  <a:pt x="33012" y="100432"/>
                </a:cubicBezTo>
                <a:lnTo>
                  <a:pt x="141951" y="150076"/>
                </a:lnTo>
                <a:cubicBezTo>
                  <a:pt x="148644" y="153130"/>
                  <a:pt x="156333" y="153130"/>
                  <a:pt x="163027" y="150076"/>
                </a:cubicBezTo>
                <a:lnTo>
                  <a:pt x="271966" y="100559"/>
                </a:lnTo>
                <a:cubicBezTo>
                  <a:pt x="276570" y="98529"/>
                  <a:pt x="279540" y="93972"/>
                  <a:pt x="279540" y="88941"/>
                </a:cubicBezTo>
                <a:cubicBezTo>
                  <a:pt x="279540" y="83910"/>
                  <a:pt x="276570" y="79354"/>
                  <a:pt x="271966" y="77324"/>
                </a:cubicBezTo>
                <a:close/>
                <a:moveTo>
                  <a:pt x="25394" y="152362"/>
                </a:moveTo>
                <a:cubicBezTo>
                  <a:pt x="25381" y="157321"/>
                  <a:pt x="28257" y="161833"/>
                  <a:pt x="32758" y="163916"/>
                </a:cubicBezTo>
                <a:lnTo>
                  <a:pt x="141951" y="213561"/>
                </a:lnTo>
                <a:cubicBezTo>
                  <a:pt x="148608" y="216575"/>
                  <a:pt x="156242" y="216575"/>
                  <a:pt x="162900" y="213561"/>
                </a:cubicBezTo>
                <a:lnTo>
                  <a:pt x="271839" y="164043"/>
                </a:lnTo>
                <a:cubicBezTo>
                  <a:pt x="276431" y="161979"/>
                  <a:pt x="279370" y="157396"/>
                  <a:pt x="279330" y="152362"/>
                </a:cubicBezTo>
                <a:moveTo>
                  <a:pt x="25394" y="215846"/>
                </a:moveTo>
                <a:cubicBezTo>
                  <a:pt x="25381" y="220805"/>
                  <a:pt x="28257" y="225317"/>
                  <a:pt x="32758" y="227400"/>
                </a:cubicBezTo>
                <a:lnTo>
                  <a:pt x="141951" y="277045"/>
                </a:lnTo>
                <a:cubicBezTo>
                  <a:pt x="148608" y="280060"/>
                  <a:pt x="156242" y="280060"/>
                  <a:pt x="162900" y="277045"/>
                </a:cubicBezTo>
                <a:lnTo>
                  <a:pt x="271839" y="227527"/>
                </a:lnTo>
                <a:cubicBezTo>
                  <a:pt x="276431" y="225463"/>
                  <a:pt x="279370" y="220881"/>
                  <a:pt x="279330" y="215846"/>
                </a:cubicBezTo>
              </a:path>
            </a:pathLst>
          </a:cu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61734" y="2064008"/>
            <a:ext cx="1518858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Processes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04649" y="2534543"/>
            <a:ext cx="4601954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OS manages programs as 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processes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—isolated units of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execution with their own state and resources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9702" y="1796355"/>
            <a:ext cx="5389802" cy="188312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46838" y="1853507"/>
            <a:ext cx="5332667" cy="5715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4" name="Shape 10"/>
          <p:cNvSpPr/>
          <p:nvPr/>
        </p:nvSpPr>
        <p:spPr>
          <a:xfrm>
            <a:off x="6484903" y="2053530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38090" y="63484"/>
                </a:moveTo>
                <a:cubicBezTo>
                  <a:pt x="38090" y="42461"/>
                  <a:pt x="89294" y="25394"/>
                  <a:pt x="152362" y="25394"/>
                </a:cubicBezTo>
                <a:cubicBezTo>
                  <a:pt x="215430" y="25394"/>
                  <a:pt x="266633" y="42461"/>
                  <a:pt x="266633" y="63484"/>
                </a:cubicBezTo>
                <a:cubicBezTo>
                  <a:pt x="266633" y="84507"/>
                  <a:pt x="215430" y="101575"/>
                  <a:pt x="152362" y="101575"/>
                </a:cubicBezTo>
                <a:cubicBezTo>
                  <a:pt x="89294" y="101575"/>
                  <a:pt x="38090" y="84507"/>
                  <a:pt x="38090" y="63484"/>
                </a:cubicBezTo>
                <a:close/>
                <a:moveTo>
                  <a:pt x="38090" y="63484"/>
                </a:moveTo>
                <a:lnTo>
                  <a:pt x="38090" y="241240"/>
                </a:lnTo>
                <a:cubicBezTo>
                  <a:pt x="38090" y="262262"/>
                  <a:pt x="89294" y="279330"/>
                  <a:pt x="152362" y="279330"/>
                </a:cubicBezTo>
                <a:cubicBezTo>
                  <a:pt x="215430" y="279330"/>
                  <a:pt x="266633" y="262262"/>
                  <a:pt x="266633" y="241240"/>
                </a:cubicBezTo>
                <a:lnTo>
                  <a:pt x="266633" y="63484"/>
                </a:lnTo>
                <a:moveTo>
                  <a:pt x="38090" y="152362"/>
                </a:moveTo>
                <a:cubicBezTo>
                  <a:pt x="38090" y="173385"/>
                  <a:pt x="89294" y="190452"/>
                  <a:pt x="152362" y="190452"/>
                </a:cubicBezTo>
                <a:cubicBezTo>
                  <a:pt x="215430" y="190452"/>
                  <a:pt x="266633" y="173385"/>
                  <a:pt x="266633" y="152362"/>
                </a:cubicBezTo>
              </a:path>
            </a:pathLst>
          </a:cu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41989" y="2064008"/>
            <a:ext cx="1090191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484903" y="2534543"/>
            <a:ext cx="4427274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Virtual memory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gives each process the illusion of a large,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private address space, even on limited physical RAM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3869978"/>
            <a:ext cx="5389802" cy="188312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66583" y="3927129"/>
            <a:ext cx="5332667" cy="5715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9" name="Shape 14"/>
          <p:cNvSpPr/>
          <p:nvPr/>
        </p:nvSpPr>
        <p:spPr>
          <a:xfrm>
            <a:off x="904649" y="4127153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253936" y="165059"/>
                </a:moveTo>
                <a:cubicBezTo>
                  <a:pt x="253936" y="228543"/>
                  <a:pt x="209498" y="260285"/>
                  <a:pt x="156679" y="278695"/>
                </a:cubicBezTo>
                <a:cubicBezTo>
                  <a:pt x="153913" y="279633"/>
                  <a:pt x="150909" y="279588"/>
                  <a:pt x="148172" y="278568"/>
                </a:cubicBezTo>
                <a:cubicBezTo>
                  <a:pt x="95226" y="260285"/>
                  <a:pt x="50787" y="228543"/>
                  <a:pt x="50787" y="165059"/>
                </a:cubicBezTo>
                <a:lnTo>
                  <a:pt x="50787" y="76181"/>
                </a:lnTo>
                <a:cubicBezTo>
                  <a:pt x="50787" y="69173"/>
                  <a:pt x="56477" y="63484"/>
                  <a:pt x="63484" y="63484"/>
                </a:cubicBezTo>
                <a:cubicBezTo>
                  <a:pt x="88878" y="63484"/>
                  <a:pt x="120620" y="48248"/>
                  <a:pt x="142712" y="28949"/>
                </a:cubicBezTo>
                <a:cubicBezTo>
                  <a:pt x="148269" y="24201"/>
                  <a:pt x="156454" y="24201"/>
                  <a:pt x="162011" y="28949"/>
                </a:cubicBezTo>
                <a:cubicBezTo>
                  <a:pt x="184231" y="48375"/>
                  <a:pt x="215846" y="63484"/>
                  <a:pt x="241240" y="63484"/>
                </a:cubicBezTo>
                <a:cubicBezTo>
                  <a:pt x="248247" y="63484"/>
                  <a:pt x="253936" y="69173"/>
                  <a:pt x="253936" y="76181"/>
                </a:cubicBezTo>
                <a:close/>
                <a:moveTo>
                  <a:pt x="114271" y="152362"/>
                </a:moveTo>
                <a:moveTo>
                  <a:pt x="139665" y="177756"/>
                </a:moveTo>
                <a:moveTo>
                  <a:pt x="190452" y="126968"/>
                </a:moveTo>
              </a:path>
            </a:pathLst>
          </a:cu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361734" y="4137630"/>
            <a:ext cx="1598461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Protection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904649" y="4608165"/>
            <a:ext cx="4777676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Hardware and OS mechanisms enforce 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access control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ensuring processes can't interfere with each other or the kernel</a:t>
            </a:r>
            <a:endParaRPr lang="en-US" sz="14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89702" y="3869978"/>
            <a:ext cx="5389802" cy="188312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246838" y="3927129"/>
            <a:ext cx="5332667" cy="5715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4" name="Shape 18"/>
          <p:cNvSpPr/>
          <p:nvPr/>
        </p:nvSpPr>
        <p:spPr>
          <a:xfrm>
            <a:off x="6484903" y="4127153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26968" y="25394"/>
                </a:moveTo>
                <a:lnTo>
                  <a:pt x="177756" y="25394"/>
                </a:lnTo>
                <a:moveTo>
                  <a:pt x="152362" y="177756"/>
                </a:moveTo>
                <a:lnTo>
                  <a:pt x="190452" y="139665"/>
                </a:lnTo>
                <a:moveTo>
                  <a:pt x="50787" y="177756"/>
                </a:moveTo>
                <a:cubicBezTo>
                  <a:pt x="50787" y="121695"/>
                  <a:pt x="96301" y="76181"/>
                  <a:pt x="152362" y="76181"/>
                </a:cubicBezTo>
                <a:cubicBezTo>
                  <a:pt x="208422" y="76181"/>
                  <a:pt x="253936" y="121695"/>
                  <a:pt x="253936" y="177756"/>
                </a:cubicBezTo>
                <a:cubicBezTo>
                  <a:pt x="253936" y="233816"/>
                  <a:pt x="208422" y="279330"/>
                  <a:pt x="152362" y="279330"/>
                </a:cubicBezTo>
                <a:cubicBezTo>
                  <a:pt x="96301" y="279330"/>
                  <a:pt x="50787" y="233816"/>
                  <a:pt x="50787" y="177756"/>
                </a:cubicBezTo>
                <a:close/>
              </a:path>
            </a:pathLst>
          </a:cu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941989" y="4137630"/>
            <a:ext cx="1612150" cy="2800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0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Scheduling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484903" y="4608165"/>
            <a:ext cx="4201856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</a:t>
            </a:r>
            <a:r>
              <a:rPr lang="en-US" sz="1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scheduler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decides which ready process runs next,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balancing fairness, responsiveness, and throughput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09448" y="5981700"/>
            <a:ext cx="10970057" cy="8382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8" name="Shape 22"/>
          <p:cNvSpPr/>
          <p:nvPr/>
        </p:nvSpPr>
        <p:spPr>
          <a:xfrm>
            <a:off x="914171" y="6210300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31742" y="190452"/>
                </a:moveTo>
                <a:cubicBezTo>
                  <a:pt x="31742" y="102858"/>
                  <a:pt x="102858" y="31742"/>
                  <a:pt x="190452" y="31742"/>
                </a:cubicBezTo>
                <a:cubicBezTo>
                  <a:pt x="278047" y="31742"/>
                  <a:pt x="349163" y="102858"/>
                  <a:pt x="349163" y="190452"/>
                </a:cubicBezTo>
                <a:cubicBezTo>
                  <a:pt x="349163" y="278047"/>
                  <a:pt x="278047" y="349163"/>
                  <a:pt x="190452" y="349163"/>
                </a:cubicBezTo>
                <a:cubicBezTo>
                  <a:pt x="102858" y="349163"/>
                  <a:pt x="31742" y="278047"/>
                  <a:pt x="31742" y="190452"/>
                </a:cubicBezTo>
                <a:close/>
                <a:moveTo>
                  <a:pt x="144268" y="142839"/>
                </a:moveTo>
                <a:cubicBezTo>
                  <a:pt x="151972" y="120938"/>
                  <a:pt x="174349" y="107787"/>
                  <a:pt x="197232" y="111712"/>
                </a:cubicBezTo>
                <a:cubicBezTo>
                  <a:pt x="220115" y="115637"/>
                  <a:pt x="236830" y="135493"/>
                  <a:pt x="236796" y="158710"/>
                </a:cubicBezTo>
                <a:cubicBezTo>
                  <a:pt x="236796" y="190452"/>
                  <a:pt x="189183" y="206323"/>
                  <a:pt x="189183" y="206323"/>
                </a:cubicBezTo>
                <a:moveTo>
                  <a:pt x="190452" y="269808"/>
                </a:moveTo>
                <a:lnTo>
                  <a:pt x="190611" y="269808"/>
                </a:lnTo>
              </a:path>
            </a:pathLst>
          </a:custGeom>
          <a:noFill/>
          <a:ln w="23813">
            <a:solidFill>
              <a:srgbClr val="FF300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485529" y="6300728"/>
            <a:ext cx="7172615" cy="2105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do these </a:t>
            </a:r>
            <a:r>
              <a:rPr lang="en-US" sz="17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four pillars</a:t>
            </a: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work together to make multitasking feel seamless?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10960683" y="4286250"/>
            <a:ext cx="771183" cy="1704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0" b="1" kern="0" spc="-600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4</a:t>
            </a:r>
            <a:endParaRPr lang="en-US" sz="12000" dirty="0"/>
          </a:p>
        </p:txBody>
      </p:sp>
      <p:sp>
        <p:nvSpPr>
          <p:cNvPr id="31" name="Shape 25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2" name="Shape 26"/>
          <p:cNvSpPr/>
          <p:nvPr/>
        </p:nvSpPr>
        <p:spPr>
          <a:xfrm>
            <a:off x="0" y="6819900"/>
            <a:ext cx="402226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76275"/>
            <a:ext cx="8927901" cy="6000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4200" b="1" kern="0" spc="-13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Puzzle This: </a:t>
            </a:r>
            <a:r>
              <a:rPr lang="en-US" sz="4200" b="1" kern="0" spc="-13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Resource Sharing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17695" y="381000"/>
            <a:ext cx="761810" cy="76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008147" y="571500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31742" y="190452"/>
                </a:moveTo>
                <a:cubicBezTo>
                  <a:pt x="31742" y="102858"/>
                  <a:pt x="102858" y="31742"/>
                  <a:pt x="190452" y="31742"/>
                </a:cubicBezTo>
                <a:cubicBezTo>
                  <a:pt x="278047" y="31742"/>
                  <a:pt x="349163" y="102858"/>
                  <a:pt x="349163" y="190452"/>
                </a:cubicBezTo>
                <a:cubicBezTo>
                  <a:pt x="349163" y="278047"/>
                  <a:pt x="278047" y="349163"/>
                  <a:pt x="190452" y="349163"/>
                </a:cubicBezTo>
                <a:cubicBezTo>
                  <a:pt x="102858" y="349163"/>
                  <a:pt x="31742" y="278047"/>
                  <a:pt x="31742" y="190452"/>
                </a:cubicBezTo>
                <a:close/>
                <a:moveTo>
                  <a:pt x="144268" y="142839"/>
                </a:moveTo>
                <a:cubicBezTo>
                  <a:pt x="151972" y="120938"/>
                  <a:pt x="174349" y="107787"/>
                  <a:pt x="197232" y="111712"/>
                </a:cubicBezTo>
                <a:cubicBezTo>
                  <a:pt x="220115" y="115637"/>
                  <a:pt x="236830" y="135493"/>
                  <a:pt x="236796" y="158710"/>
                </a:cubicBezTo>
                <a:cubicBezTo>
                  <a:pt x="236796" y="190452"/>
                  <a:pt x="189183" y="206323"/>
                  <a:pt x="189183" y="206323"/>
                </a:cubicBezTo>
                <a:moveTo>
                  <a:pt x="190452" y="269808"/>
                </a:moveTo>
                <a:lnTo>
                  <a:pt x="190611" y="269808"/>
                </a:lnTo>
              </a:path>
            </a:pathLst>
          </a:custGeom>
          <a:noFill/>
          <a:ln w="23813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1417290"/>
            <a:ext cx="10970057" cy="8038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9448" y="1417290"/>
            <a:ext cx="10970057" cy="803821"/>
          </a:xfrm>
          <a:prstGeom prst="rect">
            <a:avLst/>
          </a:prstGeom>
          <a:noFill/>
        </p:spPr>
        <p:txBody>
          <a:bodyPr wrap="none" lIns="304800" tIns="228600" rIns="304800" bIns="22860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can the OS safely allow multiple processes to share the same printer?</a:t>
            </a:r>
            <a:endParaRPr lang="en-US" sz="2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448" y="2487811"/>
            <a:ext cx="10970057" cy="7429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6558" y="2687836"/>
            <a:ext cx="338946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01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1437915" y="2753558"/>
            <a:ext cx="5158879" cy="2105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Should processes send print jobs directly to the printer?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448" y="3383161"/>
            <a:ext cx="10970057" cy="7429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6558" y="3583186"/>
            <a:ext cx="338946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1437915" y="3648908"/>
            <a:ext cx="5554365" cy="21050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could go wrong if two processes print simultaneously?</a:t>
            </a:r>
            <a:endParaRPr lang="en-US" sz="1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448" y="4278511"/>
            <a:ext cx="10970057" cy="7429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66558" y="4478536"/>
            <a:ext cx="338946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2400" dirty="0"/>
          </a:p>
        </p:txBody>
      </p:sp>
      <p:sp>
        <p:nvSpPr>
          <p:cNvPr id="18" name="Text 11"/>
          <p:cNvSpPr/>
          <p:nvPr/>
        </p:nvSpPr>
        <p:spPr>
          <a:xfrm>
            <a:off x="1437915" y="4525208"/>
            <a:ext cx="4725897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Could we use a </a:t>
            </a:r>
            <a:r>
              <a:rPr lang="en-US" sz="1700" b="1" dirty="0">
                <a:solidFill>
                  <a:srgbClr val="FF3000"/>
                </a:solidFill>
                <a:highlight>
                  <a:srgbClr val="FF3000"/>
                </a:highlight>
                <a:latin typeface="Inter" pitchFamily="34" charset="0"/>
                <a:ea typeface="Inter" pitchFamily="34" charset="0"/>
                <a:cs typeface="Inter" pitchFamily="34" charset="0"/>
              </a:rPr>
              <a:t>queue</a:t>
            </a: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to manage print requests?</a:t>
            </a:r>
            <a:endParaRPr lang="en-US" sz="17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448" y="5173861"/>
            <a:ext cx="10970057" cy="7429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66558" y="5373886"/>
            <a:ext cx="338946" cy="3429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04</a:t>
            </a:r>
            <a:endParaRPr lang="en-US" sz="2400" dirty="0"/>
          </a:p>
        </p:txBody>
      </p:sp>
      <p:sp>
        <p:nvSpPr>
          <p:cNvPr id="21" name="Text 13"/>
          <p:cNvSpPr/>
          <p:nvPr/>
        </p:nvSpPr>
        <p:spPr>
          <a:xfrm>
            <a:off x="1437915" y="5420558"/>
            <a:ext cx="5599300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role does the OS play as a </a:t>
            </a:r>
            <a:r>
              <a:rPr lang="en-US" sz="1700" b="1" dirty="0">
                <a:solidFill>
                  <a:srgbClr val="FF3000"/>
                </a:solidFill>
                <a:highlight>
                  <a:srgbClr val="FF3000"/>
                </a:highlight>
                <a:latin typeface="Inter" pitchFamily="34" charset="0"/>
                <a:ea typeface="Inter" pitchFamily="34" charset="0"/>
                <a:cs typeface="Inter" pitchFamily="34" charset="0"/>
              </a:rPr>
              <a:t>resource manager</a:t>
            </a: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here?</a:t>
            </a:r>
            <a:endParaRPr lang="en-US" sz="1700" dirty="0"/>
          </a:p>
        </p:txBody>
      </p:sp>
      <p:sp>
        <p:nvSpPr>
          <p:cNvPr id="22" name="Text 14"/>
          <p:cNvSpPr/>
          <p:nvPr/>
        </p:nvSpPr>
        <p:spPr>
          <a:xfrm>
            <a:off x="11171668" y="6518910"/>
            <a:ext cx="407836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B3B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38 / 42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4" name="Shape 16"/>
          <p:cNvSpPr/>
          <p:nvPr/>
        </p:nvSpPr>
        <p:spPr>
          <a:xfrm>
            <a:off x="0" y="6819900"/>
            <a:ext cx="402226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191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210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695325"/>
            <a:ext cx="8208646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OS for Multiprocessor Systems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322040"/>
            <a:ext cx="9523" cy="438150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322040"/>
            <a:ext cx="7618095" cy="438150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 </a:t>
            </a: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SMP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(Symmetric Multiprocessor) and multicore systems, the OS faces three key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challenges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912590"/>
            <a:ext cx="3504324" cy="25622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76081" y="2217390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Shape 7"/>
          <p:cNvSpPr/>
          <p:nvPr/>
        </p:nvSpPr>
        <p:spPr>
          <a:xfrm>
            <a:off x="1028443" y="2369790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52362" y="253936"/>
                </a:moveTo>
                <a:lnTo>
                  <a:pt x="152362" y="279330"/>
                </a:lnTo>
                <a:moveTo>
                  <a:pt x="152362" y="25394"/>
                </a:moveTo>
                <a:lnTo>
                  <a:pt x="152362" y="50787"/>
                </a:lnTo>
                <a:moveTo>
                  <a:pt x="215846" y="253936"/>
                </a:moveTo>
                <a:lnTo>
                  <a:pt x="215846" y="279330"/>
                </a:lnTo>
                <a:moveTo>
                  <a:pt x="215846" y="25394"/>
                </a:moveTo>
                <a:lnTo>
                  <a:pt x="215846" y="50787"/>
                </a:lnTo>
                <a:moveTo>
                  <a:pt x="25394" y="152362"/>
                </a:moveTo>
                <a:lnTo>
                  <a:pt x="50787" y="152362"/>
                </a:lnTo>
                <a:moveTo>
                  <a:pt x="25394" y="215846"/>
                </a:moveTo>
                <a:lnTo>
                  <a:pt x="50787" y="215846"/>
                </a:lnTo>
                <a:moveTo>
                  <a:pt x="25394" y="88878"/>
                </a:moveTo>
                <a:lnTo>
                  <a:pt x="50787" y="88878"/>
                </a:lnTo>
                <a:moveTo>
                  <a:pt x="253936" y="152362"/>
                </a:moveTo>
                <a:lnTo>
                  <a:pt x="279330" y="152362"/>
                </a:lnTo>
                <a:moveTo>
                  <a:pt x="253936" y="215846"/>
                </a:moveTo>
                <a:lnTo>
                  <a:pt x="279330" y="215846"/>
                </a:lnTo>
                <a:moveTo>
                  <a:pt x="253936" y="88878"/>
                </a:moveTo>
                <a:lnTo>
                  <a:pt x="279330" y="88878"/>
                </a:lnTo>
                <a:moveTo>
                  <a:pt x="88878" y="253936"/>
                </a:moveTo>
                <a:lnTo>
                  <a:pt x="88878" y="279330"/>
                </a:lnTo>
                <a:moveTo>
                  <a:pt x="88878" y="25394"/>
                </a:moveTo>
                <a:lnTo>
                  <a:pt x="88878" y="50787"/>
                </a:lnTo>
                <a:moveTo>
                  <a:pt x="76181" y="50787"/>
                </a:moveTo>
                <a:lnTo>
                  <a:pt x="228543" y="50787"/>
                </a:lnTo>
                <a:cubicBezTo>
                  <a:pt x="242558" y="50787"/>
                  <a:pt x="253936" y="62166"/>
                  <a:pt x="253936" y="76181"/>
                </a:cubicBezTo>
                <a:lnTo>
                  <a:pt x="253936" y="228543"/>
                </a:lnTo>
                <a:cubicBezTo>
                  <a:pt x="253936" y="242558"/>
                  <a:pt x="242558" y="253936"/>
                  <a:pt x="228543" y="253936"/>
                </a:cubicBezTo>
                <a:lnTo>
                  <a:pt x="76181" y="253936"/>
                </a:lnTo>
                <a:cubicBezTo>
                  <a:pt x="62166" y="253936"/>
                  <a:pt x="50787" y="242558"/>
                  <a:pt x="50787" y="228543"/>
                </a:cubicBezTo>
                <a:lnTo>
                  <a:pt x="50787" y="76181"/>
                </a:lnTo>
                <a:cubicBezTo>
                  <a:pt x="50787" y="62166"/>
                  <a:pt x="62166" y="50787"/>
                  <a:pt x="76181" y="50787"/>
                </a:cubicBezTo>
                <a:close/>
                <a:moveTo>
                  <a:pt x="114271" y="101575"/>
                </a:moveTo>
                <a:lnTo>
                  <a:pt x="190452" y="101575"/>
                </a:lnTo>
                <a:cubicBezTo>
                  <a:pt x="197460" y="101575"/>
                  <a:pt x="203149" y="107264"/>
                  <a:pt x="203149" y="114271"/>
                </a:cubicBezTo>
                <a:lnTo>
                  <a:pt x="203149" y="190452"/>
                </a:lnTo>
                <a:cubicBezTo>
                  <a:pt x="203149" y="197460"/>
                  <a:pt x="197460" y="203149"/>
                  <a:pt x="190452" y="203149"/>
                </a:cubicBezTo>
                <a:lnTo>
                  <a:pt x="114271" y="203149"/>
                </a:lnTo>
                <a:cubicBezTo>
                  <a:pt x="107264" y="203149"/>
                  <a:pt x="101575" y="197460"/>
                  <a:pt x="101575" y="190452"/>
                </a:cubicBezTo>
                <a:lnTo>
                  <a:pt x="101575" y="114271"/>
                </a:lnTo>
                <a:cubicBezTo>
                  <a:pt x="101575" y="107264"/>
                  <a:pt x="107264" y="101575"/>
                  <a:pt x="114271" y="10157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6081" y="3024158"/>
            <a:ext cx="1364115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Scheduling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76081" y="3460403"/>
            <a:ext cx="2581671" cy="6715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OS must distribute processes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across multiple CPUs fairly and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efficiently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42314" y="1912590"/>
            <a:ext cx="3504324" cy="25622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08947" y="2217390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5" name="Shape 11"/>
          <p:cNvSpPr/>
          <p:nvPr/>
        </p:nvSpPr>
        <p:spPr>
          <a:xfrm>
            <a:off x="4761309" y="2369790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63484" y="139665"/>
                </a:moveTo>
                <a:lnTo>
                  <a:pt x="241240" y="139665"/>
                </a:lnTo>
                <a:cubicBezTo>
                  <a:pt x="255255" y="139665"/>
                  <a:pt x="266633" y="151044"/>
                  <a:pt x="266633" y="165059"/>
                </a:cubicBezTo>
                <a:lnTo>
                  <a:pt x="266633" y="253936"/>
                </a:lnTo>
                <a:cubicBezTo>
                  <a:pt x="266633" y="267952"/>
                  <a:pt x="255255" y="279330"/>
                  <a:pt x="241240" y="279330"/>
                </a:cubicBezTo>
                <a:lnTo>
                  <a:pt x="63484" y="279330"/>
                </a:lnTo>
                <a:cubicBezTo>
                  <a:pt x="49469" y="279330"/>
                  <a:pt x="38090" y="267952"/>
                  <a:pt x="38090" y="253936"/>
                </a:cubicBezTo>
                <a:lnTo>
                  <a:pt x="38090" y="165059"/>
                </a:lnTo>
                <a:cubicBezTo>
                  <a:pt x="38090" y="151044"/>
                  <a:pt x="49469" y="139665"/>
                  <a:pt x="63484" y="139665"/>
                </a:cubicBezTo>
                <a:close/>
                <a:moveTo>
                  <a:pt x="88878" y="139665"/>
                </a:moveTo>
                <a:lnTo>
                  <a:pt x="88878" y="88878"/>
                </a:lnTo>
                <a:cubicBezTo>
                  <a:pt x="88878" y="53840"/>
                  <a:pt x="117324" y="25394"/>
                  <a:pt x="152362" y="25394"/>
                </a:cubicBezTo>
                <a:cubicBezTo>
                  <a:pt x="187400" y="25394"/>
                  <a:pt x="215846" y="53840"/>
                  <a:pt x="215846" y="88878"/>
                </a:cubicBezTo>
                <a:lnTo>
                  <a:pt x="215846" y="139665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08947" y="3024158"/>
            <a:ext cx="1989930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Synchronization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608947" y="3460403"/>
            <a:ext cx="2782390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Shared resources need careful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coordination to avoid race conditions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75181" y="1912590"/>
            <a:ext cx="3504324" cy="256222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341814" y="2217390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0" name="Shape 15"/>
          <p:cNvSpPr/>
          <p:nvPr/>
        </p:nvSpPr>
        <p:spPr>
          <a:xfrm>
            <a:off x="8494176" y="2369790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26968" y="203149"/>
                </a:moveTo>
                <a:lnTo>
                  <a:pt x="127095" y="203149"/>
                </a:lnTo>
                <a:moveTo>
                  <a:pt x="28085" y="146991"/>
                </a:moveTo>
                <a:cubicBezTo>
                  <a:pt x="26316" y="150522"/>
                  <a:pt x="25394" y="154418"/>
                  <a:pt x="25394" y="158367"/>
                </a:cubicBezTo>
                <a:lnTo>
                  <a:pt x="25394" y="228543"/>
                </a:lnTo>
                <a:cubicBezTo>
                  <a:pt x="25394" y="242558"/>
                  <a:pt x="36772" y="253936"/>
                  <a:pt x="50787" y="253936"/>
                </a:cubicBezTo>
                <a:lnTo>
                  <a:pt x="253936" y="253936"/>
                </a:lnTo>
                <a:cubicBezTo>
                  <a:pt x="267952" y="253936"/>
                  <a:pt x="279330" y="242558"/>
                  <a:pt x="279330" y="228543"/>
                </a:cubicBezTo>
                <a:lnTo>
                  <a:pt x="279330" y="158367"/>
                </a:lnTo>
                <a:cubicBezTo>
                  <a:pt x="279330" y="154418"/>
                  <a:pt x="278408" y="150522"/>
                  <a:pt x="276638" y="146991"/>
                </a:cubicBezTo>
                <a:lnTo>
                  <a:pt x="235526" y="64881"/>
                </a:lnTo>
                <a:cubicBezTo>
                  <a:pt x="231238" y="56251"/>
                  <a:pt x="222435" y="50792"/>
                  <a:pt x="212799" y="50787"/>
                </a:cubicBezTo>
                <a:lnTo>
                  <a:pt x="91925" y="50787"/>
                </a:lnTo>
                <a:cubicBezTo>
                  <a:pt x="82289" y="50792"/>
                  <a:pt x="73486" y="56251"/>
                  <a:pt x="69198" y="64881"/>
                </a:cubicBezTo>
                <a:close/>
                <a:moveTo>
                  <a:pt x="278645" y="152527"/>
                </a:moveTo>
                <a:lnTo>
                  <a:pt x="26079" y="152527"/>
                </a:lnTo>
                <a:moveTo>
                  <a:pt x="76181" y="203149"/>
                </a:moveTo>
                <a:lnTo>
                  <a:pt x="76308" y="203149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341814" y="3024158"/>
            <a:ext cx="2478410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 Management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341814" y="3460403"/>
            <a:ext cx="2941150" cy="4143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Ensures cache coherency and efficient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 access across cores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448" y="4741515"/>
            <a:ext cx="10970057" cy="10668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52262" y="5046315"/>
            <a:ext cx="457086" cy="457200"/>
          </a:xfrm>
          <a:custGeom>
            <a:avLst/>
            <a:gdLst/>
            <a:ahLst/>
            <a:cxnLst/>
            <a:rect l="l" t="t" r="r" b="b"/>
            <a:pathLst>
              <a:path w="457086" h="457200">
                <a:moveTo>
                  <a:pt x="38090" y="228543"/>
                </a:moveTo>
                <a:cubicBezTo>
                  <a:pt x="38090" y="123429"/>
                  <a:pt x="123429" y="38090"/>
                  <a:pt x="228543" y="38090"/>
                </a:cubicBezTo>
                <a:cubicBezTo>
                  <a:pt x="333656" y="38090"/>
                  <a:pt x="418995" y="123429"/>
                  <a:pt x="418995" y="228543"/>
                </a:cubicBezTo>
                <a:cubicBezTo>
                  <a:pt x="418995" y="333656"/>
                  <a:pt x="333656" y="418995"/>
                  <a:pt x="228543" y="418995"/>
                </a:cubicBezTo>
                <a:cubicBezTo>
                  <a:pt x="123429" y="418995"/>
                  <a:pt x="38090" y="333656"/>
                  <a:pt x="38090" y="228543"/>
                </a:cubicBezTo>
                <a:close/>
                <a:moveTo>
                  <a:pt x="173121" y="171407"/>
                </a:moveTo>
                <a:cubicBezTo>
                  <a:pt x="182366" y="145126"/>
                  <a:pt x="209219" y="129344"/>
                  <a:pt x="236679" y="134054"/>
                </a:cubicBezTo>
                <a:cubicBezTo>
                  <a:pt x="264138" y="138764"/>
                  <a:pt x="284196" y="162592"/>
                  <a:pt x="284155" y="190452"/>
                </a:cubicBezTo>
                <a:cubicBezTo>
                  <a:pt x="284155" y="228543"/>
                  <a:pt x="227019" y="247588"/>
                  <a:pt x="227019" y="247588"/>
                </a:cubicBezTo>
                <a:moveTo>
                  <a:pt x="228543" y="323769"/>
                </a:moveTo>
                <a:lnTo>
                  <a:pt x="228733" y="323769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599800" y="5065365"/>
            <a:ext cx="8857523" cy="4476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How would you design a scheduler that balances load while minimizing inter-core communication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overhead?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0808321" y="4095750"/>
            <a:ext cx="771183" cy="1704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0" b="1" kern="0" spc="-600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</a:t>
            </a:r>
            <a:endParaRPr lang="en-US" sz="12000" dirty="0"/>
          </a:p>
        </p:txBody>
      </p:sp>
      <p:sp>
        <p:nvSpPr>
          <p:cNvPr id="27" name="Shape 21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8" name="Shape 22"/>
          <p:cNvSpPr/>
          <p:nvPr/>
        </p:nvSpPr>
        <p:spPr>
          <a:xfrm>
            <a:off x="0" y="6819900"/>
            <a:ext cx="402226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40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972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809625"/>
            <a:ext cx="7085126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Modern OS Characteristics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474440"/>
            <a:ext cx="9523" cy="219075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474440"/>
            <a:ext cx="7618095" cy="219075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Three key architectural innovations that define modern operating systems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884015"/>
            <a:ext cx="3478880" cy="45929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76081" y="2226915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Shape 7"/>
          <p:cNvSpPr/>
          <p:nvPr/>
        </p:nvSpPr>
        <p:spPr>
          <a:xfrm>
            <a:off x="1066533" y="2417415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203625" y="34599"/>
                </a:moveTo>
                <a:cubicBezTo>
                  <a:pt x="195258" y="30782"/>
                  <a:pt x="185647" y="30782"/>
                  <a:pt x="177279" y="34599"/>
                </a:cubicBezTo>
                <a:lnTo>
                  <a:pt x="41265" y="96496"/>
                </a:lnTo>
                <a:cubicBezTo>
                  <a:pt x="35510" y="99033"/>
                  <a:pt x="31797" y="104729"/>
                  <a:pt x="31797" y="111018"/>
                </a:cubicBezTo>
                <a:cubicBezTo>
                  <a:pt x="31797" y="117307"/>
                  <a:pt x="35510" y="123003"/>
                  <a:pt x="41265" y="125540"/>
                </a:cubicBezTo>
                <a:lnTo>
                  <a:pt x="177438" y="187596"/>
                </a:lnTo>
                <a:cubicBezTo>
                  <a:pt x="185805" y="191412"/>
                  <a:pt x="195417" y="191412"/>
                  <a:pt x="203784" y="187596"/>
                </a:cubicBezTo>
                <a:lnTo>
                  <a:pt x="339957" y="125699"/>
                </a:lnTo>
                <a:cubicBezTo>
                  <a:pt x="345712" y="123161"/>
                  <a:pt x="349425" y="117466"/>
                  <a:pt x="349425" y="111177"/>
                </a:cubicBezTo>
                <a:cubicBezTo>
                  <a:pt x="349425" y="104888"/>
                  <a:pt x="345712" y="99192"/>
                  <a:pt x="339957" y="96655"/>
                </a:cubicBezTo>
                <a:close/>
                <a:moveTo>
                  <a:pt x="31742" y="190452"/>
                </a:moveTo>
                <a:cubicBezTo>
                  <a:pt x="31727" y="196651"/>
                  <a:pt x="35322" y="202292"/>
                  <a:pt x="40947" y="204895"/>
                </a:cubicBezTo>
                <a:lnTo>
                  <a:pt x="177438" y="266951"/>
                </a:lnTo>
                <a:cubicBezTo>
                  <a:pt x="185760" y="270719"/>
                  <a:pt x="195303" y="270719"/>
                  <a:pt x="203625" y="266951"/>
                </a:cubicBezTo>
                <a:lnTo>
                  <a:pt x="339799" y="205054"/>
                </a:lnTo>
                <a:cubicBezTo>
                  <a:pt x="345539" y="202474"/>
                  <a:pt x="349212" y="196746"/>
                  <a:pt x="349163" y="190452"/>
                </a:cubicBezTo>
                <a:moveTo>
                  <a:pt x="31742" y="269808"/>
                </a:moveTo>
                <a:cubicBezTo>
                  <a:pt x="31727" y="276006"/>
                  <a:pt x="35322" y="281647"/>
                  <a:pt x="40947" y="284250"/>
                </a:cubicBezTo>
                <a:lnTo>
                  <a:pt x="177438" y="346306"/>
                </a:lnTo>
                <a:cubicBezTo>
                  <a:pt x="185760" y="350074"/>
                  <a:pt x="195303" y="350074"/>
                  <a:pt x="203625" y="346306"/>
                </a:cubicBezTo>
                <a:lnTo>
                  <a:pt x="339799" y="284409"/>
                </a:lnTo>
                <a:cubicBezTo>
                  <a:pt x="345539" y="281829"/>
                  <a:pt x="349212" y="276101"/>
                  <a:pt x="349163" y="269808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6081" y="3224183"/>
            <a:ext cx="1627624" cy="4791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Microkernel</a:t>
            </a:r>
            <a:endParaRPr lang="en-US" sz="1700" dirty="0"/>
          </a:p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Architecture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76081" y="3927128"/>
            <a:ext cx="2877021" cy="14430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Keeps the kernel minimal—</a:t>
            </a: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only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essential services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(like IPC) run 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kernel mode. Everything else (drivers,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file systems) runs as user-space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processes for better </a:t>
            </a: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stability and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security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54961" y="1884015"/>
            <a:ext cx="3478880" cy="459298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21595" y="2226915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5" name="Shape 11"/>
          <p:cNvSpPr/>
          <p:nvPr/>
        </p:nvSpPr>
        <p:spPr>
          <a:xfrm>
            <a:off x="4812047" y="2417415"/>
            <a:ext cx="380905" cy="381000"/>
          </a:xfrm>
          <a:custGeom>
            <a:avLst/>
            <a:gdLst/>
            <a:ahLst/>
            <a:cxnLst/>
            <a:rect l="l" t="t" r="r" b="b"/>
            <a:pathLst>
              <a:path w="380905" h="381000">
                <a:moveTo>
                  <a:pt x="238065" y="95226"/>
                </a:moveTo>
                <a:cubicBezTo>
                  <a:pt x="159230" y="95226"/>
                  <a:pt x="95226" y="159230"/>
                  <a:pt x="95226" y="238065"/>
                </a:cubicBezTo>
                <a:lnTo>
                  <a:pt x="95226" y="47613"/>
                </a:lnTo>
                <a:moveTo>
                  <a:pt x="238065" y="95226"/>
                </a:moveTo>
                <a:cubicBezTo>
                  <a:pt x="238065" y="68948"/>
                  <a:pt x="259400" y="47613"/>
                  <a:pt x="285679" y="47613"/>
                </a:cubicBezTo>
                <a:cubicBezTo>
                  <a:pt x="311957" y="47613"/>
                  <a:pt x="333292" y="68948"/>
                  <a:pt x="333292" y="95226"/>
                </a:cubicBezTo>
                <a:cubicBezTo>
                  <a:pt x="333292" y="121505"/>
                  <a:pt x="311957" y="142839"/>
                  <a:pt x="285679" y="142839"/>
                </a:cubicBezTo>
                <a:cubicBezTo>
                  <a:pt x="259400" y="142839"/>
                  <a:pt x="238065" y="121505"/>
                  <a:pt x="238065" y="95226"/>
                </a:cubicBezTo>
                <a:close/>
                <a:moveTo>
                  <a:pt x="47613" y="285679"/>
                </a:moveTo>
                <a:cubicBezTo>
                  <a:pt x="47613" y="259400"/>
                  <a:pt x="68948" y="238065"/>
                  <a:pt x="95226" y="238065"/>
                </a:cubicBezTo>
                <a:cubicBezTo>
                  <a:pt x="121505" y="238065"/>
                  <a:pt x="142839" y="259400"/>
                  <a:pt x="142839" y="285679"/>
                </a:cubicBezTo>
                <a:cubicBezTo>
                  <a:pt x="142839" y="311957"/>
                  <a:pt x="121505" y="333292"/>
                  <a:pt x="95226" y="333292"/>
                </a:cubicBezTo>
                <a:cubicBezTo>
                  <a:pt x="68948" y="333292"/>
                  <a:pt x="47613" y="311957"/>
                  <a:pt x="47613" y="285679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21595" y="3224183"/>
            <a:ext cx="1840544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Multithreading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621595" y="3679478"/>
            <a:ext cx="2855595" cy="9286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Lets a single process have </a:t>
            </a: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multiple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threads of execution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, improving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responsiveness and enabling efficient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use of </a:t>
            </a: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multicore CPUs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00475" y="1884015"/>
            <a:ext cx="3479029" cy="459298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367108" y="2226915"/>
            <a:ext cx="761810" cy="7620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0" name="Text 15"/>
          <p:cNvSpPr/>
          <p:nvPr/>
        </p:nvSpPr>
        <p:spPr>
          <a:xfrm>
            <a:off x="8367108" y="3224183"/>
            <a:ext cx="2805899" cy="23145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7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Object-Oriented Design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67108" y="3679478"/>
            <a:ext cx="2886990" cy="11858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Treats system resources (files,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devices, processes) as </a:t>
            </a: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objects with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defined interfaces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—making the 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more modular, reusable, and easier 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extend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0808321" y="4857750"/>
            <a:ext cx="771183" cy="1704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0" b="1" kern="0" spc="-600" dirty="0">
                <a:solidFill>
                  <a:srgbClr val="F2F2F2">
                    <a:alpha val="7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3</a:t>
            </a:r>
            <a:endParaRPr lang="en-US" sz="12000" dirty="0"/>
          </a:p>
        </p:txBody>
      </p:sp>
      <p:sp>
        <p:nvSpPr>
          <p:cNvPr id="23" name="Shape 18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4" name="Shape 19"/>
          <p:cNvSpPr/>
          <p:nvPr/>
        </p:nvSpPr>
        <p:spPr>
          <a:xfrm>
            <a:off x="0" y="6819900"/>
            <a:ext cx="3047238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41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97205"/>
            <a:ext cx="1939192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1 &amp; 2 ·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771525"/>
            <a:ext cx="8756197" cy="504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3600" b="1" kern="0" spc="-7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Final Recap: From Hardware to OS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09448" y="1398240"/>
            <a:ext cx="9523" cy="200025"/>
          </a:xfrm>
          <a:prstGeom prst="line">
            <a:avLst/>
          </a:prstGeom>
          <a:noFill/>
          <a:ln w="38100">
            <a:solidFill>
              <a:srgbClr val="FF3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48" y="1398240"/>
            <a:ext cx="7618095" cy="200025"/>
          </a:xfrm>
          <a:prstGeom prst="rect">
            <a:avLst/>
          </a:prstGeom>
          <a:noFill/>
        </p:spPr>
        <p:txBody>
          <a:bodyPr wrap="none" lIns="15240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operating system transforms raw hardware complexity into usable abstractions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1750665"/>
            <a:ext cx="3504324" cy="47263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6081" y="2097375"/>
            <a:ext cx="174978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76081" y="2398365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1" name="Shape 8"/>
          <p:cNvSpPr/>
          <p:nvPr/>
        </p:nvSpPr>
        <p:spPr>
          <a:xfrm>
            <a:off x="1028443" y="2550765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52362" y="253936"/>
                </a:moveTo>
                <a:lnTo>
                  <a:pt x="152362" y="279330"/>
                </a:lnTo>
                <a:moveTo>
                  <a:pt x="152362" y="25394"/>
                </a:moveTo>
                <a:lnTo>
                  <a:pt x="152362" y="50787"/>
                </a:lnTo>
                <a:moveTo>
                  <a:pt x="215846" y="253936"/>
                </a:moveTo>
                <a:lnTo>
                  <a:pt x="215846" y="279330"/>
                </a:lnTo>
                <a:moveTo>
                  <a:pt x="215846" y="25394"/>
                </a:moveTo>
                <a:lnTo>
                  <a:pt x="215846" y="50787"/>
                </a:lnTo>
                <a:moveTo>
                  <a:pt x="25394" y="152362"/>
                </a:moveTo>
                <a:lnTo>
                  <a:pt x="50787" y="152362"/>
                </a:lnTo>
                <a:moveTo>
                  <a:pt x="25394" y="215846"/>
                </a:moveTo>
                <a:lnTo>
                  <a:pt x="50787" y="215846"/>
                </a:lnTo>
                <a:moveTo>
                  <a:pt x="25394" y="88878"/>
                </a:moveTo>
                <a:lnTo>
                  <a:pt x="50787" y="88878"/>
                </a:lnTo>
                <a:moveTo>
                  <a:pt x="253936" y="152362"/>
                </a:moveTo>
                <a:lnTo>
                  <a:pt x="279330" y="152362"/>
                </a:lnTo>
                <a:moveTo>
                  <a:pt x="253936" y="215846"/>
                </a:moveTo>
                <a:lnTo>
                  <a:pt x="279330" y="215846"/>
                </a:lnTo>
                <a:moveTo>
                  <a:pt x="253936" y="88878"/>
                </a:moveTo>
                <a:lnTo>
                  <a:pt x="279330" y="88878"/>
                </a:lnTo>
                <a:moveTo>
                  <a:pt x="88878" y="253936"/>
                </a:moveTo>
                <a:lnTo>
                  <a:pt x="88878" y="279330"/>
                </a:lnTo>
                <a:moveTo>
                  <a:pt x="88878" y="25394"/>
                </a:moveTo>
                <a:lnTo>
                  <a:pt x="88878" y="50787"/>
                </a:lnTo>
                <a:moveTo>
                  <a:pt x="76181" y="50787"/>
                </a:moveTo>
                <a:lnTo>
                  <a:pt x="228543" y="50787"/>
                </a:lnTo>
                <a:cubicBezTo>
                  <a:pt x="242558" y="50787"/>
                  <a:pt x="253936" y="62166"/>
                  <a:pt x="253936" y="76181"/>
                </a:cubicBezTo>
                <a:lnTo>
                  <a:pt x="253936" y="228543"/>
                </a:lnTo>
                <a:cubicBezTo>
                  <a:pt x="253936" y="242558"/>
                  <a:pt x="242558" y="253936"/>
                  <a:pt x="228543" y="253936"/>
                </a:cubicBezTo>
                <a:lnTo>
                  <a:pt x="76181" y="253936"/>
                </a:lnTo>
                <a:cubicBezTo>
                  <a:pt x="62166" y="253936"/>
                  <a:pt x="50787" y="242558"/>
                  <a:pt x="50787" y="228543"/>
                </a:cubicBezTo>
                <a:lnTo>
                  <a:pt x="50787" y="76181"/>
                </a:lnTo>
                <a:cubicBezTo>
                  <a:pt x="50787" y="62166"/>
                  <a:pt x="62166" y="50787"/>
                  <a:pt x="76181" y="50787"/>
                </a:cubicBezTo>
                <a:close/>
                <a:moveTo>
                  <a:pt x="114271" y="101575"/>
                </a:moveTo>
                <a:lnTo>
                  <a:pt x="190452" y="101575"/>
                </a:lnTo>
                <a:cubicBezTo>
                  <a:pt x="197460" y="101575"/>
                  <a:pt x="203149" y="107264"/>
                  <a:pt x="203149" y="114271"/>
                </a:cubicBezTo>
                <a:lnTo>
                  <a:pt x="203149" y="190452"/>
                </a:lnTo>
                <a:cubicBezTo>
                  <a:pt x="203149" y="197460"/>
                  <a:pt x="197460" y="203149"/>
                  <a:pt x="190452" y="203149"/>
                </a:cubicBezTo>
                <a:lnTo>
                  <a:pt x="114271" y="203149"/>
                </a:lnTo>
                <a:cubicBezTo>
                  <a:pt x="107264" y="203149"/>
                  <a:pt x="101575" y="197460"/>
                  <a:pt x="101575" y="190452"/>
                </a:cubicBezTo>
                <a:lnTo>
                  <a:pt x="101575" y="114271"/>
                </a:lnTo>
                <a:cubicBezTo>
                  <a:pt x="101575" y="107264"/>
                  <a:pt x="107264" y="101575"/>
                  <a:pt x="114271" y="10157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6081" y="3207990"/>
            <a:ext cx="1595931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Raw Hardware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079799" y="3798540"/>
            <a:ext cx="719850" cy="10000"/>
          </a:xfrm>
          <a:prstGeom prst="line">
            <a:avLst/>
          </a:pr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6081" y="4575423"/>
            <a:ext cx="872659" cy="10000"/>
          </a:xfrm>
          <a:prstGeom prst="line">
            <a:avLst/>
          </a:pr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6081" y="3647093"/>
            <a:ext cx="2749954" cy="91880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Your computer's </a:t>
            </a:r>
            <a:r>
              <a:rPr lang="en-US" sz="13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hardware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(CPU,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memory, I/O) is raw and complex—but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the OS hides this complexity through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abstraction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42314" y="1750665"/>
            <a:ext cx="3504324" cy="47263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08947" y="2097375"/>
            <a:ext cx="174978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02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08947" y="2398365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9" name="Shape 15"/>
          <p:cNvSpPr/>
          <p:nvPr/>
        </p:nvSpPr>
        <p:spPr>
          <a:xfrm>
            <a:off x="4761309" y="2550765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203149" y="38090"/>
                </a:moveTo>
                <a:moveTo>
                  <a:pt x="253936" y="88878"/>
                </a:moveTo>
                <a:moveTo>
                  <a:pt x="203149" y="139665"/>
                </a:moveTo>
                <a:moveTo>
                  <a:pt x="253936" y="88878"/>
                </a:moveTo>
                <a:lnTo>
                  <a:pt x="50787" y="88878"/>
                </a:lnTo>
                <a:moveTo>
                  <a:pt x="101575" y="266633"/>
                </a:moveTo>
                <a:moveTo>
                  <a:pt x="50787" y="215846"/>
                </a:moveTo>
                <a:moveTo>
                  <a:pt x="101575" y="165059"/>
                </a:moveTo>
                <a:moveTo>
                  <a:pt x="50787" y="215846"/>
                </a:moveTo>
                <a:lnTo>
                  <a:pt x="253936" y="215846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08947" y="3207990"/>
            <a:ext cx="1356378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OS as Bridge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5535617" y="4316462"/>
            <a:ext cx="801090" cy="10000"/>
          </a:xfrm>
          <a:prstGeom prst="line">
            <a:avLst/>
          </a:pr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08947" y="4575423"/>
            <a:ext cx="2303730" cy="10000"/>
          </a:xfrm>
          <a:prstGeom prst="line">
            <a:avLst/>
          </a:pr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43937" y="4575423"/>
            <a:ext cx="324067" cy="10000"/>
          </a:xfrm>
          <a:prstGeom prst="line">
            <a:avLst/>
          </a:pr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608947" y="3647093"/>
            <a:ext cx="2546557" cy="9473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Think of the OS as a bridge: it turns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physical resources into easy-to-use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services like </a:t>
            </a:r>
            <a:r>
              <a:rPr lang="en-US" sz="13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processes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, </a:t>
            </a:r>
            <a:r>
              <a:rPr lang="en-US" sz="13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virtual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, and </a:t>
            </a:r>
            <a:r>
              <a:rPr lang="en-US" sz="13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files</a:t>
            </a:r>
            <a:endParaRPr lang="en-US" sz="13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75181" y="1750665"/>
            <a:ext cx="3504324" cy="472633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41814" y="2097375"/>
            <a:ext cx="174978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03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341814" y="2398365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8" name="Shape 23"/>
          <p:cNvSpPr/>
          <p:nvPr/>
        </p:nvSpPr>
        <p:spPr>
          <a:xfrm>
            <a:off x="8494176" y="2550765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253936" y="165059"/>
                </a:moveTo>
                <a:cubicBezTo>
                  <a:pt x="253936" y="228543"/>
                  <a:pt x="209498" y="260285"/>
                  <a:pt x="156679" y="278695"/>
                </a:cubicBezTo>
                <a:cubicBezTo>
                  <a:pt x="153913" y="279633"/>
                  <a:pt x="150909" y="279588"/>
                  <a:pt x="148172" y="278568"/>
                </a:cubicBezTo>
                <a:cubicBezTo>
                  <a:pt x="95226" y="260285"/>
                  <a:pt x="50787" y="228543"/>
                  <a:pt x="50787" y="165059"/>
                </a:cubicBezTo>
                <a:lnTo>
                  <a:pt x="50787" y="76181"/>
                </a:lnTo>
                <a:cubicBezTo>
                  <a:pt x="50787" y="69173"/>
                  <a:pt x="56477" y="63484"/>
                  <a:pt x="63484" y="63484"/>
                </a:cubicBezTo>
                <a:cubicBezTo>
                  <a:pt x="88878" y="63484"/>
                  <a:pt x="120620" y="48248"/>
                  <a:pt x="142712" y="28949"/>
                </a:cubicBezTo>
                <a:cubicBezTo>
                  <a:pt x="148269" y="24201"/>
                  <a:pt x="156454" y="24201"/>
                  <a:pt x="162011" y="28949"/>
                </a:cubicBezTo>
                <a:cubicBezTo>
                  <a:pt x="184231" y="48375"/>
                  <a:pt x="215846" y="63484"/>
                  <a:pt x="241240" y="63484"/>
                </a:cubicBezTo>
                <a:cubicBezTo>
                  <a:pt x="248247" y="63484"/>
                  <a:pt x="253936" y="69173"/>
                  <a:pt x="253936" y="76181"/>
                </a:cubicBezTo>
                <a:close/>
                <a:moveTo>
                  <a:pt x="114271" y="152362"/>
                </a:moveTo>
                <a:moveTo>
                  <a:pt x="139665" y="177756"/>
                </a:moveTo>
                <a:moveTo>
                  <a:pt x="190452" y="126968"/>
                </a:move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341814" y="3207990"/>
            <a:ext cx="1595634" cy="2000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b="1" kern="0" spc="-2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Why It Matters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8863921" y="4575423"/>
            <a:ext cx="296838" cy="10000"/>
          </a:xfrm>
          <a:prstGeom prst="line">
            <a:avLst/>
          </a:prstGeom>
          <a:noFill/>
          <a:ln w="19050">
            <a:solidFill>
              <a:srgbClr val="FF30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341814" y="3647093"/>
            <a:ext cx="2645651" cy="9473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Without these abstractions, you'd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manage every register, interrupt, and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memory address yourself—imagine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coding </a:t>
            </a:r>
            <a:r>
              <a:rPr lang="en-US" sz="13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that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!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9530505" y="4933950"/>
            <a:ext cx="2049000" cy="1704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2000" b="1" kern="0" spc="-600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OS</a:t>
            </a:r>
            <a:endParaRPr lang="en-US" sz="12000" dirty="0"/>
          </a:p>
        </p:txBody>
      </p:sp>
      <p:sp>
        <p:nvSpPr>
          <p:cNvPr id="33" name="Shape 28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4" name="Shape 29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FF3000"/>
          </a:solidFill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1" cy="1000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000000">
                  <a:alpha val="1000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scaled="0"/>
          </a:gradFill>
        </p:spPr>
      </p:sp>
      <p:sp>
        <p:nvSpPr>
          <p:cNvPr id="3" name="Text 1"/>
          <p:cNvSpPr/>
          <p:nvPr/>
        </p:nvSpPr>
        <p:spPr>
          <a:xfrm>
            <a:off x="609448" y="495300"/>
            <a:ext cx="161438" cy="133350"/>
          </a:xfrm>
          <a:prstGeom prst="rect">
            <a:avLst/>
          </a:prstGeom>
          <a:solidFill>
            <a:srgbClr val="FF3000"/>
          </a:solidFill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40" dirty="0">
                <a:solidFill>
                  <a:srgbClr val="FFFFFF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42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37519" y="497205"/>
            <a:ext cx="3201534" cy="1314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Chapter 2 · Operating System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448" y="819150"/>
            <a:ext cx="9040983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5400" b="1" kern="0" spc="-16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Let's Discuss &amp; Explore!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09448" y="1665923"/>
            <a:ext cx="5843912" cy="2486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Open questions for further exploration and critical thinking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2152650"/>
            <a:ext cx="3285303" cy="4248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171" y="2537460"/>
            <a:ext cx="1028294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Question 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171" y="2876550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0" name="Shape 7"/>
          <p:cNvSpPr/>
          <p:nvPr/>
        </p:nvSpPr>
        <p:spPr>
          <a:xfrm>
            <a:off x="1066533" y="3028950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52362" y="253936"/>
                </a:moveTo>
                <a:lnTo>
                  <a:pt x="152362" y="279330"/>
                </a:lnTo>
                <a:moveTo>
                  <a:pt x="152362" y="25394"/>
                </a:moveTo>
                <a:lnTo>
                  <a:pt x="152362" y="50787"/>
                </a:lnTo>
                <a:moveTo>
                  <a:pt x="215846" y="253936"/>
                </a:moveTo>
                <a:lnTo>
                  <a:pt x="215846" y="279330"/>
                </a:lnTo>
                <a:moveTo>
                  <a:pt x="215846" y="25394"/>
                </a:moveTo>
                <a:lnTo>
                  <a:pt x="215846" y="50787"/>
                </a:lnTo>
                <a:moveTo>
                  <a:pt x="25394" y="152362"/>
                </a:moveTo>
                <a:lnTo>
                  <a:pt x="50787" y="152362"/>
                </a:lnTo>
                <a:moveTo>
                  <a:pt x="25394" y="215846"/>
                </a:moveTo>
                <a:lnTo>
                  <a:pt x="50787" y="215846"/>
                </a:lnTo>
                <a:moveTo>
                  <a:pt x="25394" y="88878"/>
                </a:moveTo>
                <a:lnTo>
                  <a:pt x="50787" y="88878"/>
                </a:lnTo>
                <a:moveTo>
                  <a:pt x="253936" y="152362"/>
                </a:moveTo>
                <a:lnTo>
                  <a:pt x="279330" y="152362"/>
                </a:lnTo>
                <a:moveTo>
                  <a:pt x="253936" y="215846"/>
                </a:moveTo>
                <a:lnTo>
                  <a:pt x="279330" y="215846"/>
                </a:lnTo>
                <a:moveTo>
                  <a:pt x="253936" y="88878"/>
                </a:moveTo>
                <a:lnTo>
                  <a:pt x="279330" y="88878"/>
                </a:lnTo>
                <a:moveTo>
                  <a:pt x="88878" y="253936"/>
                </a:moveTo>
                <a:lnTo>
                  <a:pt x="88878" y="279330"/>
                </a:lnTo>
                <a:moveTo>
                  <a:pt x="88878" y="25394"/>
                </a:moveTo>
                <a:lnTo>
                  <a:pt x="88878" y="50787"/>
                </a:lnTo>
                <a:moveTo>
                  <a:pt x="76181" y="50787"/>
                </a:moveTo>
                <a:lnTo>
                  <a:pt x="228543" y="50787"/>
                </a:lnTo>
                <a:cubicBezTo>
                  <a:pt x="242558" y="50787"/>
                  <a:pt x="253936" y="62166"/>
                  <a:pt x="253936" y="76181"/>
                </a:cubicBezTo>
                <a:lnTo>
                  <a:pt x="253936" y="228543"/>
                </a:lnTo>
                <a:cubicBezTo>
                  <a:pt x="253936" y="242558"/>
                  <a:pt x="242558" y="253936"/>
                  <a:pt x="228543" y="253936"/>
                </a:cubicBezTo>
                <a:lnTo>
                  <a:pt x="76181" y="253936"/>
                </a:lnTo>
                <a:cubicBezTo>
                  <a:pt x="62166" y="253936"/>
                  <a:pt x="50787" y="242558"/>
                  <a:pt x="50787" y="228543"/>
                </a:cubicBezTo>
                <a:lnTo>
                  <a:pt x="50787" y="76181"/>
                </a:lnTo>
                <a:cubicBezTo>
                  <a:pt x="50787" y="62166"/>
                  <a:pt x="62166" y="50787"/>
                  <a:pt x="76181" y="50787"/>
                </a:cubicBezTo>
                <a:close/>
                <a:moveTo>
                  <a:pt x="114271" y="101575"/>
                </a:moveTo>
                <a:lnTo>
                  <a:pt x="190452" y="101575"/>
                </a:lnTo>
                <a:cubicBezTo>
                  <a:pt x="197460" y="101575"/>
                  <a:pt x="203149" y="107264"/>
                  <a:pt x="203149" y="114271"/>
                </a:cubicBezTo>
                <a:lnTo>
                  <a:pt x="203149" y="190452"/>
                </a:lnTo>
                <a:cubicBezTo>
                  <a:pt x="203149" y="197460"/>
                  <a:pt x="197460" y="203149"/>
                  <a:pt x="190452" y="203149"/>
                </a:cubicBezTo>
                <a:lnTo>
                  <a:pt x="114271" y="203149"/>
                </a:lnTo>
                <a:cubicBezTo>
                  <a:pt x="107264" y="203149"/>
                  <a:pt x="101575" y="197460"/>
                  <a:pt x="101575" y="190452"/>
                </a:cubicBezTo>
                <a:lnTo>
                  <a:pt x="101575" y="114271"/>
                </a:lnTo>
                <a:cubicBezTo>
                  <a:pt x="101575" y="107264"/>
                  <a:pt x="107264" y="101575"/>
                  <a:pt x="114271" y="10157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171" y="3790950"/>
            <a:ext cx="2629731" cy="1028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What if we redesigned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interrupts for today's </a:t>
            </a: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multicore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systems</a:t>
            </a: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—how would you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approach it?</a:t>
            </a:r>
            <a:endParaRPr lang="en-US" sz="15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23294" y="1962150"/>
            <a:ext cx="3942364" cy="42481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28018" y="2346960"/>
            <a:ext cx="1028294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Question 02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428018" y="2686050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15" name="Shape 11"/>
          <p:cNvSpPr/>
          <p:nvPr/>
        </p:nvSpPr>
        <p:spPr>
          <a:xfrm>
            <a:off x="4580380" y="2838450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52362" y="190452"/>
                </a:moveTo>
                <a:lnTo>
                  <a:pt x="152362" y="253936"/>
                </a:lnTo>
                <a:cubicBezTo>
                  <a:pt x="162353" y="258932"/>
                  <a:pt x="174113" y="258932"/>
                  <a:pt x="184104" y="253936"/>
                </a:cubicBezTo>
                <a:cubicBezTo>
                  <a:pt x="194095" y="248941"/>
                  <a:pt x="201151" y="239533"/>
                  <a:pt x="203149" y="228543"/>
                </a:cubicBezTo>
                <a:cubicBezTo>
                  <a:pt x="216862" y="207974"/>
                  <a:pt x="203149" y="165059"/>
                  <a:pt x="203149" y="165059"/>
                </a:cubicBezTo>
                <a:moveTo>
                  <a:pt x="57136" y="209498"/>
                </a:moveTo>
                <a:cubicBezTo>
                  <a:pt x="38090" y="225496"/>
                  <a:pt x="31742" y="272982"/>
                  <a:pt x="31742" y="272982"/>
                </a:cubicBezTo>
                <a:cubicBezTo>
                  <a:pt x="31742" y="272982"/>
                  <a:pt x="79228" y="266633"/>
                  <a:pt x="95226" y="247588"/>
                </a:cubicBezTo>
                <a:cubicBezTo>
                  <a:pt x="104241" y="236923"/>
                  <a:pt x="104114" y="220544"/>
                  <a:pt x="94083" y="210640"/>
                </a:cubicBezTo>
                <a:cubicBezTo>
                  <a:pt x="83864" y="200886"/>
                  <a:pt x="67939" y="200394"/>
                  <a:pt x="57136" y="209498"/>
                </a:cubicBezTo>
                <a:moveTo>
                  <a:pt x="114271" y="152362"/>
                </a:moveTo>
                <a:cubicBezTo>
                  <a:pt x="121028" y="134833"/>
                  <a:pt x="129536" y="118030"/>
                  <a:pt x="139665" y="102209"/>
                </a:cubicBezTo>
                <a:cubicBezTo>
                  <a:pt x="169746" y="54113"/>
                  <a:pt x="222603" y="25042"/>
                  <a:pt x="279330" y="25394"/>
                </a:cubicBezTo>
                <a:cubicBezTo>
                  <a:pt x="279330" y="59929"/>
                  <a:pt x="269427" y="120620"/>
                  <a:pt x="203149" y="165059"/>
                </a:cubicBezTo>
                <a:cubicBezTo>
                  <a:pt x="187110" y="175196"/>
                  <a:pt x="170096" y="183703"/>
                  <a:pt x="152362" y="190452"/>
                </a:cubicBezTo>
                <a:close/>
                <a:moveTo>
                  <a:pt x="114271" y="152362"/>
                </a:moveTo>
                <a:lnTo>
                  <a:pt x="50787" y="152362"/>
                </a:lnTo>
                <a:cubicBezTo>
                  <a:pt x="45792" y="142371"/>
                  <a:pt x="45792" y="130611"/>
                  <a:pt x="50787" y="120620"/>
                </a:cubicBezTo>
                <a:cubicBezTo>
                  <a:pt x="55783" y="110629"/>
                  <a:pt x="65191" y="103573"/>
                  <a:pt x="76181" y="101575"/>
                </a:cubicBezTo>
                <a:cubicBezTo>
                  <a:pt x="96750" y="87862"/>
                  <a:pt x="139665" y="102209"/>
                  <a:pt x="139665" y="102209"/>
                </a:cubicBez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428018" y="3600450"/>
            <a:ext cx="3239327" cy="7429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Where do you think operating systems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will </a:t>
            </a: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evolve next</a:t>
            </a: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 as hardware keeps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changing?</a:t>
            </a:r>
            <a:endParaRPr lang="en-US" sz="15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94201" y="2152650"/>
            <a:ext cx="3285303" cy="42481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8925" y="2537460"/>
            <a:ext cx="1028294" cy="14859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Question 03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598925" y="2876550"/>
            <a:ext cx="609448" cy="6096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0" name="Shape 15"/>
          <p:cNvSpPr/>
          <p:nvPr/>
        </p:nvSpPr>
        <p:spPr>
          <a:xfrm>
            <a:off x="8751287" y="3028950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304724" h="304800">
                <a:moveTo>
                  <a:pt x="190452" y="152362"/>
                </a:moveTo>
                <a:moveTo>
                  <a:pt x="71445" y="271369"/>
                </a:moveTo>
                <a:cubicBezTo>
                  <a:pt x="60934" y="281884"/>
                  <a:pt x="43863" y="281887"/>
                  <a:pt x="33348" y="271376"/>
                </a:cubicBezTo>
                <a:cubicBezTo>
                  <a:pt x="22833" y="260864"/>
                  <a:pt x="22831" y="243794"/>
                  <a:pt x="33342" y="233279"/>
                </a:cubicBezTo>
                <a:lnTo>
                  <a:pt x="152362" y="114271"/>
                </a:lnTo>
                <a:moveTo>
                  <a:pt x="228543" y="190452"/>
                </a:moveTo>
                <a:moveTo>
                  <a:pt x="279330" y="139665"/>
                </a:moveTo>
                <a:moveTo>
                  <a:pt x="272982" y="146013"/>
                </a:moveTo>
                <a:moveTo>
                  <a:pt x="248680" y="121712"/>
                </a:moveTo>
                <a:cubicBezTo>
                  <a:pt x="243917" y="116951"/>
                  <a:pt x="241241" y="110493"/>
                  <a:pt x="241240" y="103758"/>
                </a:cubicBezTo>
                <a:lnTo>
                  <a:pt x="241240" y="99391"/>
                </a:lnTo>
                <a:cubicBezTo>
                  <a:pt x="241238" y="92656"/>
                  <a:pt x="238562" y="86199"/>
                  <a:pt x="233799" y="81437"/>
                </a:cubicBezTo>
                <a:lnTo>
                  <a:pt x="212761" y="60399"/>
                </a:lnTo>
                <a:cubicBezTo>
                  <a:pt x="198478" y="46119"/>
                  <a:pt x="179110" y="38095"/>
                  <a:pt x="158913" y="38090"/>
                </a:cubicBezTo>
                <a:lnTo>
                  <a:pt x="114271" y="38090"/>
                </a:lnTo>
                <a:lnTo>
                  <a:pt x="130054" y="53873"/>
                </a:lnTo>
                <a:cubicBezTo>
                  <a:pt x="144337" y="68158"/>
                  <a:pt x="152361" y="87532"/>
                  <a:pt x="152362" y="107733"/>
                </a:cubicBezTo>
                <a:lnTo>
                  <a:pt x="152362" y="126968"/>
                </a:lnTo>
                <a:lnTo>
                  <a:pt x="177756" y="152362"/>
                </a:lnTo>
                <a:lnTo>
                  <a:pt x="192636" y="152362"/>
                </a:lnTo>
                <a:cubicBezTo>
                  <a:pt x="199370" y="152363"/>
                  <a:pt x="205828" y="155040"/>
                  <a:pt x="210590" y="159802"/>
                </a:cubicBezTo>
                <a:lnTo>
                  <a:pt x="234891" y="184104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598925" y="3790950"/>
            <a:ext cx="2667672" cy="7429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If you were building an OS from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scratch today, what would be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your </a:t>
            </a:r>
            <a:r>
              <a:rPr lang="en-US" sz="1500" b="1" dirty="0">
                <a:solidFill>
                  <a:srgbClr val="FF3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top priority</a:t>
            </a: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?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0532463" y="4810125"/>
            <a:ext cx="1047042" cy="19145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3500" b="1" dirty="0">
                <a:solidFill>
                  <a:srgbClr val="F2F2F2">
                    <a:alpha val="6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?</a:t>
            </a:r>
            <a:endParaRPr lang="en-US" sz="13500" dirty="0"/>
          </a:p>
        </p:txBody>
      </p:sp>
      <p:sp>
        <p:nvSpPr>
          <p:cNvPr id="23" name="Shape 18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4" name="Shape 19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FF3000"/>
          </a:solidFill>
        </p:spPr>
      </p:sp>
      <p:sp>
        <p:nvSpPr>
          <p:cNvPr id="25" name="Text 20"/>
          <p:cNvSpPr/>
          <p:nvPr/>
        </p:nvSpPr>
        <p:spPr>
          <a:xfrm>
            <a:off x="11527576" y="6634163"/>
            <a:ext cx="470923" cy="1000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>
                    <a:alpha val="40000"/>
                  </a:srgbClr>
                </a:solidFill>
                <a:latin typeface="Inter" pitchFamily="34" charset="0"/>
                <a:ea typeface="Inter" pitchFamily="34" charset="0"/>
                <a:cs typeface="Inter" pitchFamily="34" charset="0"/>
              </a:rPr>
              <a:t>千问AI生成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3436</Words>
  <Application>Microsoft Office PowerPoint</Application>
  <PresentationFormat>自定义</PresentationFormat>
  <Paragraphs>806</Paragraphs>
  <Slides>42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6" baseType="lpstr">
      <vt:lpstr>Inter</vt:lpstr>
      <vt:lpstr>Arial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计算机系统与操作系统概述_全英教学课件.pptx</dc:title>
  <dc:subject>PptxGenJS Presentation</dc:subject>
  <dc:creator>PptxGenJS</dc:creator>
  <cp:lastModifiedBy>zeng sing</cp:lastModifiedBy>
  <cp:revision>4</cp:revision>
  <dcterms:created xsi:type="dcterms:W3CDTF">2026-08-10T03:35:46Z</dcterms:created>
  <dcterms:modified xsi:type="dcterms:W3CDTF">2026-08-11T05:10:03Z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001191440101MA9Y9T4H7A00000","ProduceID":"ecf5263b042a4f14a30deb901cae0da6","ReservedCode1":"55dcc39908b24fb012c22564246df0f829cfaea7321f54d14dbb34180b6b979c","ContentPropagator":"001191440101MA9Y9T4H7A00000","PropagateID":"ecf5263b042a4f14a30deb901cae0da6","ReservedCode2":"55dcc39908b24fb012c22564246df0f829cfaea7321f54d14dbb34180b6b979c"}</vt:lpwstr>
  </property>
</Properties>
</file>